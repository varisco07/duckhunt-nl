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76" r:id="rId28"/>
    <p:sldId id="277" r:id="rId29"/>
    <p:sldId id="278" r:id="rId30"/>
    <p:sldId id="258" r:id="rId10"/>
    <p:sldId id="259" r:id="rId11"/>
    <p:sldId id="260" r:id="rId12"/>
    <p:sldId id="261" r:id="rId13"/>
    <p:sldId id="262" r:id="rId14"/>
    <p:sldId id="263" r:id="rId15"/>
    <p:sldId id="267" r:id="rId19"/>
    <p:sldId id="268" r:id="rId20"/>
    <p:sldId id="269" r:id="rId21"/>
    <p:sldId id="270" r:id="rId22"/>
    <p:sldId id="273" r:id="rId25"/>
    <p:sldId id="274" r:id="rId26"/>
    <p:sldId id="275" r:id="rId2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Aprire con il titolo e presentare entrambi i componenti del team. Il progetto comprende un sito informativo e una pagina di gioco.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 massimo teorico è 5000 punti. Un bersaglio conta sia se colpito sia se mancato. I comandi attuali sono desktop; nel codice non c’è un selettore di difficoltà.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gioco.html include script.js con defer: il browser esegue lo script dopo aver analizzato il documento. JavaScript recupera gli elementi con document.querySelector e aggiorna il DOM.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Non viene disegnato tutto sul canvas: mostraAnatra cambia posizione e dimensione di un elemento img; disegnaSfondo aggiorna la sorgente del video solo quando cambia lo scenario.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 spread copia i campi iniziali. colpitePerTurno è un array distinto con cinque contatori. avviaPartita usa Object.assign per ripristinare i dati e fill(0) per azzerare i risultati dei 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fase conclusa mostra i risultati; inPausa è raggiungibile da inCorso. La prima istruzione di spara protegge anche intro, pausa e attesa tra bersagli. Il return interrompe immediatamente la funzione.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 callback esegue aggiornamento e disegno in modo sincrono. requestAnimationFrame programma una successiva chiamata prima di un prossimo ridisegno del browser; non garantisce 60 FPS. Il limite rende il tempo simulato più lento del tempo reale quando i frame sono molto distanti.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scala 1 la hitbox misura circa 54 × 42, centrata sull’anatra. Non è un controllo pixel per pixel. Se il primo colpo va a segno, colpi passa da 3 a 2 e numeroColpo vale 1: viene letto l’elemento zero dell’array.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Una funzione async restituisce una Promise. Il timer risolve la Promise dopo almeno il ritardo richiesto; la prosecuzione dopo await viene eseguita quando il browser può farlo. Non si blocca il thread e non si crea automaticamente un secondo thread. La caduta dura 1,05 secondi, l’altra attesa 900 millisecondi.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avviaPartita e terminaPartita incrementano gettonePartita. Un callback legato a un numero precedente viene ignorato: il timer non è cancellato, ma il suo risultato non può modificare la nuova partita. mostraIntroTurno applica lo stesso controllo dopo 1800 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Gli eventi onload e onerror completano o rifiutano la Promise. Promise.all riguarda sette immagini: due GIF di volo, due di caduta, due mirini e il cane. Non attende i video MP4; questi sono caricati separatamente. La firma then e i corpi omessi sono abbreviati a scopo espositivo.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Spiegare: un evento futuro non rende automaticamente asincrone le istruzioni del suo callback. Anche una funzione async esegue sincronicamente fino al primo await. Durante un’attesa altre attività possono essere gestite dall’event loop; non significa che questo codice JavaScript lavori in parallelo su più thread.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Queste criticità sono dedotte dalle protezioni nel codice, senza attribuire al team una cronologia di errori non documentata. Limiti da conoscere: Promise.all non copre i video; il codice attuale non gestisce input touch; la pausa blocca la simulazione ma non congela necessariamente la GIF. La documentazione contiene riferimenti a versioni precedenti, perciò le slide seguono script.js e gioco.html.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Concludere: Il progetto ci ha permesso di collegare struttura HTML, presentazione CSS e logica JavaScript, distinguendo gli aggiornamenti immediati dalle operazioni in attesa. Grazie per l’attenzione. Se richiesta, aprire index.html, entrare nel gioco, mostrare uno sparo e la pausa con P o Esc. La guida separata contiene il discorso e le risposte alle domande tecniche.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Nome del progetto, scenario animato e collegamento diretto alla partita. Identità del progetto: Titolo semplice e grafica ispirata al gioco originale. Due scelte chiare: Gioca ora apre gioco.html; Leggi le regole porta alle istruzioni.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pagina spiega cosa fare e come vengono assegnati i punti. Regole in quattro passi: Mira, spara, non far scappare l’anatra e completa i round. Punti e record: La tabella confronta i tentativi: 100, 60 e 30 punti.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L’utente vede le ambientazioni e trova risposte prima di iniziare. Cinque ambientazioni: Le anteprime video mostrano gli scenari dei round. Informazioni pratiche: Installazione, record locale e bersagli mancati: risposte brevi e dirette.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9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317500"/>
            <a:ext cx="10922000" cy="2423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08"/>
              </a:lnSpc>
              <a:spcAft>
                <a:spcPts val="0"/>
              </a:spcAft>
              <a:defRPr sz="1100" b="1">
                <a:solidFill>
                  <a:srgbClr val="A9DF70"/>
                </a:solidFill>
                <a:latin typeface="Arial"/>
              </a:defRPr>
            </a:pPr>
            <a:r>
              <a:t>PROGETTO WEB / PRESENTAZIONE TECNICA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723900"/>
            <a:ext cx="10922000" cy="5349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11"/>
              </a:lnSpc>
              <a:spcAft>
                <a:spcPts val="0"/>
              </a:spcAft>
              <a:defRPr sz="2900" b="1">
                <a:solidFill>
                  <a:srgbClr val="F2F5F7"/>
                </a:solidFill>
                <a:latin typeface="Arial"/>
              </a:defRPr>
            </a:pPr>
            <a:r>
              <a:t>DUCK HUNT NL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1295400"/>
            <a:ext cx="10922000" cy="2910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92"/>
              </a:lnSpc>
              <a:spcAft>
                <a:spcPts val="0"/>
              </a:spcAft>
              <a:defRPr sz="1400" b="0">
                <a:solidFill>
                  <a:srgbClr val="AFBFCC"/>
                </a:solidFill>
                <a:latin typeface="Arial"/>
              </a:defRPr>
            </a:pPr>
            <a:r>
              <a:t>Un gioco arcade in pixel art, costruito con HTML, CSS e JavaScript puro.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8000" y="6261100"/>
            <a:ext cx="11176000" cy="12700"/>
          </a:xfrm>
          <a:prstGeom prst="rect">
            <a:avLst/>
          </a:prstGeom>
          <a:solidFill>
            <a:srgbClr val="344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8000" y="6438900"/>
            <a:ext cx="10922000" cy="2098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52"/>
              </a:lnSpc>
              <a:spcAft>
                <a:spcPts val="0"/>
              </a:spcAft>
              <a:defRPr sz="900" b="0">
                <a:solidFill>
                  <a:srgbClr val="AFBFCC"/>
                </a:solidFill>
                <a:latin typeface="Arial"/>
              </a:defRPr>
            </a:pPr>
            <a:r>
              <a:t>DUCK HUNT NL  /  VARISCO NICOLÒ · ANDRONI LORENZO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96600" y="6413500"/>
            <a:ext cx="825500" cy="2423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08"/>
              </a:lnSpc>
              <a:spcAft>
                <a:spcPts val="0"/>
              </a:spcAft>
              <a:defRPr sz="1100" b="0">
                <a:solidFill>
                  <a:srgbClr val="A9DF70"/>
                </a:solidFill>
                <a:latin typeface="Arial"/>
              </a:defRPr>
            </a:pPr>
            <a:r>
              <a:t>01 / 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8000" y="2146300"/>
            <a:ext cx="5461000" cy="9413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456"/>
              </a:lnSpc>
              <a:spcAft>
                <a:spcPts val="0"/>
              </a:spcAft>
              <a:defRPr sz="2700" b="1">
                <a:solidFill>
                  <a:srgbClr val="F2F5F7"/>
                </a:solidFill>
                <a:latin typeface="Arial"/>
              </a:defRPr>
            </a:pPr>
            <a:r>
              <a:t>Varisco Nicolò</a:t>
            </a:r>
          </a:p>
          <a:p>
            <a:pPr>
              <a:lnSpc>
                <a:spcPts val="3456"/>
              </a:lnSpc>
              <a:spcAft>
                <a:spcPts val="0"/>
              </a:spcAft>
              <a:defRPr sz="2700" b="1">
                <a:solidFill>
                  <a:srgbClr val="F2F5F7"/>
                </a:solidFill>
                <a:latin typeface="Arial"/>
              </a:defRPr>
            </a:pPr>
            <a:r>
              <a:t>Androni Lorenzo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000" y="3517900"/>
            <a:ext cx="5715000" cy="3561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04"/>
              </a:lnSpc>
              <a:spcAft>
                <a:spcPts val="0"/>
              </a:spcAft>
              <a:defRPr sz="1800" b="0">
                <a:solidFill>
                  <a:srgbClr val="A9DF70"/>
                </a:solidFill>
                <a:latin typeface="Arial"/>
              </a:defRPr>
            </a:pPr>
            <a:r>
              <a:t>5 round · 50 bersagli · 3 colpi per anatra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8000" y="4190999"/>
            <a:ext cx="5461000" cy="713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60"/>
              </a:lnSpc>
              <a:spcAft>
                <a:spcPts val="0"/>
              </a:spcAft>
              <a:defRPr sz="2000" b="0">
                <a:solidFill>
                  <a:srgbClr val="AFBFCC"/>
                </a:solidFill>
                <a:latin typeface="Arial"/>
              </a:defRPr>
            </a:pPr>
            <a:r>
              <a:t>Dall’idea alle scelte progettuali,</a:t>
            </a:r>
          </a:p>
          <a:p>
            <a:pPr>
              <a:lnSpc>
                <a:spcPts val="2560"/>
              </a:lnSpc>
              <a:spcAft>
                <a:spcPts val="0"/>
              </a:spcAft>
              <a:defRPr sz="2000" b="0">
                <a:solidFill>
                  <a:srgbClr val="AFBFCC"/>
                </a:solidFill>
                <a:latin typeface="Arial"/>
              </a:defRPr>
            </a:pPr>
            <a:r>
              <a:t>fino al funzionamento del codice.</a:t>
            </a:r>
          </a:p>
        </p:txBody>
      </p:sp>
      <p:pic>
        <p:nvPicPr>
          <p:cNvPr id="11" name="Picture 10" descr="copert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4000" y="1866899"/>
            <a:ext cx="5080000" cy="338666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9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317500"/>
            <a:ext cx="10922000" cy="2423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08"/>
              </a:lnSpc>
              <a:spcAft>
                <a:spcPts val="0"/>
              </a:spcAft>
              <a:defRPr sz="1100" b="1">
                <a:solidFill>
                  <a:srgbClr val="A9DF70"/>
                </a:solidFill>
                <a:latin typeface="Arial"/>
              </a:defRPr>
            </a:pPr>
            <a:r>
              <a:t>02 / FUNZIONALITÀ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723900"/>
            <a:ext cx="10922000" cy="5349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11"/>
              </a:lnSpc>
              <a:spcAft>
                <a:spcPts val="0"/>
              </a:spcAft>
              <a:defRPr sz="2900" b="1">
                <a:solidFill>
                  <a:srgbClr val="F2F5F7"/>
                </a:solidFill>
                <a:latin typeface="Arial"/>
              </a:defRPr>
            </a:pPr>
            <a:r>
              <a:t>Le regole diventano interazione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1295400"/>
            <a:ext cx="10922000" cy="2910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92"/>
              </a:lnSpc>
              <a:spcAft>
                <a:spcPts val="0"/>
              </a:spcAft>
              <a:defRPr sz="1400" b="0">
                <a:solidFill>
                  <a:srgbClr val="AFBFCC"/>
                </a:solidFill>
                <a:latin typeface="Arial"/>
              </a:defRPr>
            </a:pPr>
            <a:r>
              <a:t>Funzionalità presenti nella versione del progetto analizzata.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8000" y="6261100"/>
            <a:ext cx="11176000" cy="12700"/>
          </a:xfrm>
          <a:prstGeom prst="rect">
            <a:avLst/>
          </a:prstGeom>
          <a:solidFill>
            <a:srgbClr val="344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8000" y="6438900"/>
            <a:ext cx="10922000" cy="2098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52"/>
              </a:lnSpc>
              <a:spcAft>
                <a:spcPts val="0"/>
              </a:spcAft>
              <a:defRPr sz="900" b="0">
                <a:solidFill>
                  <a:srgbClr val="AFBFCC"/>
                </a:solidFill>
                <a:latin typeface="Arial"/>
              </a:defRPr>
            </a:pPr>
            <a:r>
              <a:t>DUCK HUNT NL  /  VARISCO NICOLÒ · ANDRONI LORENZO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96600" y="6413500"/>
            <a:ext cx="825500" cy="2423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08"/>
              </a:lnSpc>
              <a:spcAft>
                <a:spcPts val="0"/>
              </a:spcAft>
              <a:defRPr sz="1100" b="0">
                <a:solidFill>
                  <a:srgbClr val="A9DF70"/>
                </a:solidFill>
                <a:latin typeface="Arial"/>
              </a:defRPr>
            </a:pPr>
            <a:r>
              <a:t>05 / 17</a:t>
            </a:r>
          </a:p>
        </p:txBody>
      </p:sp>
      <p:sp>
        <p:nvSpPr>
          <p:cNvPr id="8" name="Rectangle 7"/>
          <p:cNvSpPr/>
          <p:nvPr/>
        </p:nvSpPr>
        <p:spPr>
          <a:xfrm>
            <a:off x="508000" y="1968500"/>
            <a:ext cx="11176000" cy="1143000"/>
          </a:xfrm>
          <a:prstGeom prst="rect">
            <a:avLst/>
          </a:prstGeom>
          <a:solidFill>
            <a:srgbClr val="1927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6600" y="2120900"/>
            <a:ext cx="10922000" cy="3723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32"/>
              </a:lnSpc>
              <a:spcAft>
                <a:spcPts val="0"/>
              </a:spcAft>
              <a:defRPr sz="1900" b="1">
                <a:solidFill>
                  <a:srgbClr val="A9DF70"/>
                </a:solidFill>
                <a:latin typeface="Arial"/>
              </a:defRPr>
            </a:pPr>
            <a:r>
              <a:t>Partita completa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6600" y="2501900"/>
            <a:ext cx="10922000" cy="3398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76"/>
              </a:lnSpc>
              <a:spcAft>
                <a:spcPts val="0"/>
              </a:spcAft>
              <a:defRPr sz="1700" b="0">
                <a:solidFill>
                  <a:srgbClr val="F2F5F7"/>
                </a:solidFill>
                <a:latin typeface="Arial"/>
              </a:defRPr>
            </a:pPr>
            <a:r>
              <a:t>5 round × 10 bersagli; 3 colpi per anatra; 100 / 60 / 30 punti.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8000" y="3289300"/>
            <a:ext cx="11176000" cy="1143000"/>
          </a:xfrm>
          <a:prstGeom prst="rect">
            <a:avLst/>
          </a:prstGeom>
          <a:solidFill>
            <a:srgbClr val="1927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6600" y="3441700"/>
            <a:ext cx="10922000" cy="3723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32"/>
              </a:lnSpc>
              <a:spcAft>
                <a:spcPts val="0"/>
              </a:spcAft>
              <a:defRPr sz="1900" b="1">
                <a:solidFill>
                  <a:srgbClr val="A9DF70"/>
                </a:solidFill>
                <a:latin typeface="Arial"/>
              </a:defRPr>
            </a:pPr>
            <a:r>
              <a:t>Comandi e riscontri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600" y="3822700"/>
            <a:ext cx="10922000" cy="3398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76"/>
              </a:lnSpc>
              <a:spcAft>
                <a:spcPts val="0"/>
              </a:spcAft>
              <a:defRPr sz="1700" b="0">
                <a:solidFill>
                  <a:srgbClr val="F2F5F7"/>
                </a:solidFill>
                <a:latin typeface="Arial"/>
              </a:defRPr>
            </a:pPr>
            <a:r>
              <a:t>Mouse per mirare; clic o Spazio per sparare; P / Esc per la pausa.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8000" y="4610100"/>
            <a:ext cx="11176000" cy="1143000"/>
          </a:xfrm>
          <a:prstGeom prst="rect">
            <a:avLst/>
          </a:prstGeom>
          <a:solidFill>
            <a:srgbClr val="1927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6600" y="4762500"/>
            <a:ext cx="10922000" cy="3723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32"/>
              </a:lnSpc>
              <a:spcAft>
                <a:spcPts val="0"/>
              </a:spcAft>
              <a:defRPr sz="1900" b="1">
                <a:solidFill>
                  <a:srgbClr val="A9DF70"/>
                </a:solidFill>
                <a:latin typeface="Arial"/>
              </a:defRPr>
            </a:pPr>
            <a:r>
              <a:t>Progressione e risultati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6600" y="5143500"/>
            <a:ext cx="10922000" cy="3398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76"/>
              </a:lnSpc>
              <a:spcAft>
                <a:spcPts val="0"/>
              </a:spcAft>
              <a:defRPr sz="1700" b="0">
                <a:solidFill>
                  <a:srgbClr val="F2F5F7"/>
                </a:solidFill>
                <a:latin typeface="Arial"/>
              </a:defRPr>
            </a:pPr>
            <a:r>
              <a:t>Cinque scenari, traiettorie variabili, statistiche finali e record locale.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9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317500"/>
            <a:ext cx="10922000" cy="2423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08"/>
              </a:lnSpc>
              <a:spcAft>
                <a:spcPts val="0"/>
              </a:spcAft>
              <a:defRPr sz="1100" b="1">
                <a:solidFill>
                  <a:srgbClr val="A9DF70"/>
                </a:solidFill>
                <a:latin typeface="Arial"/>
              </a:defRPr>
            </a:pPr>
            <a:r>
              <a:t>03 / STRUTTURA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723900"/>
            <a:ext cx="10922000" cy="5349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11"/>
              </a:lnSpc>
              <a:spcAft>
                <a:spcPts val="0"/>
              </a:spcAft>
              <a:defRPr sz="2900" b="1">
                <a:solidFill>
                  <a:srgbClr val="F2F5F7"/>
                </a:solidFill>
                <a:latin typeface="Arial"/>
              </a:defRPr>
            </a:pPr>
            <a:r>
              <a:t>Responsabilità separate, file collegati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1295400"/>
            <a:ext cx="10922000" cy="2910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92"/>
              </a:lnSpc>
              <a:spcAft>
                <a:spcPts val="0"/>
              </a:spcAft>
              <a:defRPr sz="1400" b="0">
                <a:solidFill>
                  <a:srgbClr val="AFBFCC"/>
                </a:solidFill>
                <a:latin typeface="Arial"/>
              </a:defRPr>
            </a:pPr>
            <a:r>
              <a:t>HTML organizza i contenuti, CSS definisce l’aspetto, JavaScript governa la partita.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8000" y="6261100"/>
            <a:ext cx="11176000" cy="12700"/>
          </a:xfrm>
          <a:prstGeom prst="rect">
            <a:avLst/>
          </a:prstGeom>
          <a:solidFill>
            <a:srgbClr val="344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8000" y="6438900"/>
            <a:ext cx="10922000" cy="2098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52"/>
              </a:lnSpc>
              <a:spcAft>
                <a:spcPts val="0"/>
              </a:spcAft>
              <a:defRPr sz="900" b="0">
                <a:solidFill>
                  <a:srgbClr val="AFBFCC"/>
                </a:solidFill>
                <a:latin typeface="Arial"/>
              </a:defRPr>
            </a:pPr>
            <a:r>
              <a:t>DUCK HUNT NL  /  VARISCO NICOLÒ · ANDRONI LORENZO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96600" y="6413500"/>
            <a:ext cx="825500" cy="2423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08"/>
              </a:lnSpc>
              <a:spcAft>
                <a:spcPts val="0"/>
              </a:spcAft>
              <a:defRPr sz="1100" b="0">
                <a:solidFill>
                  <a:srgbClr val="A9DF70"/>
                </a:solidFill>
                <a:latin typeface="Arial"/>
              </a:defRPr>
            </a:pPr>
            <a:r>
              <a:t>06 / 17</a:t>
            </a:r>
          </a:p>
        </p:txBody>
      </p:sp>
      <p:sp>
        <p:nvSpPr>
          <p:cNvPr id="8" name="Rectangle 7"/>
          <p:cNvSpPr/>
          <p:nvPr/>
        </p:nvSpPr>
        <p:spPr>
          <a:xfrm>
            <a:off x="508000" y="1968500"/>
            <a:ext cx="11176000" cy="1143000"/>
          </a:xfrm>
          <a:prstGeom prst="rect">
            <a:avLst/>
          </a:prstGeom>
          <a:solidFill>
            <a:srgbClr val="1927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6600" y="2120900"/>
            <a:ext cx="10922000" cy="3723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32"/>
              </a:lnSpc>
              <a:spcAft>
                <a:spcPts val="0"/>
              </a:spcAft>
              <a:defRPr sz="1900" b="1">
                <a:solidFill>
                  <a:srgbClr val="A9DF70"/>
                </a:solidFill>
                <a:latin typeface="Arial"/>
              </a:defRPr>
            </a:pPr>
            <a:r>
              <a:t>Pagine HTML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6600" y="2501900"/>
            <a:ext cx="10922000" cy="3398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76"/>
              </a:lnSpc>
              <a:spcAft>
                <a:spcPts val="0"/>
              </a:spcAft>
              <a:defRPr sz="1700" b="0">
                <a:solidFill>
                  <a:srgbClr val="F2F5F7"/>
                </a:solidFill>
                <a:latin typeface="Arial"/>
              </a:defRPr>
            </a:pPr>
            <a:r>
              <a:t>index.html: sito informativo  →  gioco.html: interfaccia e campo di gioco.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8000" y="3289300"/>
            <a:ext cx="11176000" cy="1143000"/>
          </a:xfrm>
          <a:prstGeom prst="rect">
            <a:avLst/>
          </a:prstGeom>
          <a:solidFill>
            <a:srgbClr val="1927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6600" y="3441700"/>
            <a:ext cx="10922000" cy="3723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32"/>
              </a:lnSpc>
              <a:spcAft>
                <a:spcPts val="0"/>
              </a:spcAft>
              <a:defRPr sz="1900" b="1">
                <a:solidFill>
                  <a:srgbClr val="A9DF70"/>
                </a:solidFill>
                <a:latin typeface="Arial"/>
              </a:defRPr>
            </a:pPr>
            <a:r>
              <a:t>Fogli di stile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600" y="3822700"/>
            <a:ext cx="10922000" cy="3398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76"/>
              </a:lnSpc>
              <a:spcAft>
                <a:spcPts val="0"/>
              </a:spcAft>
              <a:defRPr sz="1700" b="0">
                <a:solidFill>
                  <a:srgbClr val="F2F5F7"/>
                </a:solidFill>
                <a:latin typeface="Arial"/>
              </a:defRPr>
            </a:pPr>
            <a:r>
              <a:t>sito.css: sito principale  /  style.css: gioco, layout e sovrapposizioni.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8000" y="4610100"/>
            <a:ext cx="11176000" cy="1143000"/>
          </a:xfrm>
          <a:prstGeom prst="rect">
            <a:avLst/>
          </a:prstGeom>
          <a:solidFill>
            <a:srgbClr val="1927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6600" y="4762500"/>
            <a:ext cx="10922000" cy="3723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32"/>
              </a:lnSpc>
              <a:spcAft>
                <a:spcPts val="0"/>
              </a:spcAft>
              <a:defRPr sz="1900" b="1">
                <a:solidFill>
                  <a:srgbClr val="A9DF70"/>
                </a:solidFill>
                <a:latin typeface="Arial"/>
              </a:defRPr>
            </a:pPr>
            <a:r>
              <a:t>Logica e risorse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6600" y="5143500"/>
            <a:ext cx="10922000" cy="3398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76"/>
              </a:lnSpc>
              <a:spcAft>
                <a:spcPts val="0"/>
              </a:spcAft>
              <a:defRPr sz="1700" b="0">
                <a:solidFill>
                  <a:srgbClr val="F2F5F7"/>
                </a:solidFill>
                <a:latin typeface="Arial"/>
              </a:defRPr>
            </a:pPr>
            <a:r>
              <a:t>script.js: stato, eventi e regole  /  img e gif: immagini, GIF e video MP4.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9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317500"/>
            <a:ext cx="10922000" cy="2423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08"/>
              </a:lnSpc>
              <a:spcAft>
                <a:spcPts val="0"/>
              </a:spcAft>
              <a:defRPr sz="1100" b="1">
                <a:solidFill>
                  <a:srgbClr val="A9DF70"/>
                </a:solidFill>
                <a:latin typeface="Arial"/>
              </a:defRPr>
            </a:pPr>
            <a:r>
              <a:t>04 / SCELTA PROGETTUALE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723900"/>
            <a:ext cx="10922000" cy="5349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11"/>
              </a:lnSpc>
              <a:spcAft>
                <a:spcPts val="0"/>
              </a:spcAft>
              <a:defRPr sz="2900" b="1">
                <a:solidFill>
                  <a:srgbClr val="F2F5F7"/>
                </a:solidFill>
                <a:latin typeface="Arial"/>
              </a:defRPr>
            </a:pPr>
            <a:r>
              <a:t>Tre livelli compongono il campo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1295400"/>
            <a:ext cx="10922000" cy="2910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92"/>
              </a:lnSpc>
              <a:spcAft>
                <a:spcPts val="0"/>
              </a:spcAft>
              <a:defRPr sz="1400" b="0">
                <a:solidFill>
                  <a:srgbClr val="AFBFCC"/>
                </a:solidFill>
                <a:latin typeface="Arial"/>
              </a:defRPr>
            </a:pPr>
            <a:r>
              <a:t>La scena combina elementi DOM e disegno su canvas.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8000" y="6261100"/>
            <a:ext cx="11176000" cy="12700"/>
          </a:xfrm>
          <a:prstGeom prst="rect">
            <a:avLst/>
          </a:prstGeom>
          <a:solidFill>
            <a:srgbClr val="344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8000" y="6438900"/>
            <a:ext cx="10922000" cy="2098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52"/>
              </a:lnSpc>
              <a:spcAft>
                <a:spcPts val="0"/>
              </a:spcAft>
              <a:defRPr sz="900" b="0">
                <a:solidFill>
                  <a:srgbClr val="AFBFCC"/>
                </a:solidFill>
                <a:latin typeface="Arial"/>
              </a:defRPr>
            </a:pPr>
            <a:r>
              <a:t>DUCK HUNT NL  /  VARISCO NICOLÒ · ANDRONI LORENZO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96600" y="6413500"/>
            <a:ext cx="825500" cy="2423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08"/>
              </a:lnSpc>
              <a:spcAft>
                <a:spcPts val="0"/>
              </a:spcAft>
              <a:defRPr sz="1100" b="0">
                <a:solidFill>
                  <a:srgbClr val="A9DF70"/>
                </a:solidFill>
                <a:latin typeface="Arial"/>
              </a:defRPr>
            </a:pPr>
            <a:r>
              <a:t>07 / 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56500" y="2006600"/>
            <a:ext cx="4127500" cy="3561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04"/>
              </a:lnSpc>
              <a:spcAft>
                <a:spcPts val="0"/>
              </a:spcAft>
              <a:defRPr sz="1800" b="1">
                <a:solidFill>
                  <a:srgbClr val="A9DF70"/>
                </a:solidFill>
                <a:latin typeface="Arial"/>
              </a:defRPr>
            </a:pPr>
            <a:r>
              <a:t>01   VIDEO MP4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56500" y="2413000"/>
            <a:ext cx="4190999" cy="323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48"/>
              </a:lnSpc>
              <a:spcAft>
                <a:spcPts val="0"/>
              </a:spcAft>
              <a:defRPr sz="1600" b="0">
                <a:solidFill>
                  <a:srgbClr val="F2F5F7"/>
                </a:solidFill>
                <a:latin typeface="Arial"/>
              </a:defRPr>
            </a:pPr>
            <a:r>
              <a:t>Paesaggio animato sullo sfondo.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56500" y="3225800"/>
            <a:ext cx="4127500" cy="3561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04"/>
              </a:lnSpc>
              <a:spcAft>
                <a:spcPts val="0"/>
              </a:spcAft>
              <a:defRPr sz="1800" b="1">
                <a:solidFill>
                  <a:srgbClr val="A9DF70"/>
                </a:solidFill>
                <a:latin typeface="Arial"/>
              </a:defRPr>
            </a:pPr>
            <a:r>
              <a:t>02   IMMAGINE GIF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56500" y="3632200"/>
            <a:ext cx="4190999" cy="5836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48"/>
              </a:lnSpc>
              <a:spcAft>
                <a:spcPts val="0"/>
              </a:spcAft>
              <a:defRPr sz="1600" b="0">
                <a:solidFill>
                  <a:srgbClr val="F2F5F7"/>
                </a:solidFill>
                <a:latin typeface="Arial"/>
              </a:defRPr>
            </a:pPr>
            <a:r>
              <a:t>Anatra in volo e in caduta,</a:t>
            </a:r>
          </a:p>
          <a:p>
            <a:pPr>
              <a:lnSpc>
                <a:spcPts val="2048"/>
              </a:lnSpc>
              <a:spcAft>
                <a:spcPts val="0"/>
              </a:spcAft>
              <a:defRPr sz="1600" b="0">
                <a:solidFill>
                  <a:srgbClr val="F2F5F7"/>
                </a:solidFill>
                <a:latin typeface="Arial"/>
              </a:defRPr>
            </a:pPr>
            <a:r>
              <a:t>spostata tramite stili CSS.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56500" y="4673600"/>
            <a:ext cx="4127500" cy="3561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04"/>
              </a:lnSpc>
              <a:spcAft>
                <a:spcPts val="0"/>
              </a:spcAft>
              <a:defRPr sz="1800" b="1">
                <a:solidFill>
                  <a:srgbClr val="A9DF70"/>
                </a:solidFill>
                <a:latin typeface="Arial"/>
              </a:defRPr>
            </a:pPr>
            <a:r>
              <a:t>03   CANVAS + HTML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56500" y="5080000"/>
            <a:ext cx="4190999" cy="5836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48"/>
              </a:lnSpc>
              <a:spcAft>
                <a:spcPts val="0"/>
              </a:spcAft>
              <a:defRPr sz="1600" b="0">
                <a:solidFill>
                  <a:srgbClr val="F2F5F7"/>
                </a:solidFill>
                <a:latin typeface="Arial"/>
              </a:defRPr>
            </a:pPr>
            <a:r>
              <a:t>Mirino ed effetti sul canvas;</a:t>
            </a:r>
          </a:p>
          <a:p>
            <a:pPr>
              <a:lnSpc>
                <a:spcPts val="2048"/>
              </a:lnSpc>
              <a:spcAft>
                <a:spcPts val="0"/>
              </a:spcAft>
              <a:defRPr sz="1600" b="0">
                <a:solidFill>
                  <a:srgbClr val="F2F5F7"/>
                </a:solidFill>
                <a:latin typeface="Arial"/>
              </a:defRPr>
            </a:pPr>
            <a:r>
              <a:t>punteggi e pannelli nell’HTML.</a:t>
            </a:r>
          </a:p>
        </p:txBody>
      </p:sp>
      <p:pic>
        <p:nvPicPr>
          <p:cNvPr id="15" name="Picture 14" descr="gio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00" y="1993899"/>
            <a:ext cx="6258560" cy="3911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9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317500"/>
            <a:ext cx="10922000" cy="2423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08"/>
              </a:lnSpc>
              <a:spcAft>
                <a:spcPts val="0"/>
              </a:spcAft>
              <a:defRPr sz="1100" b="1">
                <a:solidFill>
                  <a:srgbClr val="A9DF70"/>
                </a:solidFill>
                <a:latin typeface="Arial"/>
              </a:defRPr>
            </a:pPr>
            <a:r>
              <a:t>JAVASCRIPT / IL CUORE DEL PROGETTO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723900"/>
            <a:ext cx="10922000" cy="5349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11"/>
              </a:lnSpc>
              <a:spcAft>
                <a:spcPts val="0"/>
              </a:spcAft>
              <a:defRPr sz="2900" b="1">
                <a:solidFill>
                  <a:srgbClr val="F2F5F7"/>
                </a:solidFill>
                <a:latin typeface="Arial"/>
              </a:defRPr>
            </a:pPr>
            <a:r>
              <a:t>Lo stato: una sola fonte per la partita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1295400"/>
            <a:ext cx="10922000" cy="2910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92"/>
              </a:lnSpc>
              <a:spcAft>
                <a:spcPts val="0"/>
              </a:spcAft>
              <a:defRPr sz="1400" b="0">
                <a:solidFill>
                  <a:srgbClr val="AFBFCC"/>
                </a:solidFill>
                <a:latin typeface="Arial"/>
              </a:defRPr>
            </a:pPr>
            <a:r>
              <a:t>Estratto dal codice attuale; le omissioni sono indicate con // …</a:t>
            </a:r>
          </a:p>
        </p:txBody>
      </p:sp>
      <p:sp>
        <p:nvSpPr>
          <p:cNvPr id="5" name="Rectangle 4"/>
          <p:cNvSpPr/>
          <p:nvPr/>
        </p:nvSpPr>
        <p:spPr>
          <a:xfrm>
            <a:off x="508000" y="6261100"/>
            <a:ext cx="11176000" cy="12700"/>
          </a:xfrm>
          <a:prstGeom prst="rect">
            <a:avLst/>
          </a:prstGeom>
          <a:solidFill>
            <a:srgbClr val="344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8000" y="6438900"/>
            <a:ext cx="10922000" cy="2098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52"/>
              </a:lnSpc>
              <a:spcAft>
                <a:spcPts val="0"/>
              </a:spcAft>
              <a:defRPr sz="900" b="0">
                <a:solidFill>
                  <a:srgbClr val="AFBFCC"/>
                </a:solidFill>
                <a:latin typeface="Arial"/>
              </a:defRPr>
            </a:pPr>
            <a:r>
              <a:t>DUCK HUNT NL  /  VARISCO NICOLÒ · ANDRONI LORENZO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96600" y="6413500"/>
            <a:ext cx="825500" cy="2423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08"/>
              </a:lnSpc>
              <a:spcAft>
                <a:spcPts val="0"/>
              </a:spcAft>
              <a:defRPr sz="1100" b="0">
                <a:solidFill>
                  <a:srgbClr val="A9DF70"/>
                </a:solidFill>
                <a:latin typeface="Arial"/>
              </a:defRPr>
            </a:pPr>
            <a:r>
              <a:t>08 / 17</a:t>
            </a:r>
          </a:p>
        </p:txBody>
      </p:sp>
      <p:sp>
        <p:nvSpPr>
          <p:cNvPr id="8" name="Rectangle 7"/>
          <p:cNvSpPr/>
          <p:nvPr/>
        </p:nvSpPr>
        <p:spPr>
          <a:xfrm>
            <a:off x="508000" y="1854200"/>
            <a:ext cx="7099300" cy="4140200"/>
          </a:xfrm>
          <a:prstGeom prst="rect">
            <a:avLst/>
          </a:prstGeom>
          <a:solidFill>
            <a:srgbClr val="1927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8500" y="2044700"/>
            <a:ext cx="6731000" cy="273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50"/>
              </a:lnSpc>
              <a:spcAft>
                <a:spcPts val="0"/>
              </a:spcAft>
              <a:defRPr sz="1400" b="0">
                <a:solidFill>
                  <a:srgbClr val="F2F5F7"/>
                </a:solidFill>
                <a:latin typeface="Consolas"/>
              </a:defRPr>
            </a:pPr>
            <a:r>
              <a:t>const statoGioco = {</a:t>
            </a:r>
          </a:p>
          <a:p>
            <a:pPr>
              <a:lnSpc>
                <a:spcPts val="1750"/>
              </a:lnSpc>
              <a:spcAft>
                <a:spcPts val="0"/>
              </a:spcAft>
              <a:defRPr sz="1400" b="0">
                <a:solidFill>
                  <a:srgbClr val="F2F5F7"/>
                </a:solidFill>
                <a:latin typeface="Consolas"/>
              </a:defRPr>
            </a:pPr>
            <a:r>
              <a:t>    ...statoIniziale,</a:t>
            </a:r>
          </a:p>
          <a:p>
            <a:pPr>
              <a:lnSpc>
                <a:spcPts val="1750"/>
              </a:lnSpc>
              <a:spcAft>
                <a:spcPts val="0"/>
              </a:spcAft>
              <a:defRPr sz="1400" b="0">
                <a:solidFill>
                  <a:srgbClr val="F2F5F7"/>
                </a:solidFill>
                <a:latin typeface="Consolas"/>
              </a:defRPr>
            </a:pPr>
            <a:r>
              <a:t>    colpitePerTurno: Array(NUMERO_TURNI).fill(0),</a:t>
            </a:r>
          </a:p>
          <a:p>
            <a:pPr>
              <a:lnSpc>
                <a:spcPts val="1750"/>
              </a:lnSpc>
              <a:spcAft>
                <a:spcPts val="0"/>
              </a:spcAft>
              <a:defRPr sz="1400" b="0">
                <a:solidFill>
                  <a:srgbClr val="F2F5F7"/>
                </a:solidFill>
                <a:latin typeface="Consolas"/>
              </a:defRPr>
            </a:pPr>
            <a:r>
              <a:t>    fase: "pronta",</a:t>
            </a:r>
          </a:p>
          <a:p>
            <a:pPr>
              <a:lnSpc>
                <a:spcPts val="1750"/>
              </a:lnSpc>
              <a:spcAft>
                <a:spcPts val="0"/>
              </a:spcAft>
              <a:defRPr sz="1400" b="0">
                <a:solidFill>
                  <a:srgbClr val="F2F5F7"/>
                </a:solidFill>
                <a:latin typeface="Consolas"/>
              </a:defRPr>
            </a:pPr>
            <a:r>
              <a:t>    recordPersonale: 0,</a:t>
            </a:r>
          </a:p>
          <a:p>
            <a:pPr>
              <a:lnSpc>
                <a:spcPts val="1750"/>
              </a:lnSpc>
              <a:spcAft>
                <a:spcPts val="0"/>
              </a:spcAft>
              <a:defRPr sz="1400" b="0">
                <a:solidFill>
                  <a:srgbClr val="F2F5F7"/>
                </a:solidFill>
                <a:latin typeface="Consolas"/>
              </a:defRPr>
            </a:pPr>
            <a:r>
              <a:t>    recordDisponibile: true,</a:t>
            </a:r>
          </a:p>
          <a:p>
            <a:pPr>
              <a:lnSpc>
                <a:spcPts val="1750"/>
              </a:lnSpc>
              <a:spcAft>
                <a:spcPts val="0"/>
              </a:spcAft>
              <a:defRPr sz="1400" b="0">
                <a:solidFill>
                  <a:srgbClr val="F2F5F7"/>
                </a:solidFill>
                <a:latin typeface="Consolas"/>
              </a:defRPr>
            </a:pPr>
            <a:r>
              <a:t>    mira: { x: LARGHEZZA / 2,</a:t>
            </a:r>
          </a:p>
          <a:p>
            <a:pPr>
              <a:lnSpc>
                <a:spcPts val="1750"/>
              </a:lnSpc>
              <a:spcAft>
                <a:spcPts val="0"/>
              </a:spcAft>
              <a:defRPr sz="1400" b="0">
                <a:solidFill>
                  <a:srgbClr val="F2F5F7"/>
                </a:solidFill>
                <a:latin typeface="Consolas"/>
              </a:defRPr>
            </a:pPr>
            <a:r>
              <a:t>            y: ALTEZZA / 2, visibile: false },</a:t>
            </a:r>
          </a:p>
          <a:p>
            <a:pPr>
              <a:lnSpc>
                <a:spcPts val="1750"/>
              </a:lnSpc>
              <a:spcAft>
                <a:spcPts val="0"/>
              </a:spcAft>
              <a:defRPr sz="1400" b="0">
                <a:solidFill>
                  <a:srgbClr val="F2F5F7"/>
                </a:solidFill>
                <a:latin typeface="Consolas"/>
              </a:defRPr>
            </a:pPr>
            <a:r>
              <a:t>    ultimoTempo: 0,</a:t>
            </a:r>
          </a:p>
          <a:p>
            <a:pPr>
              <a:lnSpc>
                <a:spcPts val="1750"/>
              </a:lnSpc>
              <a:spcAft>
                <a:spcPts val="0"/>
              </a:spcAft>
              <a:defRPr sz="1400" b="0">
                <a:solidFill>
                  <a:srgbClr val="F2F5F7"/>
                </a:solidFill>
                <a:latin typeface="Consolas"/>
              </a:defRPr>
            </a:pPr>
            <a:r>
              <a:t>    gettonePartita: 0,</a:t>
            </a:r>
          </a:p>
          <a:p>
            <a:pPr>
              <a:lnSpc>
                <a:spcPts val="1750"/>
              </a:lnSpc>
              <a:spcAft>
                <a:spcPts val="0"/>
              </a:spcAft>
              <a:defRPr sz="1400" b="0">
                <a:solidFill>
                  <a:srgbClr val="F2F5F7"/>
                </a:solidFill>
                <a:latin typeface="Consolas"/>
              </a:defRPr>
            </a:pPr>
            <a:r>
              <a:t>    graficaCaricata: false,</a:t>
            </a:r>
          </a:p>
          <a:p>
            <a:pPr>
              <a:lnSpc>
                <a:spcPts val="1750"/>
              </a:lnSpc>
              <a:spcAft>
                <a:spcPts val="0"/>
              </a:spcAft>
              <a:defRPr sz="1400" b="0">
                <a:solidFill>
                  <a:srgbClr val="F2F5F7"/>
                </a:solidFill>
                <a:latin typeface="Consolas"/>
              </a:defRPr>
            </a:pPr>
            <a:r>
              <a:t>};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4799" y="1917700"/>
            <a:ext cx="3619500" cy="2585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36"/>
              </a:lnSpc>
              <a:spcAft>
                <a:spcPts val="0"/>
              </a:spcAft>
              <a:defRPr sz="1200" b="1">
                <a:solidFill>
                  <a:srgbClr val="A9DF70"/>
                </a:solidFill>
                <a:latin typeface="Arial"/>
              </a:defRPr>
            </a:pPr>
            <a:r>
              <a:t>COME FUNZIONA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4799" y="2311400"/>
            <a:ext cx="3683000" cy="3398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76"/>
              </a:lnSpc>
              <a:spcAft>
                <a:spcPts val="0"/>
              </a:spcAft>
              <a:defRPr sz="1700" b="1">
                <a:solidFill>
                  <a:srgbClr val="FFD16A"/>
                </a:solidFill>
                <a:latin typeface="Arial"/>
              </a:defRPr>
            </a:pPr>
            <a:r>
              <a:t>Dati condivisi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4799" y="2654300"/>
            <a:ext cx="3683000" cy="5511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20"/>
              </a:lnSpc>
              <a:spcAft>
                <a:spcPts val="0"/>
              </a:spcAft>
              <a:defRPr sz="1500" b="0">
                <a:solidFill>
                  <a:srgbClr val="F2F5F7"/>
                </a:solidFill>
                <a:latin typeface="Arial"/>
              </a:defRPr>
            </a:pPr>
            <a:r>
              <a:t>Fase, mira e contatori sono</a:t>
            </a:r>
          </a:p>
          <a:p>
            <a:pPr>
              <a:lnSpc>
                <a:spcPts val="1920"/>
              </a:lnSpc>
              <a:spcAft>
                <a:spcPts val="0"/>
              </a:spcAft>
              <a:defRPr sz="1500" b="0">
                <a:solidFill>
                  <a:srgbClr val="F2F5F7"/>
                </a:solidFill>
                <a:latin typeface="Arial"/>
              </a:defRPr>
            </a:pPr>
            <a:r>
              <a:t>raccolti nello stesso oggetto.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4799" y="3441700"/>
            <a:ext cx="3683000" cy="3398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76"/>
              </a:lnSpc>
              <a:spcAft>
                <a:spcPts val="0"/>
              </a:spcAft>
              <a:defRPr sz="1700" b="1">
                <a:solidFill>
                  <a:srgbClr val="FFD16A"/>
                </a:solidFill>
                <a:latin typeface="Arial"/>
              </a:defRPr>
            </a:pPr>
            <a:r>
              <a:t>Reset controllato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4799" y="3784600"/>
            <a:ext cx="3683000" cy="79501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20"/>
              </a:lnSpc>
              <a:spcAft>
                <a:spcPts val="0"/>
              </a:spcAft>
              <a:defRPr sz="1500" b="0">
                <a:solidFill>
                  <a:srgbClr val="F2F5F7"/>
                </a:solidFill>
                <a:latin typeface="Arial"/>
              </a:defRPr>
            </a:pPr>
            <a:r>
              <a:t>statoIniziale contiene i valori</a:t>
            </a:r>
          </a:p>
          <a:p>
            <a:pPr>
              <a:lnSpc>
                <a:spcPts val="1920"/>
              </a:lnSpc>
              <a:spcAft>
                <a:spcPts val="0"/>
              </a:spcAft>
              <a:defRPr sz="1500" b="0">
                <a:solidFill>
                  <a:srgbClr val="F2F5F7"/>
                </a:solidFill>
                <a:latin typeface="Arial"/>
              </a:defRPr>
            </a:pPr>
            <a:r>
              <a:t>da azzerare a ogni nuova</a:t>
            </a:r>
          </a:p>
          <a:p>
            <a:pPr>
              <a:lnSpc>
                <a:spcPts val="1920"/>
              </a:lnSpc>
              <a:spcAft>
                <a:spcPts val="0"/>
              </a:spcAft>
              <a:defRPr sz="1500" b="0">
                <a:solidFill>
                  <a:srgbClr val="F2F5F7"/>
                </a:solidFill>
                <a:latin typeface="Arial"/>
              </a:defRPr>
            </a:pPr>
            <a:r>
              <a:t>partita.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8500" y="5753100"/>
            <a:ext cx="6731000" cy="2098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52"/>
              </a:lnSpc>
              <a:spcAft>
                <a:spcPts val="0"/>
              </a:spcAft>
              <a:defRPr sz="900" b="0">
                <a:solidFill>
                  <a:srgbClr val="AFBFCC"/>
                </a:solidFill>
                <a:latin typeface="Arial"/>
              </a:defRPr>
            </a:pPr>
            <a:r>
              <a:t>script.js / statoIniziale e statoGioco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9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317500"/>
            <a:ext cx="10922000" cy="2423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08"/>
              </a:lnSpc>
              <a:spcAft>
                <a:spcPts val="0"/>
              </a:spcAft>
              <a:defRPr sz="1100" b="1">
                <a:solidFill>
                  <a:srgbClr val="A9DF70"/>
                </a:solidFill>
                <a:latin typeface="Arial"/>
              </a:defRPr>
            </a:pPr>
            <a:r>
              <a:t>JAVASCRIPT / IL CUORE DEL PROGETTO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723900"/>
            <a:ext cx="10922000" cy="5349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11"/>
              </a:lnSpc>
              <a:spcAft>
                <a:spcPts val="0"/>
              </a:spcAft>
              <a:defRPr sz="2900" b="1">
                <a:solidFill>
                  <a:srgbClr val="F2F5F7"/>
                </a:solidFill>
                <a:latin typeface="Arial"/>
              </a:defRPr>
            </a:pPr>
            <a:r>
              <a:t>Le fasi impediscono azioni fuori tempo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1295400"/>
            <a:ext cx="10922000" cy="2910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92"/>
              </a:lnSpc>
              <a:spcAft>
                <a:spcPts val="0"/>
              </a:spcAft>
              <a:defRPr sz="1400" b="0">
                <a:solidFill>
                  <a:srgbClr val="AFBFCC"/>
                </a:solidFill>
                <a:latin typeface="Arial"/>
              </a:defRPr>
            </a:pPr>
            <a:r>
              <a:t>Estratto dal codice attuale; le omissioni sono indicate con // …</a:t>
            </a:r>
          </a:p>
        </p:txBody>
      </p:sp>
      <p:sp>
        <p:nvSpPr>
          <p:cNvPr id="5" name="Rectangle 4"/>
          <p:cNvSpPr/>
          <p:nvPr/>
        </p:nvSpPr>
        <p:spPr>
          <a:xfrm>
            <a:off x="508000" y="6261100"/>
            <a:ext cx="11176000" cy="12700"/>
          </a:xfrm>
          <a:prstGeom prst="rect">
            <a:avLst/>
          </a:prstGeom>
          <a:solidFill>
            <a:srgbClr val="344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8000" y="6438900"/>
            <a:ext cx="10922000" cy="2098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52"/>
              </a:lnSpc>
              <a:spcAft>
                <a:spcPts val="0"/>
              </a:spcAft>
              <a:defRPr sz="900" b="0">
                <a:solidFill>
                  <a:srgbClr val="AFBFCC"/>
                </a:solidFill>
                <a:latin typeface="Arial"/>
              </a:defRPr>
            </a:pPr>
            <a:r>
              <a:t>DUCK HUNT NL  /  VARISCO NICOLÒ · ANDRONI LORENZO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96600" y="6413500"/>
            <a:ext cx="825500" cy="2423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08"/>
              </a:lnSpc>
              <a:spcAft>
                <a:spcPts val="0"/>
              </a:spcAft>
              <a:defRPr sz="1100" b="0">
                <a:solidFill>
                  <a:srgbClr val="A9DF70"/>
                </a:solidFill>
                <a:latin typeface="Arial"/>
              </a:defRPr>
            </a:pPr>
            <a:r>
              <a:t>09 / 17</a:t>
            </a:r>
          </a:p>
        </p:txBody>
      </p:sp>
      <p:sp>
        <p:nvSpPr>
          <p:cNvPr id="8" name="Rectangle 7"/>
          <p:cNvSpPr/>
          <p:nvPr/>
        </p:nvSpPr>
        <p:spPr>
          <a:xfrm>
            <a:off x="508000" y="1854200"/>
            <a:ext cx="7099300" cy="4140200"/>
          </a:xfrm>
          <a:prstGeom prst="rect">
            <a:avLst/>
          </a:prstGeom>
          <a:solidFill>
            <a:srgbClr val="1927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8500" y="2044700"/>
            <a:ext cx="6731000" cy="273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50"/>
              </a:lnSpc>
              <a:spcAft>
                <a:spcPts val="0"/>
              </a:spcAft>
              <a:defRPr sz="1400" b="0">
                <a:solidFill>
                  <a:srgbClr val="F2F5F7"/>
                </a:solidFill>
                <a:latin typeface="Consolas"/>
              </a:defRPr>
            </a:pPr>
            <a:r>
              <a:t>function lanciaAnatra() {</a:t>
            </a:r>
          </a:p>
          <a:p>
            <a:pPr>
              <a:lnSpc>
                <a:spcPts val="1750"/>
              </a:lnSpc>
              <a:spcAft>
                <a:spcPts val="0"/>
              </a:spcAft>
              <a:defRPr sz="1400" b="0">
                <a:solidFill>
                  <a:srgbClr val="F2F5F7"/>
                </a:solidFill>
                <a:latin typeface="Consolas"/>
              </a:defRPr>
            </a:pPr>
            <a:r>
              <a:t>    statoGioco.fase = "inCorso";</a:t>
            </a:r>
          </a:p>
          <a:p>
            <a:pPr>
              <a:lnSpc>
                <a:spcPts val="1750"/>
              </a:lnSpc>
              <a:spcAft>
                <a:spcPts val="0"/>
              </a:spcAft>
              <a:defRPr sz="1400" b="0">
                <a:solidFill>
                  <a:srgbClr val="F2F5F7"/>
                </a:solidFill>
                <a:latin typeface="Consolas"/>
              </a:defRPr>
            </a:pPr>
            <a:r>
              <a:t>    creaAnatra();</a:t>
            </a:r>
          </a:p>
          <a:p>
            <a:pPr>
              <a:lnSpc>
                <a:spcPts val="1750"/>
              </a:lnSpc>
              <a:spcAft>
                <a:spcPts val="0"/>
              </a:spcAft>
              <a:defRPr sz="1400" b="0">
                <a:solidFill>
                  <a:srgbClr val="F2F5F7"/>
                </a:solidFill>
                <a:latin typeface="Consolas"/>
              </a:defRPr>
            </a:pPr>
            <a:r>
              <a:t>    nascondiOverlay();</a:t>
            </a:r>
          </a:p>
          <a:p>
            <a:pPr>
              <a:lnSpc>
                <a:spcPts val="1750"/>
              </a:lnSpc>
              <a:spcAft>
                <a:spcPts val="0"/>
              </a:spcAft>
              <a:defRPr sz="1400" b="0">
                <a:solidFill>
                  <a:srgbClr val="F2F5F7"/>
                </a:solidFill>
                <a:latin typeface="Consolas"/>
              </a:defRPr>
            </a:pPr>
            <a:r>
              <a:t>    // …</a:t>
            </a:r>
          </a:p>
          <a:p>
            <a:pPr>
              <a:lnSpc>
                <a:spcPts val="1750"/>
              </a:lnSpc>
              <a:spcAft>
                <a:spcPts val="0"/>
              </a:spcAft>
              <a:defRPr sz="1400" b="0">
                <a:solidFill>
                  <a:srgbClr val="F2F5F7"/>
                </a:solidFill>
                <a:latin typeface="Consolas"/>
              </a:defRPr>
            </a:pPr>
            <a:r>
              <a:t>}</a:t>
            </a:r>
          </a:p>
          <a:p>
            <a:pPr>
              <a:lnSpc>
                <a:spcPts val="1750"/>
              </a:lnSpc>
              <a:spcAft>
                <a:spcPts val="0"/>
              </a:spcAft>
              <a:defRPr sz="1400" b="0">
                <a:solidFill>
                  <a:srgbClr val="F2F5F7"/>
                </a:solidFill>
                <a:latin typeface="Consolas"/>
              </a:defRPr>
            </a:pPr>
          </a:p>
          <a:p>
            <a:pPr>
              <a:lnSpc>
                <a:spcPts val="1750"/>
              </a:lnSpc>
              <a:spcAft>
                <a:spcPts val="0"/>
              </a:spcAft>
              <a:defRPr sz="1400" b="0">
                <a:solidFill>
                  <a:srgbClr val="F2F5F7"/>
                </a:solidFill>
                <a:latin typeface="Consolas"/>
              </a:defRPr>
            </a:pPr>
            <a:r>
              <a:t>function spara() {</a:t>
            </a:r>
          </a:p>
          <a:p>
            <a:pPr>
              <a:lnSpc>
                <a:spcPts val="1750"/>
              </a:lnSpc>
              <a:spcAft>
                <a:spcPts val="0"/>
              </a:spcAft>
              <a:defRPr sz="1400" b="0">
                <a:solidFill>
                  <a:srgbClr val="F2F5F7"/>
                </a:solidFill>
                <a:latin typeface="Consolas"/>
              </a:defRPr>
            </a:pPr>
            <a:r>
              <a:t>    if (statoGioco.fase !== "inCorso" ||</a:t>
            </a:r>
          </a:p>
          <a:p>
            <a:pPr>
              <a:lnSpc>
                <a:spcPts val="1750"/>
              </a:lnSpc>
              <a:spcAft>
                <a:spcPts val="0"/>
              </a:spcAft>
              <a:defRPr sz="1400" b="0">
                <a:solidFill>
                  <a:srgbClr val="F2F5F7"/>
                </a:solidFill>
                <a:latin typeface="Consolas"/>
              </a:defRPr>
            </a:pPr>
            <a:r>
              <a:t>        statoGioco.colpi === 0) return;</a:t>
            </a:r>
          </a:p>
          <a:p>
            <a:pPr>
              <a:lnSpc>
                <a:spcPts val="1750"/>
              </a:lnSpc>
              <a:spcAft>
                <a:spcPts val="0"/>
              </a:spcAft>
              <a:defRPr sz="1400" b="0">
                <a:solidFill>
                  <a:srgbClr val="F2F5F7"/>
                </a:solidFill>
                <a:latin typeface="Consolas"/>
              </a:defRPr>
            </a:pPr>
            <a:r>
              <a:t>    // …</a:t>
            </a:r>
          </a:p>
          <a:p>
            <a:pPr>
              <a:lnSpc>
                <a:spcPts val="1750"/>
              </a:lnSpc>
              <a:spcAft>
                <a:spcPts val="0"/>
              </a:spcAft>
              <a:defRPr sz="1400" b="0">
                <a:solidFill>
                  <a:srgbClr val="F2F5F7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4799" y="1917700"/>
            <a:ext cx="3619500" cy="2585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36"/>
              </a:lnSpc>
              <a:spcAft>
                <a:spcPts val="0"/>
              </a:spcAft>
              <a:defRPr sz="1200" b="1">
                <a:solidFill>
                  <a:srgbClr val="A9DF70"/>
                </a:solidFill>
                <a:latin typeface="Arial"/>
              </a:defRPr>
            </a:pPr>
            <a:r>
              <a:t>COME FUNZIONA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4799" y="2311400"/>
            <a:ext cx="3683000" cy="3398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76"/>
              </a:lnSpc>
              <a:spcAft>
                <a:spcPts val="0"/>
              </a:spcAft>
              <a:defRPr sz="1700" b="1">
                <a:solidFill>
                  <a:srgbClr val="FFD16A"/>
                </a:solidFill>
                <a:latin typeface="Arial"/>
              </a:defRPr>
            </a:pPr>
            <a:r>
              <a:t>Sequenza principale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4799" y="2654300"/>
            <a:ext cx="3683000" cy="79501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20"/>
              </a:lnSpc>
              <a:spcAft>
                <a:spcPts val="0"/>
              </a:spcAft>
              <a:defRPr sz="1500" b="0">
                <a:solidFill>
                  <a:srgbClr val="F2F5F7"/>
                </a:solidFill>
                <a:latin typeface="Arial"/>
              </a:defRPr>
            </a:pPr>
            <a:r>
              <a:t>pronta → traRound → inCorso →</a:t>
            </a:r>
          </a:p>
          <a:p>
            <a:pPr>
              <a:lnSpc>
                <a:spcPts val="1920"/>
              </a:lnSpc>
              <a:spcAft>
                <a:spcPts val="0"/>
              </a:spcAft>
              <a:defRPr sz="1500" b="0">
                <a:solidFill>
                  <a:srgbClr val="F2F5F7"/>
                </a:solidFill>
                <a:latin typeface="Arial"/>
              </a:defRPr>
            </a:pPr>
            <a:r>
              <a:t>traBersagli; poi nuovo</a:t>
            </a:r>
          </a:p>
          <a:p>
            <a:pPr>
              <a:lnSpc>
                <a:spcPts val="1920"/>
              </a:lnSpc>
              <a:spcAft>
                <a:spcPts val="0"/>
              </a:spcAft>
              <a:defRPr sz="1500" b="0">
                <a:solidFill>
                  <a:srgbClr val="F2F5F7"/>
                </a:solidFill>
                <a:latin typeface="Arial"/>
              </a:defRPr>
            </a:pPr>
            <a:r>
              <a:t>bersaglio o fine.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4799" y="3683000"/>
            <a:ext cx="3683000" cy="3398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76"/>
              </a:lnSpc>
              <a:spcAft>
                <a:spcPts val="0"/>
              </a:spcAft>
              <a:defRPr sz="1700" b="1">
                <a:solidFill>
                  <a:srgbClr val="FFD16A"/>
                </a:solidFill>
                <a:latin typeface="Arial"/>
              </a:defRPr>
            </a:pPr>
            <a:r>
              <a:t>Guardia iniziale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4799" y="4025900"/>
            <a:ext cx="3683000" cy="79501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20"/>
              </a:lnSpc>
              <a:spcAft>
                <a:spcPts val="0"/>
              </a:spcAft>
              <a:defRPr sz="1500" b="0">
                <a:solidFill>
                  <a:srgbClr val="F2F5F7"/>
                </a:solidFill>
                <a:latin typeface="Arial"/>
              </a:defRPr>
            </a:pPr>
            <a:r>
              <a:t>Si può sparare soltanto durante</a:t>
            </a:r>
          </a:p>
          <a:p>
            <a:pPr>
              <a:lnSpc>
                <a:spcPts val="1920"/>
              </a:lnSpc>
              <a:spcAft>
                <a:spcPts val="0"/>
              </a:spcAft>
              <a:defRPr sz="1500" b="0">
                <a:solidFill>
                  <a:srgbClr val="F2F5F7"/>
                </a:solidFill>
                <a:latin typeface="Arial"/>
              </a:defRPr>
            </a:pPr>
            <a:r>
              <a:t>il volo, con munizioni</a:t>
            </a:r>
          </a:p>
          <a:p>
            <a:pPr>
              <a:lnSpc>
                <a:spcPts val="1920"/>
              </a:lnSpc>
              <a:spcAft>
                <a:spcPts val="0"/>
              </a:spcAft>
              <a:defRPr sz="1500" b="0">
                <a:solidFill>
                  <a:srgbClr val="F2F5F7"/>
                </a:solidFill>
                <a:latin typeface="Arial"/>
              </a:defRPr>
            </a:pPr>
            <a:r>
              <a:t>disponibili.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8500" y="5753100"/>
            <a:ext cx="6731000" cy="2098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52"/>
              </a:lnSpc>
              <a:spcAft>
                <a:spcPts val="0"/>
              </a:spcAft>
              <a:defRPr sz="900" b="0">
                <a:solidFill>
                  <a:srgbClr val="AFBFCC"/>
                </a:solidFill>
                <a:latin typeface="Arial"/>
              </a:defRPr>
            </a:pPr>
            <a:r>
              <a:t>script.js / lanciaAnatra e inizio di spara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9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317500"/>
            <a:ext cx="10922000" cy="2423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08"/>
              </a:lnSpc>
              <a:spcAft>
                <a:spcPts val="0"/>
              </a:spcAft>
              <a:defRPr sz="1100" b="1">
                <a:solidFill>
                  <a:srgbClr val="A9DF70"/>
                </a:solidFill>
                <a:latin typeface="Arial"/>
              </a:defRPr>
            </a:pPr>
            <a:r>
              <a:t>JAVASCRIPT / IL CUORE DEL PROGETTO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723900"/>
            <a:ext cx="10922000" cy="5349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11"/>
              </a:lnSpc>
              <a:spcAft>
                <a:spcPts val="0"/>
              </a:spcAft>
              <a:defRPr sz="2900" b="1">
                <a:solidFill>
                  <a:srgbClr val="F2F5F7"/>
                </a:solidFill>
                <a:latin typeface="Arial"/>
              </a:defRPr>
            </a:pPr>
            <a:r>
              <a:t>Il game loop: aggiornare prima di disegnare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1295400"/>
            <a:ext cx="10922000" cy="2910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92"/>
              </a:lnSpc>
              <a:spcAft>
                <a:spcPts val="0"/>
              </a:spcAft>
              <a:defRPr sz="1400" b="0">
                <a:solidFill>
                  <a:srgbClr val="AFBFCC"/>
                </a:solidFill>
                <a:latin typeface="Arial"/>
              </a:defRPr>
            </a:pPr>
            <a:r>
              <a:t>Estratto dal codice attuale; le omissioni sono indicate con // …</a:t>
            </a:r>
          </a:p>
        </p:txBody>
      </p:sp>
      <p:sp>
        <p:nvSpPr>
          <p:cNvPr id="5" name="Rectangle 4"/>
          <p:cNvSpPr/>
          <p:nvPr/>
        </p:nvSpPr>
        <p:spPr>
          <a:xfrm>
            <a:off x="508000" y="6261100"/>
            <a:ext cx="11176000" cy="12700"/>
          </a:xfrm>
          <a:prstGeom prst="rect">
            <a:avLst/>
          </a:prstGeom>
          <a:solidFill>
            <a:srgbClr val="344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8000" y="6438900"/>
            <a:ext cx="10922000" cy="2098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52"/>
              </a:lnSpc>
              <a:spcAft>
                <a:spcPts val="0"/>
              </a:spcAft>
              <a:defRPr sz="900" b="0">
                <a:solidFill>
                  <a:srgbClr val="AFBFCC"/>
                </a:solidFill>
                <a:latin typeface="Arial"/>
              </a:defRPr>
            </a:pPr>
            <a:r>
              <a:t>DUCK HUNT NL  /  VARISCO NICOLÒ · ANDRONI LORENZO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96600" y="6413500"/>
            <a:ext cx="825500" cy="2423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08"/>
              </a:lnSpc>
              <a:spcAft>
                <a:spcPts val="0"/>
              </a:spcAft>
              <a:defRPr sz="1100" b="0">
                <a:solidFill>
                  <a:srgbClr val="A9DF70"/>
                </a:solidFill>
                <a:latin typeface="Arial"/>
              </a:defRPr>
            </a:pPr>
            <a:r>
              <a:t>10 / 17</a:t>
            </a:r>
          </a:p>
        </p:txBody>
      </p:sp>
      <p:sp>
        <p:nvSpPr>
          <p:cNvPr id="8" name="Rectangle 7"/>
          <p:cNvSpPr/>
          <p:nvPr/>
        </p:nvSpPr>
        <p:spPr>
          <a:xfrm>
            <a:off x="508000" y="1854200"/>
            <a:ext cx="7099300" cy="4140200"/>
          </a:xfrm>
          <a:prstGeom prst="rect">
            <a:avLst/>
          </a:prstGeom>
          <a:solidFill>
            <a:srgbClr val="1927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8500" y="2044700"/>
            <a:ext cx="6731000" cy="2952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50"/>
              </a:lnSpc>
              <a:spcAft>
                <a:spcPts val="0"/>
              </a:spcAft>
              <a:defRPr sz="1400" b="0">
                <a:solidFill>
                  <a:srgbClr val="F2F5F7"/>
                </a:solidFill>
                <a:latin typeface="Consolas"/>
              </a:defRPr>
            </a:pPr>
            <a:r>
              <a:t>function aggiornaFotogramma(tempoAttuale) {</a:t>
            </a:r>
          </a:p>
          <a:p>
            <a:pPr>
              <a:lnSpc>
                <a:spcPts val="1750"/>
              </a:lnSpc>
              <a:spcAft>
                <a:spcPts val="0"/>
              </a:spcAft>
              <a:defRPr sz="1400" b="0">
                <a:solidFill>
                  <a:srgbClr val="F2F5F7"/>
                </a:solidFill>
                <a:latin typeface="Consolas"/>
              </a:defRPr>
            </a:pPr>
            <a:r>
              <a:t>    const intervallo = Math.min(</a:t>
            </a:r>
          </a:p>
          <a:p>
            <a:pPr>
              <a:lnSpc>
                <a:spcPts val="1750"/>
              </a:lnSpc>
              <a:spcAft>
                <a:spcPts val="0"/>
              </a:spcAft>
              <a:defRPr sz="1400" b="0">
                <a:solidFill>
                  <a:srgbClr val="F2F5F7"/>
                </a:solidFill>
                <a:latin typeface="Consolas"/>
              </a:defRPr>
            </a:pPr>
            <a:r>
              <a:t>        (tempoAttuale - statoGioco.ultimoTempo)</a:t>
            </a:r>
          </a:p>
          <a:p>
            <a:pPr>
              <a:lnSpc>
                <a:spcPts val="1750"/>
              </a:lnSpc>
              <a:spcAft>
                <a:spcPts val="0"/>
              </a:spcAft>
              <a:defRPr sz="1400" b="0">
                <a:solidFill>
                  <a:srgbClr val="F2F5F7"/>
                </a:solidFill>
                <a:latin typeface="Consolas"/>
              </a:defRPr>
            </a:pPr>
            <a:r>
              <a:t>        / 1000, .05);</a:t>
            </a:r>
          </a:p>
          <a:p>
            <a:pPr>
              <a:lnSpc>
                <a:spcPts val="1750"/>
              </a:lnSpc>
              <a:spcAft>
                <a:spcPts val="0"/>
              </a:spcAft>
              <a:defRPr sz="1400" b="0">
                <a:solidFill>
                  <a:srgbClr val="F2F5F7"/>
                </a:solidFill>
                <a:latin typeface="Consolas"/>
              </a:defRPr>
            </a:pPr>
            <a:r>
              <a:t>    statoGioco.ultimoTempo = tempoAttuale;</a:t>
            </a:r>
          </a:p>
          <a:p>
            <a:pPr>
              <a:lnSpc>
                <a:spcPts val="1750"/>
              </a:lnSpc>
              <a:spcAft>
                <a:spcPts val="0"/>
              </a:spcAft>
              <a:defRPr sz="1400" b="0">
                <a:solidFill>
                  <a:srgbClr val="F2F5F7"/>
                </a:solidFill>
                <a:latin typeface="Consolas"/>
              </a:defRPr>
            </a:pPr>
            <a:r>
              <a:t>    if (statoGioco.fase !== "inPausa") {</a:t>
            </a:r>
          </a:p>
          <a:p>
            <a:pPr>
              <a:lnSpc>
                <a:spcPts val="1750"/>
              </a:lnSpc>
              <a:spcAft>
                <a:spcPts val="0"/>
              </a:spcAft>
              <a:defRPr sz="1400" b="0">
                <a:solidFill>
                  <a:srgbClr val="F2F5F7"/>
                </a:solidFill>
                <a:latin typeface="Consolas"/>
              </a:defRPr>
            </a:pPr>
            <a:r>
              <a:t>        if (statoGioco.fase === "inCorso")</a:t>
            </a:r>
          </a:p>
          <a:p>
            <a:pPr>
              <a:lnSpc>
                <a:spcPts val="1750"/>
              </a:lnSpc>
              <a:spcAft>
                <a:spcPts val="0"/>
              </a:spcAft>
              <a:defRPr sz="1400" b="0">
                <a:solidFill>
                  <a:srgbClr val="F2F5F7"/>
                </a:solidFill>
                <a:latin typeface="Consolas"/>
              </a:defRPr>
            </a:pPr>
            <a:r>
              <a:t>            aggiornaAnatra(intervallo);</a:t>
            </a:r>
          </a:p>
          <a:p>
            <a:pPr>
              <a:lnSpc>
                <a:spcPts val="1750"/>
              </a:lnSpc>
              <a:spcAft>
                <a:spcPts val="0"/>
              </a:spcAft>
              <a:defRPr sz="1400" b="0">
                <a:solidFill>
                  <a:srgbClr val="F2F5F7"/>
                </a:solidFill>
                <a:latin typeface="Consolas"/>
              </a:defRPr>
            </a:pPr>
            <a:r>
              <a:t>        // … aggiornamento caduta ed effetti</a:t>
            </a:r>
          </a:p>
          <a:p>
            <a:pPr>
              <a:lnSpc>
                <a:spcPts val="1750"/>
              </a:lnSpc>
              <a:spcAft>
                <a:spcPts val="0"/>
              </a:spcAft>
              <a:defRPr sz="1400" b="0">
                <a:solidFill>
                  <a:srgbClr val="F2F5F7"/>
                </a:solidFill>
                <a:latin typeface="Consolas"/>
              </a:defRPr>
            </a:pPr>
            <a:r>
              <a:t>    }</a:t>
            </a:r>
          </a:p>
          <a:p>
            <a:pPr>
              <a:lnSpc>
                <a:spcPts val="1750"/>
              </a:lnSpc>
              <a:spcAft>
                <a:spcPts val="0"/>
              </a:spcAft>
              <a:defRPr sz="1400" b="0">
                <a:solidFill>
                  <a:srgbClr val="F2F5F7"/>
                </a:solidFill>
                <a:latin typeface="Consolas"/>
              </a:defRPr>
            </a:pPr>
            <a:r>
              <a:t>    disegna();</a:t>
            </a:r>
          </a:p>
          <a:p>
            <a:pPr>
              <a:lnSpc>
                <a:spcPts val="1750"/>
              </a:lnSpc>
              <a:spcAft>
                <a:spcPts val="0"/>
              </a:spcAft>
              <a:defRPr sz="1400" b="0">
                <a:solidFill>
                  <a:srgbClr val="F2F5F7"/>
                </a:solidFill>
                <a:latin typeface="Consolas"/>
              </a:defRPr>
            </a:pPr>
            <a:r>
              <a:t>    requestAnimationFrame(aggiornaFotogramma);</a:t>
            </a:r>
          </a:p>
          <a:p>
            <a:pPr>
              <a:lnSpc>
                <a:spcPts val="1750"/>
              </a:lnSpc>
              <a:spcAft>
                <a:spcPts val="0"/>
              </a:spcAft>
              <a:defRPr sz="1400" b="0">
                <a:solidFill>
                  <a:srgbClr val="F2F5F7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4799" y="1917700"/>
            <a:ext cx="3619500" cy="2585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36"/>
              </a:lnSpc>
              <a:spcAft>
                <a:spcPts val="0"/>
              </a:spcAft>
              <a:defRPr sz="1200" b="1">
                <a:solidFill>
                  <a:srgbClr val="A9DF70"/>
                </a:solidFill>
                <a:latin typeface="Arial"/>
              </a:defRPr>
            </a:pPr>
            <a:r>
              <a:t>COME FUNZIONA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4799" y="2311400"/>
            <a:ext cx="3683000" cy="3398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76"/>
              </a:lnSpc>
              <a:spcAft>
                <a:spcPts val="0"/>
              </a:spcAft>
              <a:defRPr sz="1700" b="1">
                <a:solidFill>
                  <a:srgbClr val="FFD16A"/>
                </a:solidFill>
                <a:latin typeface="Arial"/>
              </a:defRPr>
            </a:pPr>
            <a:r>
              <a:t>Delta 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4799" y="2654300"/>
            <a:ext cx="3683000" cy="79501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20"/>
              </a:lnSpc>
              <a:spcAft>
                <a:spcPts val="0"/>
              </a:spcAft>
              <a:defRPr sz="1500" b="0">
                <a:solidFill>
                  <a:srgbClr val="F2F5F7"/>
                </a:solidFill>
                <a:latin typeface="Arial"/>
              </a:defRPr>
            </a:pPr>
            <a:r>
              <a:t>La differenza fra timestamp</a:t>
            </a:r>
          </a:p>
          <a:p>
            <a:pPr>
              <a:lnSpc>
                <a:spcPts val="1920"/>
              </a:lnSpc>
              <a:spcAft>
                <a:spcPts val="0"/>
              </a:spcAft>
              <a:defRPr sz="1500" b="0">
                <a:solidFill>
                  <a:srgbClr val="F2F5F7"/>
                </a:solidFill>
                <a:latin typeface="Arial"/>
              </a:defRPr>
            </a:pPr>
            <a:r>
              <a:t>diventa un intervallo in</a:t>
            </a:r>
          </a:p>
          <a:p>
            <a:pPr>
              <a:lnSpc>
                <a:spcPts val="1920"/>
              </a:lnSpc>
              <a:spcAft>
                <a:spcPts val="0"/>
              </a:spcAft>
              <a:defRPr sz="1500" b="0">
                <a:solidFill>
                  <a:srgbClr val="F2F5F7"/>
                </a:solidFill>
                <a:latin typeface="Arial"/>
              </a:defRPr>
            </a:pPr>
            <a:r>
              <a:t>secondi.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4799" y="3683000"/>
            <a:ext cx="3683000" cy="3398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76"/>
              </a:lnSpc>
              <a:spcAft>
                <a:spcPts val="0"/>
              </a:spcAft>
              <a:defRPr sz="1700" b="1">
                <a:solidFill>
                  <a:srgbClr val="FFD16A"/>
                </a:solidFill>
                <a:latin typeface="Arial"/>
              </a:defRPr>
            </a:pPr>
            <a:r>
              <a:t>Limite di 0,05 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4799" y="4025900"/>
            <a:ext cx="3683000" cy="79501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20"/>
              </a:lnSpc>
              <a:spcAft>
                <a:spcPts val="0"/>
              </a:spcAft>
              <a:defRPr sz="1500" b="0">
                <a:solidFill>
                  <a:srgbClr val="F2F5F7"/>
                </a:solidFill>
                <a:latin typeface="Arial"/>
              </a:defRPr>
            </a:pPr>
            <a:r>
              <a:t>Riduce i salti dopo un frame</a:t>
            </a:r>
          </a:p>
          <a:p>
            <a:pPr>
              <a:lnSpc>
                <a:spcPts val="1920"/>
              </a:lnSpc>
              <a:spcAft>
                <a:spcPts val="0"/>
              </a:spcAft>
              <a:defRPr sz="1500" b="0">
                <a:solidFill>
                  <a:srgbClr val="F2F5F7"/>
                </a:solidFill>
                <a:latin typeface="Arial"/>
              </a:defRPr>
            </a:pPr>
            <a:r>
              <a:t>lento. Il browser pianifica il</a:t>
            </a:r>
          </a:p>
          <a:p>
            <a:pPr>
              <a:lnSpc>
                <a:spcPts val="1920"/>
              </a:lnSpc>
              <a:spcAft>
                <a:spcPts val="0"/>
              </a:spcAft>
              <a:defRPr sz="1500" b="0">
                <a:solidFill>
                  <a:srgbClr val="F2F5F7"/>
                </a:solidFill>
                <a:latin typeface="Arial"/>
              </a:defRPr>
            </a:pPr>
            <a:r>
              <a:t>frame seguente.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8500" y="5753100"/>
            <a:ext cx="6731000" cy="2098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52"/>
              </a:lnSpc>
              <a:spcAft>
                <a:spcPts val="0"/>
              </a:spcAft>
              <a:defRPr sz="900" b="0">
                <a:solidFill>
                  <a:srgbClr val="AFBFCC"/>
                </a:solidFill>
                <a:latin typeface="Arial"/>
              </a:defRPr>
            </a:pPr>
            <a:r>
              <a:t>script.js / aggiornaFotogramma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9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317500"/>
            <a:ext cx="10922000" cy="2423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08"/>
              </a:lnSpc>
              <a:spcAft>
                <a:spcPts val="0"/>
              </a:spcAft>
              <a:defRPr sz="1100" b="1">
                <a:solidFill>
                  <a:srgbClr val="A9DF70"/>
                </a:solidFill>
                <a:latin typeface="Arial"/>
              </a:defRPr>
            </a:pPr>
            <a:r>
              <a:t>JAVASCRIPT / IL CUORE DEL PROGETTO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723900"/>
            <a:ext cx="10922000" cy="5349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11"/>
              </a:lnSpc>
              <a:spcAft>
                <a:spcPts val="0"/>
              </a:spcAft>
              <a:defRPr sz="2900" b="1">
                <a:solidFill>
                  <a:srgbClr val="F2F5F7"/>
                </a:solidFill>
                <a:latin typeface="Arial"/>
              </a:defRPr>
            </a:pPr>
            <a:r>
              <a:t>La hitbox decide se il colpo è a segno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1295400"/>
            <a:ext cx="10922000" cy="2910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92"/>
              </a:lnSpc>
              <a:spcAft>
                <a:spcPts val="0"/>
              </a:spcAft>
              <a:defRPr sz="1400" b="0">
                <a:solidFill>
                  <a:srgbClr val="AFBFCC"/>
                </a:solidFill>
                <a:latin typeface="Arial"/>
              </a:defRPr>
            </a:pPr>
            <a:r>
              <a:t>Estratto dal codice attuale; le omissioni sono indicate con // …</a:t>
            </a:r>
          </a:p>
        </p:txBody>
      </p:sp>
      <p:sp>
        <p:nvSpPr>
          <p:cNvPr id="5" name="Rectangle 4"/>
          <p:cNvSpPr/>
          <p:nvPr/>
        </p:nvSpPr>
        <p:spPr>
          <a:xfrm>
            <a:off x="508000" y="6261100"/>
            <a:ext cx="11176000" cy="12700"/>
          </a:xfrm>
          <a:prstGeom prst="rect">
            <a:avLst/>
          </a:prstGeom>
          <a:solidFill>
            <a:srgbClr val="344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8000" y="6438900"/>
            <a:ext cx="10922000" cy="2098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52"/>
              </a:lnSpc>
              <a:spcAft>
                <a:spcPts val="0"/>
              </a:spcAft>
              <a:defRPr sz="900" b="0">
                <a:solidFill>
                  <a:srgbClr val="AFBFCC"/>
                </a:solidFill>
                <a:latin typeface="Arial"/>
              </a:defRPr>
            </a:pPr>
            <a:r>
              <a:t>DUCK HUNT NL  /  VARISCO NICOLÒ · ANDRONI LORENZO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96600" y="6413500"/>
            <a:ext cx="825500" cy="2423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08"/>
              </a:lnSpc>
              <a:spcAft>
                <a:spcPts val="0"/>
              </a:spcAft>
              <a:defRPr sz="1100" b="0">
                <a:solidFill>
                  <a:srgbClr val="A9DF70"/>
                </a:solidFill>
                <a:latin typeface="Arial"/>
              </a:defRPr>
            </a:pPr>
            <a:r>
              <a:t>11 / 17</a:t>
            </a:r>
          </a:p>
        </p:txBody>
      </p:sp>
      <p:sp>
        <p:nvSpPr>
          <p:cNvPr id="8" name="Rectangle 7"/>
          <p:cNvSpPr/>
          <p:nvPr/>
        </p:nvSpPr>
        <p:spPr>
          <a:xfrm>
            <a:off x="508000" y="1854200"/>
            <a:ext cx="7099300" cy="4140200"/>
          </a:xfrm>
          <a:prstGeom prst="rect">
            <a:avLst/>
          </a:prstGeom>
          <a:solidFill>
            <a:srgbClr val="1927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8500" y="2044700"/>
            <a:ext cx="6731000" cy="2508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50"/>
              </a:lnSpc>
              <a:spcAft>
                <a:spcPts val="0"/>
              </a:spcAft>
              <a:defRPr sz="1400" b="0">
                <a:solidFill>
                  <a:srgbClr val="F2F5F7"/>
                </a:solidFill>
                <a:latin typeface="Consolas"/>
              </a:defRPr>
            </a:pPr>
            <a:r>
              <a:t>statoGioco.colpi -= 1;</a:t>
            </a:r>
          </a:p>
          <a:p>
            <a:pPr>
              <a:lnSpc>
                <a:spcPts val="1750"/>
              </a:lnSpc>
              <a:spcAft>
                <a:spcPts val="0"/>
              </a:spcAft>
              <a:defRPr sz="1400" b="0">
                <a:solidFill>
                  <a:srgbClr val="F2F5F7"/>
                </a:solidFill>
                <a:latin typeface="Consolas"/>
              </a:defRPr>
            </a:pPr>
            <a:r>
              <a:t>statoGioco.colpiSparati += 1;</a:t>
            </a:r>
          </a:p>
          <a:p>
            <a:pPr>
              <a:lnSpc>
                <a:spcPts val="1750"/>
              </a:lnSpc>
              <a:spcAft>
                <a:spcPts val="0"/>
              </a:spcAft>
              <a:defRPr sz="1400" b="0">
                <a:solidFill>
                  <a:srgbClr val="F2F5F7"/>
                </a:solidFill>
                <a:latin typeface="Consolas"/>
              </a:defRPr>
            </a:pPr>
            <a:r>
              <a:t>const { anatra, mira } = statoGioco;</a:t>
            </a:r>
          </a:p>
          <a:p>
            <a:pPr>
              <a:lnSpc>
                <a:spcPts val="1750"/>
              </a:lnSpc>
              <a:spcAft>
                <a:spcPts val="0"/>
              </a:spcAft>
              <a:defRPr sz="1400" b="0">
                <a:solidFill>
                  <a:srgbClr val="F2F5F7"/>
                </a:solidFill>
                <a:latin typeface="Consolas"/>
              </a:defRPr>
            </a:pPr>
            <a:r>
              <a:t>const scala = scalaGioco();</a:t>
            </a:r>
          </a:p>
          <a:p>
            <a:pPr>
              <a:lnSpc>
                <a:spcPts val="1750"/>
              </a:lnSpc>
              <a:spcAft>
                <a:spcPts val="0"/>
              </a:spcAft>
              <a:defRPr sz="1400" b="0">
                <a:solidFill>
                  <a:srgbClr val="F2F5F7"/>
                </a:solidFill>
                <a:latin typeface="Consolas"/>
              </a:defRPr>
            </a:pPr>
            <a:r>
              <a:t>const colpita =</a:t>
            </a:r>
          </a:p>
          <a:p>
            <a:pPr>
              <a:lnSpc>
                <a:spcPts val="1750"/>
              </a:lnSpc>
              <a:spcAft>
                <a:spcPts val="0"/>
              </a:spcAft>
              <a:defRPr sz="1400" b="0">
                <a:solidFill>
                  <a:srgbClr val="F2F5F7"/>
                </a:solidFill>
                <a:latin typeface="Consolas"/>
              </a:defRPr>
            </a:pPr>
            <a:r>
              <a:t>    Math.abs(mira.x - anatra.x) &lt; 27 * scala</a:t>
            </a:r>
          </a:p>
          <a:p>
            <a:pPr>
              <a:lnSpc>
                <a:spcPts val="1750"/>
              </a:lnSpc>
              <a:spcAft>
                <a:spcPts val="0"/>
              </a:spcAft>
              <a:defRPr sz="1400" b="0">
                <a:solidFill>
                  <a:srgbClr val="F2F5F7"/>
                </a:solidFill>
                <a:latin typeface="Consolas"/>
              </a:defRPr>
            </a:pPr>
            <a:r>
              <a:t>    &amp;&amp; Math.abs(mira.y - anatra.y) &lt; 21 * scala;</a:t>
            </a:r>
          </a:p>
          <a:p>
            <a:pPr>
              <a:lnSpc>
                <a:spcPts val="1750"/>
              </a:lnSpc>
              <a:spcAft>
                <a:spcPts val="0"/>
              </a:spcAft>
              <a:defRPr sz="1400" b="0">
                <a:solidFill>
                  <a:srgbClr val="F2F5F7"/>
                </a:solidFill>
                <a:latin typeface="Consolas"/>
              </a:defRPr>
            </a:pPr>
            <a:r>
              <a:t>const numeroColpo =</a:t>
            </a:r>
          </a:p>
          <a:p>
            <a:pPr>
              <a:lnSpc>
                <a:spcPts val="1750"/>
              </a:lnSpc>
              <a:spcAft>
                <a:spcPts val="0"/>
              </a:spcAft>
              <a:defRPr sz="1400" b="0">
                <a:solidFill>
                  <a:srgbClr val="F2F5F7"/>
                </a:solidFill>
                <a:latin typeface="Consolas"/>
              </a:defRPr>
            </a:pPr>
            <a:r>
              <a:t>    COLPI_PER_ANATRA - statoGioco.colpi;</a:t>
            </a:r>
          </a:p>
          <a:p>
            <a:pPr>
              <a:lnSpc>
                <a:spcPts val="1750"/>
              </a:lnSpc>
              <a:spcAft>
                <a:spcPts val="0"/>
              </a:spcAft>
              <a:defRPr sz="1400" b="0">
                <a:solidFill>
                  <a:srgbClr val="F2F5F7"/>
                </a:solidFill>
                <a:latin typeface="Consolas"/>
              </a:defRPr>
            </a:pPr>
            <a:r>
              <a:t>const punti = colpita</a:t>
            </a:r>
          </a:p>
          <a:p>
            <a:pPr>
              <a:lnSpc>
                <a:spcPts val="1750"/>
              </a:lnSpc>
              <a:spcAft>
                <a:spcPts val="0"/>
              </a:spcAft>
              <a:defRPr sz="1400" b="0">
                <a:solidFill>
                  <a:srgbClr val="F2F5F7"/>
                </a:solidFill>
                <a:latin typeface="Consolas"/>
              </a:defRPr>
            </a:pPr>
            <a:r>
              <a:t>    ? PUNTI_PER_COLPO[numeroColpo - 1] : 0;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4799" y="1917700"/>
            <a:ext cx="3619500" cy="2585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36"/>
              </a:lnSpc>
              <a:spcAft>
                <a:spcPts val="0"/>
              </a:spcAft>
              <a:defRPr sz="1200" b="1">
                <a:solidFill>
                  <a:srgbClr val="A9DF70"/>
                </a:solidFill>
                <a:latin typeface="Arial"/>
              </a:defRPr>
            </a:pPr>
            <a:r>
              <a:t>COME FUNZIONA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4799" y="2311400"/>
            <a:ext cx="3683000" cy="3398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76"/>
              </a:lnSpc>
              <a:spcAft>
                <a:spcPts val="0"/>
              </a:spcAft>
              <a:defRPr sz="1700" b="1">
                <a:solidFill>
                  <a:srgbClr val="FFD16A"/>
                </a:solidFill>
                <a:latin typeface="Arial"/>
              </a:defRPr>
            </a:pPr>
            <a:r>
              <a:t>Collisione rettangolare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4799" y="2654300"/>
            <a:ext cx="3683000" cy="79501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20"/>
              </a:lnSpc>
              <a:spcAft>
                <a:spcPts val="0"/>
              </a:spcAft>
              <a:defRPr sz="1500" b="0">
                <a:solidFill>
                  <a:srgbClr val="F2F5F7"/>
                </a:solidFill>
                <a:latin typeface="Arial"/>
              </a:defRPr>
            </a:pPr>
            <a:r>
              <a:t>Entrambe le distanze dal centro</a:t>
            </a:r>
          </a:p>
          <a:p>
            <a:pPr>
              <a:lnSpc>
                <a:spcPts val="1920"/>
              </a:lnSpc>
              <a:spcAft>
                <a:spcPts val="0"/>
              </a:spcAft>
              <a:defRPr sz="1500" b="0">
                <a:solidFill>
                  <a:srgbClr val="F2F5F7"/>
                </a:solidFill>
                <a:latin typeface="Arial"/>
              </a:defRPr>
            </a:pPr>
            <a:r>
              <a:t>devono rientrare nei limiti</a:t>
            </a:r>
          </a:p>
          <a:p>
            <a:pPr>
              <a:lnSpc>
                <a:spcPts val="1920"/>
              </a:lnSpc>
              <a:spcAft>
                <a:spcPts val="0"/>
              </a:spcAft>
              <a:defRPr sz="1500" b="0">
                <a:solidFill>
                  <a:srgbClr val="F2F5F7"/>
                </a:solidFill>
                <a:latin typeface="Arial"/>
              </a:defRPr>
            </a:pPr>
            <a:r>
              <a:t>della hitbox.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4799" y="3683000"/>
            <a:ext cx="3683000" cy="3398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76"/>
              </a:lnSpc>
              <a:spcAft>
                <a:spcPts val="0"/>
              </a:spcAft>
              <a:defRPr sz="1700" b="1">
                <a:solidFill>
                  <a:srgbClr val="FFD16A"/>
                </a:solidFill>
                <a:latin typeface="Arial"/>
              </a:defRPr>
            </a:pPr>
            <a:r>
              <a:t>Punti per tentativo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4799" y="4025900"/>
            <a:ext cx="3683000" cy="79501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20"/>
              </a:lnSpc>
              <a:spcAft>
                <a:spcPts val="0"/>
              </a:spcAft>
              <a:defRPr sz="1500" b="0">
                <a:solidFill>
                  <a:srgbClr val="F2F5F7"/>
                </a:solidFill>
                <a:latin typeface="Arial"/>
              </a:defRPr>
            </a:pPr>
            <a:r>
              <a:t>L’indice numeroColpo − 1</a:t>
            </a:r>
          </a:p>
          <a:p>
            <a:pPr>
              <a:lnSpc>
                <a:spcPts val="1920"/>
              </a:lnSpc>
              <a:spcAft>
                <a:spcPts val="0"/>
              </a:spcAft>
              <a:defRPr sz="1500" b="0">
                <a:solidFill>
                  <a:srgbClr val="F2F5F7"/>
                </a:solidFill>
                <a:latin typeface="Arial"/>
              </a:defRPr>
            </a:pPr>
            <a:r>
              <a:t>seleziona 100, 60 o 30; una</a:t>
            </a:r>
          </a:p>
          <a:p>
            <a:pPr>
              <a:lnSpc>
                <a:spcPts val="1920"/>
              </a:lnSpc>
              <a:spcAft>
                <a:spcPts val="0"/>
              </a:spcAft>
              <a:defRPr sz="1500" b="0">
                <a:solidFill>
                  <a:srgbClr val="F2F5F7"/>
                </a:solidFill>
                <a:latin typeface="Arial"/>
              </a:defRPr>
            </a:pPr>
            <a:r>
              <a:t>mancata vale zero.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8500" y="5753100"/>
            <a:ext cx="6731000" cy="2098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52"/>
              </a:lnSpc>
              <a:spcAft>
                <a:spcPts val="0"/>
              </a:spcAft>
              <a:defRPr sz="900" b="0">
                <a:solidFill>
                  <a:srgbClr val="AFBFCC"/>
                </a:solidFill>
                <a:latin typeface="Arial"/>
              </a:defRPr>
            </a:pPr>
            <a:r>
              <a:t>script.js / spara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9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317500"/>
            <a:ext cx="10922000" cy="2423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08"/>
              </a:lnSpc>
              <a:spcAft>
                <a:spcPts val="0"/>
              </a:spcAft>
              <a:defRPr sz="1100" b="1">
                <a:solidFill>
                  <a:srgbClr val="A9DF70"/>
                </a:solidFill>
                <a:latin typeface="Arial"/>
              </a:defRPr>
            </a:pPr>
            <a:r>
              <a:t>JAVASCRIPT / IL CUORE DEL PROGETTO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723900"/>
            <a:ext cx="10922000" cy="5349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11"/>
              </a:lnSpc>
              <a:spcAft>
                <a:spcPts val="0"/>
              </a:spcAft>
              <a:defRPr sz="2900" b="1">
                <a:solidFill>
                  <a:srgbClr val="F2F5F7"/>
                </a:solidFill>
                <a:latin typeface="Arial"/>
              </a:defRPr>
            </a:pPr>
            <a:r>
              <a:t>Asincrono: attendere senza bloccare il gioco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1295400"/>
            <a:ext cx="10922000" cy="2910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92"/>
              </a:lnSpc>
              <a:spcAft>
                <a:spcPts val="0"/>
              </a:spcAft>
              <a:defRPr sz="1400" b="0">
                <a:solidFill>
                  <a:srgbClr val="AFBFCC"/>
                </a:solidFill>
                <a:latin typeface="Arial"/>
              </a:defRPr>
            </a:pPr>
            <a:r>
              <a:t>Estratto dal codice attuale; le omissioni sono indicate con // …</a:t>
            </a:r>
          </a:p>
        </p:txBody>
      </p:sp>
      <p:sp>
        <p:nvSpPr>
          <p:cNvPr id="5" name="Rectangle 4"/>
          <p:cNvSpPr/>
          <p:nvPr/>
        </p:nvSpPr>
        <p:spPr>
          <a:xfrm>
            <a:off x="508000" y="6261100"/>
            <a:ext cx="11176000" cy="12700"/>
          </a:xfrm>
          <a:prstGeom prst="rect">
            <a:avLst/>
          </a:prstGeom>
          <a:solidFill>
            <a:srgbClr val="344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8000" y="6438900"/>
            <a:ext cx="10922000" cy="2098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52"/>
              </a:lnSpc>
              <a:spcAft>
                <a:spcPts val="0"/>
              </a:spcAft>
              <a:defRPr sz="900" b="0">
                <a:solidFill>
                  <a:srgbClr val="AFBFCC"/>
                </a:solidFill>
                <a:latin typeface="Arial"/>
              </a:defRPr>
            </a:pPr>
            <a:r>
              <a:t>DUCK HUNT NL  /  VARISCO NICOLÒ · ANDRONI LORENZO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96600" y="6413500"/>
            <a:ext cx="825500" cy="2423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08"/>
              </a:lnSpc>
              <a:spcAft>
                <a:spcPts val="0"/>
              </a:spcAft>
              <a:defRPr sz="1100" b="0">
                <a:solidFill>
                  <a:srgbClr val="A9DF70"/>
                </a:solidFill>
                <a:latin typeface="Arial"/>
              </a:defRPr>
            </a:pPr>
            <a:r>
              <a:t>12 / 17</a:t>
            </a:r>
          </a:p>
        </p:txBody>
      </p:sp>
      <p:sp>
        <p:nvSpPr>
          <p:cNvPr id="8" name="Rectangle 7"/>
          <p:cNvSpPr/>
          <p:nvPr/>
        </p:nvSpPr>
        <p:spPr>
          <a:xfrm>
            <a:off x="508000" y="1854200"/>
            <a:ext cx="7099300" cy="4140200"/>
          </a:xfrm>
          <a:prstGeom prst="rect">
            <a:avLst/>
          </a:prstGeom>
          <a:solidFill>
            <a:srgbClr val="1927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8500" y="2044700"/>
            <a:ext cx="6731000" cy="3175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50"/>
              </a:lnSpc>
              <a:spcAft>
                <a:spcPts val="0"/>
              </a:spcAft>
              <a:defRPr sz="1400" b="0">
                <a:solidFill>
                  <a:srgbClr val="F2F5F7"/>
                </a:solidFill>
                <a:latin typeface="Consolas"/>
              </a:defRPr>
            </a:pPr>
            <a:r>
              <a:t>const attendi = (millisecondi) =&gt;</a:t>
            </a:r>
          </a:p>
          <a:p>
            <a:pPr>
              <a:lnSpc>
                <a:spcPts val="1750"/>
              </a:lnSpc>
              <a:spcAft>
                <a:spcPts val="0"/>
              </a:spcAft>
              <a:defRPr sz="1400" b="0">
                <a:solidFill>
                  <a:srgbClr val="F2F5F7"/>
                </a:solidFill>
                <a:latin typeface="Consolas"/>
              </a:defRPr>
            </a:pPr>
            <a:r>
              <a:t>    new Promise((completa) =&gt;</a:t>
            </a:r>
          </a:p>
          <a:p>
            <a:pPr>
              <a:lnSpc>
                <a:spcPts val="1750"/>
              </a:lnSpc>
              <a:spcAft>
                <a:spcPts val="0"/>
              </a:spcAft>
              <a:defRPr sz="1400" b="0">
                <a:solidFill>
                  <a:srgbClr val="F2F5F7"/>
                </a:solidFill>
                <a:latin typeface="Consolas"/>
              </a:defRPr>
            </a:pPr>
            <a:r>
              <a:t>        window.setTimeout(completa, millisecondi));</a:t>
            </a:r>
          </a:p>
          <a:p>
            <a:pPr>
              <a:lnSpc>
                <a:spcPts val="1750"/>
              </a:lnSpc>
              <a:spcAft>
                <a:spcPts val="0"/>
              </a:spcAft>
              <a:defRPr sz="1400" b="0">
                <a:solidFill>
                  <a:srgbClr val="F2F5F7"/>
                </a:solidFill>
                <a:latin typeface="Consolas"/>
              </a:defRPr>
            </a:pPr>
          </a:p>
          <a:p>
            <a:pPr>
              <a:lnSpc>
                <a:spcPts val="1750"/>
              </a:lnSpc>
              <a:spcAft>
                <a:spcPts val="0"/>
              </a:spcAft>
              <a:defRPr sz="1400" b="0">
                <a:solidFill>
                  <a:srgbClr val="F2F5F7"/>
                </a:solidFill>
                <a:latin typeface="Consolas"/>
              </a:defRPr>
            </a:pPr>
            <a:r>
              <a:t>async function continuaPartita(</a:t>
            </a:r>
          </a:p>
          <a:p>
            <a:pPr>
              <a:lnSpc>
                <a:spcPts val="1750"/>
              </a:lnSpc>
              <a:spcAft>
                <a:spcPts val="0"/>
              </a:spcAft>
              <a:defRPr sz="1400" b="0">
                <a:solidFill>
                  <a:srgbClr val="F2F5F7"/>
                </a:solidFill>
                <a:latin typeface="Consolas"/>
              </a:defRPr>
            </a:pPr>
            <a:r>
              <a:t>    gettone, messaggio, mostraCaduta = false) {</a:t>
            </a:r>
          </a:p>
          <a:p>
            <a:pPr>
              <a:lnSpc>
                <a:spcPts val="1750"/>
              </a:lnSpc>
              <a:spcAft>
                <a:spcPts val="0"/>
              </a:spcAft>
              <a:defRPr sz="1400" b="0">
                <a:solidFill>
                  <a:srgbClr val="F2F5F7"/>
                </a:solidFill>
                <a:latin typeface="Consolas"/>
              </a:defRPr>
            </a:pPr>
            <a:r>
              <a:t>    statoGioco.fase = "traBersagli";</a:t>
            </a:r>
          </a:p>
          <a:p>
            <a:pPr>
              <a:lnSpc>
                <a:spcPts val="1750"/>
              </a:lnSpc>
              <a:spcAft>
                <a:spcPts val="0"/>
              </a:spcAft>
              <a:defRPr sz="1400" b="0">
                <a:solidFill>
                  <a:srgbClr val="F2F5F7"/>
                </a:solidFill>
                <a:latin typeface="Consolas"/>
              </a:defRPr>
            </a:pPr>
            <a:r>
              <a:t>    statoGioco.anatra = null;</a:t>
            </a:r>
          </a:p>
          <a:p>
            <a:pPr>
              <a:lnSpc>
                <a:spcPts val="1750"/>
              </a:lnSpc>
              <a:spcAft>
                <a:spcPts val="0"/>
              </a:spcAft>
              <a:defRPr sz="1400" b="0">
                <a:solidFill>
                  <a:srgbClr val="F2F5F7"/>
                </a:solidFill>
                <a:latin typeface="Consolas"/>
              </a:defRPr>
            </a:pPr>
            <a:r>
              <a:t>    statoGioco.bersagliTurno += 1;</a:t>
            </a:r>
          </a:p>
          <a:p>
            <a:pPr>
              <a:lnSpc>
                <a:spcPts val="1750"/>
              </a:lnSpc>
              <a:spcAft>
                <a:spcPts val="0"/>
              </a:spcAft>
              <a:defRPr sz="1400" b="0">
                <a:solidFill>
                  <a:srgbClr val="F2F5F7"/>
                </a:solidFill>
                <a:latin typeface="Consolas"/>
              </a:defRPr>
            </a:pPr>
            <a:r>
              <a:t>    // …</a:t>
            </a:r>
          </a:p>
          <a:p>
            <a:pPr>
              <a:lnSpc>
                <a:spcPts val="1750"/>
              </a:lnSpc>
              <a:spcAft>
                <a:spcPts val="0"/>
              </a:spcAft>
              <a:defRPr sz="1400" b="0">
                <a:solidFill>
                  <a:srgbClr val="F2F5F7"/>
                </a:solidFill>
                <a:latin typeface="Consolas"/>
              </a:defRPr>
            </a:pPr>
            <a:r>
              <a:t>    await attendi(mostraCaduta</a:t>
            </a:r>
          </a:p>
          <a:p>
            <a:pPr>
              <a:lnSpc>
                <a:spcPts val="1750"/>
              </a:lnSpc>
              <a:spcAft>
                <a:spcPts val="0"/>
              </a:spcAft>
              <a:defRPr sz="1400" b="0">
                <a:solidFill>
                  <a:srgbClr val="F2F5F7"/>
                </a:solidFill>
                <a:latin typeface="Consolas"/>
              </a:defRPr>
            </a:pPr>
            <a:r>
              <a:t>        ? DURATA_CADUTA * 1000 : 900);</a:t>
            </a:r>
          </a:p>
          <a:p>
            <a:pPr>
              <a:lnSpc>
                <a:spcPts val="1750"/>
              </a:lnSpc>
              <a:spcAft>
                <a:spcPts val="0"/>
              </a:spcAft>
              <a:defRPr sz="1400" b="0">
                <a:solidFill>
                  <a:srgbClr val="F2F5F7"/>
                </a:solidFill>
                <a:latin typeface="Consolas"/>
              </a:defRPr>
            </a:pPr>
            <a:r>
              <a:t>    // …</a:t>
            </a:r>
          </a:p>
          <a:p>
            <a:pPr>
              <a:lnSpc>
                <a:spcPts val="1750"/>
              </a:lnSpc>
              <a:spcAft>
                <a:spcPts val="0"/>
              </a:spcAft>
              <a:defRPr sz="1400" b="0">
                <a:solidFill>
                  <a:srgbClr val="F2F5F7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4799" y="1917700"/>
            <a:ext cx="3619500" cy="2585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36"/>
              </a:lnSpc>
              <a:spcAft>
                <a:spcPts val="0"/>
              </a:spcAft>
              <a:defRPr sz="1200" b="1">
                <a:solidFill>
                  <a:srgbClr val="A9DF70"/>
                </a:solidFill>
                <a:latin typeface="Arial"/>
              </a:defRPr>
            </a:pPr>
            <a:r>
              <a:t>COME FUNZIONA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4799" y="2311400"/>
            <a:ext cx="3683000" cy="3398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76"/>
              </a:lnSpc>
              <a:spcAft>
                <a:spcPts val="0"/>
              </a:spcAft>
              <a:defRPr sz="1700" b="1">
                <a:solidFill>
                  <a:srgbClr val="FFD16A"/>
                </a:solidFill>
                <a:latin typeface="Arial"/>
              </a:defRPr>
            </a:pPr>
            <a:r>
              <a:t>Prima dell’await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4799" y="2654300"/>
            <a:ext cx="3683000" cy="79501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20"/>
              </a:lnSpc>
              <a:spcAft>
                <a:spcPts val="0"/>
              </a:spcAft>
              <a:defRPr sz="1500" b="0">
                <a:solidFill>
                  <a:srgbClr val="F2F5F7"/>
                </a:solidFill>
                <a:latin typeface="Arial"/>
              </a:defRPr>
            </a:pPr>
            <a:r>
              <a:t>La funzione cambia subito fase,</a:t>
            </a:r>
          </a:p>
          <a:p>
            <a:pPr>
              <a:lnSpc>
                <a:spcPts val="1920"/>
              </a:lnSpc>
              <a:spcAft>
                <a:spcPts val="0"/>
              </a:spcAft>
              <a:defRPr sz="1500" b="0">
                <a:solidFill>
                  <a:srgbClr val="F2F5F7"/>
                </a:solidFill>
                <a:latin typeface="Arial"/>
              </a:defRPr>
            </a:pPr>
            <a:r>
              <a:t>rimuove l’anatra e conta il</a:t>
            </a:r>
          </a:p>
          <a:p>
            <a:pPr>
              <a:lnSpc>
                <a:spcPts val="1920"/>
              </a:lnSpc>
              <a:spcAft>
                <a:spcPts val="0"/>
              </a:spcAft>
              <a:defRPr sz="1500" b="0">
                <a:solidFill>
                  <a:srgbClr val="F2F5F7"/>
                </a:solidFill>
                <a:latin typeface="Arial"/>
              </a:defRPr>
            </a:pPr>
            <a:r>
              <a:t>bersaglio.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4799" y="3683000"/>
            <a:ext cx="3683000" cy="3398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76"/>
              </a:lnSpc>
              <a:spcAft>
                <a:spcPts val="0"/>
              </a:spcAft>
              <a:defRPr sz="1700" b="1">
                <a:solidFill>
                  <a:srgbClr val="FFD16A"/>
                </a:solidFill>
                <a:latin typeface="Arial"/>
              </a:defRPr>
            </a:pPr>
            <a:r>
              <a:t>Durante l’attesa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4799" y="4025900"/>
            <a:ext cx="3683000" cy="79501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20"/>
              </a:lnSpc>
              <a:spcAft>
                <a:spcPts val="0"/>
              </a:spcAft>
              <a:defRPr sz="1500" b="0">
                <a:solidFill>
                  <a:srgbClr val="F2F5F7"/>
                </a:solidFill>
                <a:latin typeface="Arial"/>
              </a:defRPr>
            </a:pPr>
            <a:r>
              <a:t>Si sospende questa funzione: il</a:t>
            </a:r>
          </a:p>
          <a:p>
            <a:pPr>
              <a:lnSpc>
                <a:spcPts val="1920"/>
              </a:lnSpc>
              <a:spcAft>
                <a:spcPts val="0"/>
              </a:spcAft>
              <a:defRPr sz="1500" b="0">
                <a:solidFill>
                  <a:srgbClr val="F2F5F7"/>
                </a:solidFill>
                <a:latin typeface="Arial"/>
              </a:defRPr>
            </a:pPr>
            <a:r>
              <a:t>browser continua a disegnare e</a:t>
            </a:r>
          </a:p>
          <a:p>
            <a:pPr>
              <a:lnSpc>
                <a:spcPts val="1920"/>
              </a:lnSpc>
              <a:spcAft>
                <a:spcPts val="0"/>
              </a:spcAft>
              <a:defRPr sz="1500" b="0">
                <a:solidFill>
                  <a:srgbClr val="F2F5F7"/>
                </a:solidFill>
                <a:latin typeface="Arial"/>
              </a:defRPr>
            </a:pPr>
            <a:r>
              <a:t>gestire eventi.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8500" y="5753100"/>
            <a:ext cx="6731000" cy="2098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52"/>
              </a:lnSpc>
              <a:spcAft>
                <a:spcPts val="0"/>
              </a:spcAft>
              <a:defRPr sz="900" b="0">
                <a:solidFill>
                  <a:srgbClr val="AFBFCC"/>
                </a:solidFill>
                <a:latin typeface="Arial"/>
              </a:defRPr>
            </a:pPr>
            <a:r>
              <a:t>script.js / attendi e continuaPartita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9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317500"/>
            <a:ext cx="10922000" cy="2423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08"/>
              </a:lnSpc>
              <a:spcAft>
                <a:spcPts val="0"/>
              </a:spcAft>
              <a:defRPr sz="1100" b="1">
                <a:solidFill>
                  <a:srgbClr val="A9DF70"/>
                </a:solidFill>
                <a:latin typeface="Arial"/>
              </a:defRPr>
            </a:pPr>
            <a:r>
              <a:t>JAVASCRIPT / IL CUORE DEL PROGETTO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723900"/>
            <a:ext cx="10922000" cy="5349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11"/>
              </a:lnSpc>
              <a:spcAft>
                <a:spcPts val="0"/>
              </a:spcAft>
              <a:defRPr sz="2900" b="1">
                <a:solidFill>
                  <a:srgbClr val="F2F5F7"/>
                </a:solidFill>
                <a:latin typeface="Arial"/>
              </a:defRPr>
            </a:pPr>
            <a:r>
              <a:t>Il gettone evita che un’attesa vecchia interferisca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1295400"/>
            <a:ext cx="10922000" cy="2910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92"/>
              </a:lnSpc>
              <a:spcAft>
                <a:spcPts val="0"/>
              </a:spcAft>
              <a:defRPr sz="1400" b="0">
                <a:solidFill>
                  <a:srgbClr val="AFBFCC"/>
                </a:solidFill>
                <a:latin typeface="Arial"/>
              </a:defRPr>
            </a:pPr>
            <a:r>
              <a:t>Estratto dal codice attuale; le omissioni sono indicate con // …</a:t>
            </a:r>
          </a:p>
        </p:txBody>
      </p:sp>
      <p:sp>
        <p:nvSpPr>
          <p:cNvPr id="5" name="Rectangle 4"/>
          <p:cNvSpPr/>
          <p:nvPr/>
        </p:nvSpPr>
        <p:spPr>
          <a:xfrm>
            <a:off x="508000" y="6261100"/>
            <a:ext cx="11176000" cy="12700"/>
          </a:xfrm>
          <a:prstGeom prst="rect">
            <a:avLst/>
          </a:prstGeom>
          <a:solidFill>
            <a:srgbClr val="344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8000" y="6438900"/>
            <a:ext cx="10922000" cy="2098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52"/>
              </a:lnSpc>
              <a:spcAft>
                <a:spcPts val="0"/>
              </a:spcAft>
              <a:defRPr sz="900" b="0">
                <a:solidFill>
                  <a:srgbClr val="AFBFCC"/>
                </a:solidFill>
                <a:latin typeface="Arial"/>
              </a:defRPr>
            </a:pPr>
            <a:r>
              <a:t>DUCK HUNT NL  /  VARISCO NICOLÒ · ANDRONI LORENZO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96600" y="6413500"/>
            <a:ext cx="825500" cy="2423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08"/>
              </a:lnSpc>
              <a:spcAft>
                <a:spcPts val="0"/>
              </a:spcAft>
              <a:defRPr sz="1100" b="0">
                <a:solidFill>
                  <a:srgbClr val="A9DF70"/>
                </a:solidFill>
                <a:latin typeface="Arial"/>
              </a:defRPr>
            </a:pPr>
            <a:r>
              <a:t>13 / 17</a:t>
            </a:r>
          </a:p>
        </p:txBody>
      </p:sp>
      <p:sp>
        <p:nvSpPr>
          <p:cNvPr id="8" name="Rectangle 7"/>
          <p:cNvSpPr/>
          <p:nvPr/>
        </p:nvSpPr>
        <p:spPr>
          <a:xfrm>
            <a:off x="508000" y="1854200"/>
            <a:ext cx="7099300" cy="4140200"/>
          </a:xfrm>
          <a:prstGeom prst="rect">
            <a:avLst/>
          </a:prstGeom>
          <a:solidFill>
            <a:srgbClr val="1927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8500" y="2044700"/>
            <a:ext cx="6731000" cy="273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50"/>
              </a:lnSpc>
              <a:spcAft>
                <a:spcPts val="0"/>
              </a:spcAft>
              <a:defRPr sz="1400" b="0">
                <a:solidFill>
                  <a:srgbClr val="F2F5F7"/>
                </a:solidFill>
                <a:latin typeface="Consolas"/>
              </a:defRPr>
            </a:pPr>
            <a:r>
              <a:t>await attendi(mostraCaduta</a:t>
            </a:r>
          </a:p>
          <a:p>
            <a:pPr>
              <a:lnSpc>
                <a:spcPts val="1750"/>
              </a:lnSpc>
              <a:spcAft>
                <a:spcPts val="0"/>
              </a:spcAft>
              <a:defRPr sz="1400" b="0">
                <a:solidFill>
                  <a:srgbClr val="F2F5F7"/>
                </a:solidFill>
                <a:latin typeface="Consolas"/>
              </a:defRPr>
            </a:pPr>
            <a:r>
              <a:t>    ? DURATA_CADUTA * 1000 : 900);</a:t>
            </a:r>
          </a:p>
          <a:p>
            <a:pPr>
              <a:lnSpc>
                <a:spcPts val="1750"/>
              </a:lnSpc>
              <a:spcAft>
                <a:spcPts val="0"/>
              </a:spcAft>
              <a:defRPr sz="1400" b="0">
                <a:solidFill>
                  <a:srgbClr val="F2F5F7"/>
                </a:solidFill>
                <a:latin typeface="Consolas"/>
              </a:defRPr>
            </a:pPr>
            <a:r>
              <a:t>if (statoGioco.fase !== "traBersagli" ||</a:t>
            </a:r>
          </a:p>
          <a:p>
            <a:pPr>
              <a:lnSpc>
                <a:spcPts val="1750"/>
              </a:lnSpc>
              <a:spcAft>
                <a:spcPts val="0"/>
              </a:spcAft>
              <a:defRPr sz="1400" b="0">
                <a:solidFill>
                  <a:srgbClr val="F2F5F7"/>
                </a:solidFill>
                <a:latin typeface="Consolas"/>
              </a:defRPr>
            </a:pPr>
            <a:r>
              <a:t>    statoGioco.gettonePartita !== gettone) return;</a:t>
            </a:r>
          </a:p>
          <a:p>
            <a:pPr>
              <a:lnSpc>
                <a:spcPts val="1750"/>
              </a:lnSpc>
              <a:spcAft>
                <a:spcPts val="0"/>
              </a:spcAft>
              <a:defRPr sz="1400" b="0">
                <a:solidFill>
                  <a:srgbClr val="F2F5F7"/>
                </a:solidFill>
                <a:latin typeface="Consolas"/>
              </a:defRPr>
            </a:pPr>
            <a:r>
              <a:t>statoGioco.anatraInCaduta = null;</a:t>
            </a:r>
          </a:p>
          <a:p>
            <a:pPr>
              <a:lnSpc>
                <a:spcPts val="1750"/>
              </a:lnSpc>
              <a:spcAft>
                <a:spcPts val="0"/>
              </a:spcAft>
              <a:defRPr sz="1400" b="0">
                <a:solidFill>
                  <a:srgbClr val="F2F5F7"/>
                </a:solidFill>
                <a:latin typeface="Consolas"/>
              </a:defRPr>
            </a:pPr>
          </a:p>
          <a:p>
            <a:pPr>
              <a:lnSpc>
                <a:spcPts val="1750"/>
              </a:lnSpc>
              <a:spcAft>
                <a:spcPts val="0"/>
              </a:spcAft>
              <a:defRPr sz="1400" b="0">
                <a:solidFill>
                  <a:srgbClr val="F2F5F7"/>
                </a:solidFill>
                <a:latin typeface="Consolas"/>
              </a:defRPr>
            </a:pPr>
            <a:r>
              <a:t>if (!turnoFinito) return lanciaAnatra();</a:t>
            </a:r>
          </a:p>
          <a:p>
            <a:pPr>
              <a:lnSpc>
                <a:spcPts val="1750"/>
              </a:lnSpc>
              <a:spcAft>
                <a:spcPts val="0"/>
              </a:spcAft>
              <a:defRPr sz="1400" b="0">
                <a:solidFill>
                  <a:srgbClr val="F2F5F7"/>
                </a:solidFill>
                <a:latin typeface="Consolas"/>
              </a:defRPr>
            </a:pPr>
            <a:r>
              <a:t>if (statoGioco.turno === NUMERO_TURNI)</a:t>
            </a:r>
          </a:p>
          <a:p>
            <a:pPr>
              <a:lnSpc>
                <a:spcPts val="1750"/>
              </a:lnSpc>
              <a:spcAft>
                <a:spcPts val="0"/>
              </a:spcAft>
              <a:defRPr sz="1400" b="0">
                <a:solidFill>
                  <a:srgbClr val="F2F5F7"/>
                </a:solidFill>
                <a:latin typeface="Consolas"/>
              </a:defRPr>
            </a:pPr>
            <a:r>
              <a:t>    return terminaPartita();</a:t>
            </a:r>
          </a:p>
          <a:p>
            <a:pPr>
              <a:lnSpc>
                <a:spcPts val="1750"/>
              </a:lnSpc>
              <a:spcAft>
                <a:spcPts val="0"/>
              </a:spcAft>
              <a:defRPr sz="1400" b="0">
                <a:solidFill>
                  <a:srgbClr val="F2F5F7"/>
                </a:solidFill>
                <a:latin typeface="Consolas"/>
              </a:defRPr>
            </a:pPr>
            <a:r>
              <a:t>statoGioco.turno += 1;</a:t>
            </a:r>
          </a:p>
          <a:p>
            <a:pPr>
              <a:lnSpc>
                <a:spcPts val="1750"/>
              </a:lnSpc>
              <a:spcAft>
                <a:spcPts val="0"/>
              </a:spcAft>
              <a:defRPr sz="1400" b="0">
                <a:solidFill>
                  <a:srgbClr val="F2F5F7"/>
                </a:solidFill>
                <a:latin typeface="Consolas"/>
              </a:defRPr>
            </a:pPr>
            <a:r>
              <a:t>statoGioco.bersagliTurno = 0;</a:t>
            </a:r>
          </a:p>
          <a:p>
            <a:pPr>
              <a:lnSpc>
                <a:spcPts val="1750"/>
              </a:lnSpc>
              <a:spcAft>
                <a:spcPts val="0"/>
              </a:spcAft>
              <a:defRPr sz="1400" b="0">
                <a:solidFill>
                  <a:srgbClr val="F2F5F7"/>
                </a:solidFill>
                <a:latin typeface="Consolas"/>
              </a:defRPr>
            </a:pPr>
            <a:r>
              <a:t>await mostraIntroTurno(gettone);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4799" y="1917700"/>
            <a:ext cx="3619500" cy="2585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36"/>
              </a:lnSpc>
              <a:spcAft>
                <a:spcPts val="0"/>
              </a:spcAft>
              <a:defRPr sz="1200" b="1">
                <a:solidFill>
                  <a:srgbClr val="A9DF70"/>
                </a:solidFill>
                <a:latin typeface="Arial"/>
              </a:defRPr>
            </a:pPr>
            <a:r>
              <a:t>COME FUNZIONA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4799" y="2311400"/>
            <a:ext cx="3683000" cy="3398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76"/>
              </a:lnSpc>
              <a:spcAft>
                <a:spcPts val="0"/>
              </a:spcAft>
              <a:defRPr sz="1700" b="1">
                <a:solidFill>
                  <a:srgbClr val="FFD16A"/>
                </a:solidFill>
                <a:latin typeface="Arial"/>
              </a:defRPr>
            </a:pPr>
            <a:r>
              <a:t>Controllo al rientro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4799" y="2654300"/>
            <a:ext cx="3683000" cy="79501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20"/>
              </a:lnSpc>
              <a:spcAft>
                <a:spcPts val="0"/>
              </a:spcAft>
              <a:defRPr sz="1500" b="0">
                <a:solidFill>
                  <a:srgbClr val="F2F5F7"/>
                </a:solidFill>
                <a:latin typeface="Arial"/>
              </a:defRPr>
            </a:pPr>
            <a:r>
              <a:t>Dopo l’attesa si verifica che</a:t>
            </a:r>
          </a:p>
          <a:p>
            <a:pPr>
              <a:lnSpc>
                <a:spcPts val="1920"/>
              </a:lnSpc>
              <a:spcAft>
                <a:spcPts val="0"/>
              </a:spcAft>
              <a:defRPr sz="1500" b="0">
                <a:solidFill>
                  <a:srgbClr val="F2F5F7"/>
                </a:solidFill>
                <a:latin typeface="Arial"/>
              </a:defRPr>
            </a:pPr>
            <a:r>
              <a:t>fase e partita siano ancora</a:t>
            </a:r>
          </a:p>
          <a:p>
            <a:pPr>
              <a:lnSpc>
                <a:spcPts val="1920"/>
              </a:lnSpc>
              <a:spcAft>
                <a:spcPts val="0"/>
              </a:spcAft>
              <a:defRPr sz="1500" b="0">
                <a:solidFill>
                  <a:srgbClr val="F2F5F7"/>
                </a:solidFill>
                <a:latin typeface="Arial"/>
              </a:defRPr>
            </a:pPr>
            <a:r>
              <a:t>quelle previste.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4799" y="3683000"/>
            <a:ext cx="3683000" cy="3398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76"/>
              </a:lnSpc>
              <a:spcAft>
                <a:spcPts val="0"/>
              </a:spcAft>
              <a:defRPr sz="1700" b="1">
                <a:solidFill>
                  <a:srgbClr val="FFD16A"/>
                </a:solidFill>
                <a:latin typeface="Arial"/>
              </a:defRPr>
            </a:pPr>
            <a:r>
              <a:t>Tre percorsi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4799" y="4025900"/>
            <a:ext cx="3683000" cy="79501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20"/>
              </a:lnSpc>
              <a:spcAft>
                <a:spcPts val="0"/>
              </a:spcAft>
              <a:defRPr sz="1500" b="0">
                <a:solidFill>
                  <a:srgbClr val="F2F5F7"/>
                </a:solidFill>
                <a:latin typeface="Arial"/>
              </a:defRPr>
            </a:pPr>
            <a:r>
              <a:t>Altro bersaglio, fine partita</a:t>
            </a:r>
          </a:p>
          <a:p>
            <a:pPr>
              <a:lnSpc>
                <a:spcPts val="1920"/>
              </a:lnSpc>
              <a:spcAft>
                <a:spcPts val="0"/>
              </a:spcAft>
              <a:defRPr sz="1500" b="0">
                <a:solidFill>
                  <a:srgbClr val="F2F5F7"/>
                </a:solidFill>
                <a:latin typeface="Arial"/>
              </a:defRPr>
            </a:pPr>
            <a:r>
              <a:t>oppure round successivo con una</a:t>
            </a:r>
          </a:p>
          <a:p>
            <a:pPr>
              <a:lnSpc>
                <a:spcPts val="1920"/>
              </a:lnSpc>
              <a:spcAft>
                <a:spcPts val="0"/>
              </a:spcAft>
              <a:defRPr sz="1500" b="0">
                <a:solidFill>
                  <a:srgbClr val="F2F5F7"/>
                </a:solidFill>
                <a:latin typeface="Arial"/>
              </a:defRPr>
            </a:pPr>
            <a:r>
              <a:t>nuova intro.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8500" y="5753100"/>
            <a:ext cx="6731000" cy="2098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52"/>
              </a:lnSpc>
              <a:spcAft>
                <a:spcPts val="0"/>
              </a:spcAft>
              <a:defRPr sz="900" b="0">
                <a:solidFill>
                  <a:srgbClr val="AFBFCC"/>
                </a:solidFill>
                <a:latin typeface="Arial"/>
              </a:defRPr>
            </a:pPr>
            <a:r>
              <a:t>script.js / seconda parte di continuaPartita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9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317500"/>
            <a:ext cx="10922000" cy="2423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08"/>
              </a:lnSpc>
              <a:spcAft>
                <a:spcPts val="0"/>
              </a:spcAft>
              <a:defRPr sz="1100" b="1">
                <a:solidFill>
                  <a:srgbClr val="A9DF70"/>
                </a:solidFill>
                <a:latin typeface="Arial"/>
              </a:defRPr>
            </a:pPr>
            <a:r>
              <a:t>JAVASCRIPT / IL CUORE DEL PROGETTO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723900"/>
            <a:ext cx="10922000" cy="5349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11"/>
              </a:lnSpc>
              <a:spcAft>
                <a:spcPts val="0"/>
              </a:spcAft>
              <a:defRPr sz="2900" b="1">
                <a:solidFill>
                  <a:srgbClr val="F2F5F7"/>
                </a:solidFill>
                <a:latin typeface="Arial"/>
              </a:defRPr>
            </a:pPr>
            <a:r>
              <a:t>Caricare la grafica con Promise.all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1295400"/>
            <a:ext cx="10922000" cy="2910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92"/>
              </a:lnSpc>
              <a:spcAft>
                <a:spcPts val="0"/>
              </a:spcAft>
              <a:defRPr sz="1400" b="0">
                <a:solidFill>
                  <a:srgbClr val="AFBFCC"/>
                </a:solidFill>
                <a:latin typeface="Arial"/>
              </a:defRPr>
            </a:pPr>
            <a:r>
              <a:t>Estratto dal codice attuale; le omissioni sono indicate con // …</a:t>
            </a:r>
          </a:p>
        </p:txBody>
      </p:sp>
      <p:sp>
        <p:nvSpPr>
          <p:cNvPr id="5" name="Rectangle 4"/>
          <p:cNvSpPr/>
          <p:nvPr/>
        </p:nvSpPr>
        <p:spPr>
          <a:xfrm>
            <a:off x="508000" y="6261100"/>
            <a:ext cx="11176000" cy="12700"/>
          </a:xfrm>
          <a:prstGeom prst="rect">
            <a:avLst/>
          </a:prstGeom>
          <a:solidFill>
            <a:srgbClr val="344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8000" y="6438900"/>
            <a:ext cx="10922000" cy="2098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52"/>
              </a:lnSpc>
              <a:spcAft>
                <a:spcPts val="0"/>
              </a:spcAft>
              <a:defRPr sz="900" b="0">
                <a:solidFill>
                  <a:srgbClr val="AFBFCC"/>
                </a:solidFill>
                <a:latin typeface="Arial"/>
              </a:defRPr>
            </a:pPr>
            <a:r>
              <a:t>DUCK HUNT NL  /  VARISCO NICOLÒ · ANDRONI LORENZO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96600" y="6413500"/>
            <a:ext cx="825500" cy="2423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08"/>
              </a:lnSpc>
              <a:spcAft>
                <a:spcPts val="0"/>
              </a:spcAft>
              <a:defRPr sz="1100" b="0">
                <a:solidFill>
                  <a:srgbClr val="A9DF70"/>
                </a:solidFill>
                <a:latin typeface="Arial"/>
              </a:defRPr>
            </a:pPr>
            <a:r>
              <a:t>14 / 17</a:t>
            </a:r>
          </a:p>
        </p:txBody>
      </p:sp>
      <p:sp>
        <p:nvSpPr>
          <p:cNvPr id="8" name="Rectangle 7"/>
          <p:cNvSpPr/>
          <p:nvPr/>
        </p:nvSpPr>
        <p:spPr>
          <a:xfrm>
            <a:off x="508000" y="1854200"/>
            <a:ext cx="7099300" cy="4140200"/>
          </a:xfrm>
          <a:prstGeom prst="rect">
            <a:avLst/>
          </a:prstGeom>
          <a:solidFill>
            <a:srgbClr val="1927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8500" y="2044700"/>
            <a:ext cx="6731000" cy="3175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50"/>
              </a:lnSpc>
              <a:spcAft>
                <a:spcPts val="0"/>
              </a:spcAft>
              <a:defRPr sz="1400" b="0">
                <a:solidFill>
                  <a:srgbClr val="F2F5F7"/>
                </a:solidFill>
                <a:latin typeface="Consolas"/>
              </a:defRPr>
            </a:pPr>
            <a:r>
              <a:t>const caricaImmagine = (percorso) =&gt;</a:t>
            </a:r>
          </a:p>
          <a:p>
            <a:pPr>
              <a:lnSpc>
                <a:spcPts val="1750"/>
              </a:lnSpc>
              <a:spcAft>
                <a:spcPts val="0"/>
              </a:spcAft>
              <a:defRPr sz="1400" b="0">
                <a:solidFill>
                  <a:srgbClr val="F2F5F7"/>
                </a:solidFill>
                <a:latin typeface="Consolas"/>
              </a:defRPr>
            </a:pPr>
            <a:r>
              <a:t>  new Promise((completa, rifiuta) =&gt; {</a:t>
            </a:r>
          </a:p>
          <a:p>
            <a:pPr>
              <a:lnSpc>
                <a:spcPts val="1750"/>
              </a:lnSpc>
              <a:spcAft>
                <a:spcPts val="0"/>
              </a:spcAft>
              <a:defRPr sz="1400" b="0">
                <a:solidFill>
                  <a:srgbClr val="F2F5F7"/>
                </a:solidFill>
                <a:latin typeface="Consolas"/>
              </a:defRPr>
            </a:pPr>
            <a:r>
              <a:t>    const immagine = new Image();</a:t>
            </a:r>
          </a:p>
          <a:p>
            <a:pPr>
              <a:lnSpc>
                <a:spcPts val="1750"/>
              </a:lnSpc>
              <a:spcAft>
                <a:spcPts val="0"/>
              </a:spcAft>
              <a:defRPr sz="1400" b="0">
                <a:solidFill>
                  <a:srgbClr val="F2F5F7"/>
                </a:solidFill>
                <a:latin typeface="Consolas"/>
              </a:defRPr>
            </a:pPr>
            <a:r>
              <a:t>    immagine.onload = () =&gt; completa(immagine);</a:t>
            </a:r>
          </a:p>
          <a:p>
            <a:pPr>
              <a:lnSpc>
                <a:spcPts val="1750"/>
              </a:lnSpc>
              <a:spcAft>
                <a:spcPts val="0"/>
              </a:spcAft>
              <a:defRPr sz="1400" b="0">
                <a:solidFill>
                  <a:srgbClr val="F2F5F7"/>
                </a:solidFill>
                <a:latin typeface="Consolas"/>
              </a:defRPr>
            </a:pPr>
            <a:r>
              <a:t>    immagine.onerror = () =&gt; rifiuta(</a:t>
            </a:r>
          </a:p>
          <a:p>
            <a:pPr>
              <a:lnSpc>
                <a:spcPts val="1750"/>
              </a:lnSpc>
              <a:spcAft>
                <a:spcPts val="0"/>
              </a:spcAft>
              <a:defRPr sz="1400" b="0">
                <a:solidFill>
                  <a:srgbClr val="F2F5F7"/>
                </a:solidFill>
                <a:latin typeface="Consolas"/>
              </a:defRPr>
            </a:pPr>
            <a:r>
              <a:t>      new Error("Impossibile caricare " + percorso));</a:t>
            </a:r>
          </a:p>
          <a:p>
            <a:pPr>
              <a:lnSpc>
                <a:spcPts val="1750"/>
              </a:lnSpc>
              <a:spcAft>
                <a:spcPts val="0"/>
              </a:spcAft>
              <a:defRPr sz="1400" b="0">
                <a:solidFill>
                  <a:srgbClr val="F2F5F7"/>
                </a:solidFill>
                <a:latin typeface="Consolas"/>
              </a:defRPr>
            </a:pPr>
            <a:r>
              <a:t>    immagine.src = percorso;</a:t>
            </a:r>
          </a:p>
          <a:p>
            <a:pPr>
              <a:lnSpc>
                <a:spcPts val="1750"/>
              </a:lnSpc>
              <a:spcAft>
                <a:spcPts val="0"/>
              </a:spcAft>
              <a:defRPr sz="1400" b="0">
                <a:solidFill>
                  <a:srgbClr val="F2F5F7"/>
                </a:solidFill>
                <a:latin typeface="Consolas"/>
              </a:defRPr>
            </a:pPr>
            <a:r>
              <a:t>  });</a:t>
            </a:r>
          </a:p>
          <a:p>
            <a:pPr>
              <a:lnSpc>
                <a:spcPts val="1750"/>
              </a:lnSpc>
              <a:spcAft>
                <a:spcPts val="0"/>
              </a:spcAft>
              <a:defRPr sz="1400" b="0">
                <a:solidFill>
                  <a:srgbClr val="F2F5F7"/>
                </a:solidFill>
                <a:latin typeface="Consolas"/>
              </a:defRPr>
            </a:pPr>
            <a:r>
              <a:t>// …</a:t>
            </a:r>
          </a:p>
          <a:p>
            <a:pPr>
              <a:lnSpc>
                <a:spcPts val="1750"/>
              </a:lnSpc>
              <a:spcAft>
                <a:spcPts val="0"/>
              </a:spcAft>
              <a:defRPr sz="1400" b="0">
                <a:solidFill>
                  <a:srgbClr val="F2F5F7"/>
                </a:solidFill>
                <a:latin typeface="Consolas"/>
              </a:defRPr>
            </a:pPr>
            <a:r>
              <a:t>Promise.all([</a:t>
            </a:r>
          </a:p>
          <a:p>
            <a:pPr>
              <a:lnSpc>
                <a:spcPts val="1750"/>
              </a:lnSpc>
              <a:spcAft>
                <a:spcPts val="0"/>
              </a:spcAft>
              <a:defRPr sz="1400" b="0">
                <a:solidFill>
                  <a:srgbClr val="F2F5F7"/>
                </a:solidFill>
                <a:latin typeface="Consolas"/>
              </a:defRPr>
            </a:pPr>
            <a:r>
              <a:t>    // … percorsi di GIF, mirini e cane</a:t>
            </a:r>
          </a:p>
          <a:p>
            <a:pPr>
              <a:lnSpc>
                <a:spcPts val="1750"/>
              </a:lnSpc>
              <a:spcAft>
                <a:spcPts val="0"/>
              </a:spcAft>
              <a:defRPr sz="1400" b="0">
                <a:solidFill>
                  <a:srgbClr val="F2F5F7"/>
                </a:solidFill>
                <a:latin typeface="Consolas"/>
              </a:defRPr>
            </a:pPr>
            <a:r>
              <a:t>].map(caricaImmagine)).then((/* … */) =&gt; {</a:t>
            </a:r>
          </a:p>
          <a:p>
            <a:pPr>
              <a:lnSpc>
                <a:spcPts val="1750"/>
              </a:lnSpc>
              <a:spcAft>
                <a:spcPts val="0"/>
              </a:spcAft>
              <a:defRPr sz="1400" b="0">
                <a:solidFill>
                  <a:srgbClr val="F2F5F7"/>
                </a:solidFill>
                <a:latin typeface="Consolas"/>
              </a:defRPr>
            </a:pPr>
            <a:r>
              <a:t>    // … abilita avvio dopo il caricamento</a:t>
            </a:r>
          </a:p>
          <a:p>
            <a:pPr>
              <a:lnSpc>
                <a:spcPts val="1750"/>
              </a:lnSpc>
              <a:spcAft>
                <a:spcPts val="0"/>
              </a:spcAft>
              <a:defRPr sz="1400" b="0">
                <a:solidFill>
                  <a:srgbClr val="F2F5F7"/>
                </a:solidFill>
                <a:latin typeface="Consolas"/>
              </a:defRPr>
            </a:pPr>
            <a:r>
              <a:t>}).catch((errore) =&gt; { /* … mostra errore */ });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4799" y="1917700"/>
            <a:ext cx="3619500" cy="2585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36"/>
              </a:lnSpc>
              <a:spcAft>
                <a:spcPts val="0"/>
              </a:spcAft>
              <a:defRPr sz="1200" b="1">
                <a:solidFill>
                  <a:srgbClr val="A9DF70"/>
                </a:solidFill>
                <a:latin typeface="Arial"/>
              </a:defRPr>
            </a:pPr>
            <a:r>
              <a:t>COME FUNZIONA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4799" y="2311400"/>
            <a:ext cx="3683000" cy="3398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76"/>
              </a:lnSpc>
              <a:spcAft>
                <a:spcPts val="0"/>
              </a:spcAft>
              <a:defRPr sz="1700" b="1">
                <a:solidFill>
                  <a:srgbClr val="FFD16A"/>
                </a:solidFill>
                <a:latin typeface="Arial"/>
              </a:defRPr>
            </a:pPr>
            <a:r>
              <a:t>Tutte pronte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4799" y="2654300"/>
            <a:ext cx="3683000" cy="79501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20"/>
              </a:lnSpc>
              <a:spcAft>
                <a:spcPts val="0"/>
              </a:spcAft>
              <a:defRPr sz="1500" b="0">
                <a:solidFill>
                  <a:srgbClr val="F2F5F7"/>
                </a:solidFill>
                <a:latin typeface="Arial"/>
              </a:defRPr>
            </a:pPr>
            <a:r>
              <a:t>map avvia i caricamenti;</a:t>
            </a:r>
          </a:p>
          <a:p>
            <a:pPr>
              <a:lnSpc>
                <a:spcPts val="1920"/>
              </a:lnSpc>
              <a:spcAft>
                <a:spcPts val="0"/>
              </a:spcAft>
              <a:defRPr sz="1500" b="0">
                <a:solidFill>
                  <a:srgbClr val="F2F5F7"/>
                </a:solidFill>
                <a:latin typeface="Arial"/>
              </a:defRPr>
            </a:pPr>
            <a:r>
              <a:t>Promise.all si risolve quando</a:t>
            </a:r>
          </a:p>
          <a:p>
            <a:pPr>
              <a:lnSpc>
                <a:spcPts val="1920"/>
              </a:lnSpc>
              <a:spcAft>
                <a:spcPts val="0"/>
              </a:spcAft>
              <a:defRPr sz="1500" b="0">
                <a:solidFill>
                  <a:srgbClr val="F2F5F7"/>
                </a:solidFill>
                <a:latin typeface="Arial"/>
              </a:defRPr>
            </a:pPr>
            <a:r>
              <a:t>tutti hanno successo.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4799" y="3683000"/>
            <a:ext cx="3683000" cy="3398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76"/>
              </a:lnSpc>
              <a:spcAft>
                <a:spcPts val="0"/>
              </a:spcAft>
              <a:defRPr sz="1700" b="1">
                <a:solidFill>
                  <a:srgbClr val="FFD16A"/>
                </a:solidFill>
                <a:latin typeface="Arial"/>
              </a:defRPr>
            </a:pPr>
            <a:r>
              <a:t>Errore gestito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4799" y="4025900"/>
            <a:ext cx="3683000" cy="79501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20"/>
              </a:lnSpc>
              <a:spcAft>
                <a:spcPts val="0"/>
              </a:spcAft>
              <a:defRPr sz="1500" b="0">
                <a:solidFill>
                  <a:srgbClr val="F2F5F7"/>
                </a:solidFill>
                <a:latin typeface="Arial"/>
              </a:defRPr>
            </a:pPr>
            <a:r>
              <a:t>Se una risorsa fallisce, catch</a:t>
            </a:r>
          </a:p>
          <a:p>
            <a:pPr>
              <a:lnSpc>
                <a:spcPts val="1920"/>
              </a:lnSpc>
              <a:spcAft>
                <a:spcPts val="0"/>
              </a:spcAft>
              <a:defRPr sz="1500" b="0">
                <a:solidFill>
                  <a:srgbClr val="F2F5F7"/>
                </a:solidFill>
                <a:latin typeface="Arial"/>
              </a:defRPr>
            </a:pPr>
            <a:r>
              <a:t>mostra il problema e l’avvio</a:t>
            </a:r>
          </a:p>
          <a:p>
            <a:pPr>
              <a:lnSpc>
                <a:spcPts val="1920"/>
              </a:lnSpc>
              <a:spcAft>
                <a:spcPts val="0"/>
              </a:spcAft>
              <a:defRPr sz="1500" b="0">
                <a:solidFill>
                  <a:srgbClr val="F2F5F7"/>
                </a:solidFill>
                <a:latin typeface="Arial"/>
              </a:defRPr>
            </a:pPr>
            <a:r>
              <a:t>resta disabilitato.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8500" y="5753100"/>
            <a:ext cx="6731000" cy="2098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52"/>
              </a:lnSpc>
              <a:spcAft>
                <a:spcPts val="0"/>
              </a:spcAft>
              <a:defRPr sz="900" b="0">
                <a:solidFill>
                  <a:srgbClr val="AFBFCC"/>
                </a:solidFill>
                <a:latin typeface="Arial"/>
              </a:defRPr>
            </a:pPr>
            <a:r>
              <a:t>script.js / caricaImmagine e caricamento finale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9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317500"/>
            <a:ext cx="10922000" cy="2423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08"/>
              </a:lnSpc>
              <a:spcAft>
                <a:spcPts val="0"/>
              </a:spcAft>
              <a:defRPr sz="1100" b="1">
                <a:solidFill>
                  <a:srgbClr val="A9DF70"/>
                </a:solidFill>
                <a:latin typeface="Arial"/>
              </a:defRPr>
            </a:pPr>
            <a:r>
              <a:t>05 / DISTINGUERE I DUE FLUSSI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723900"/>
            <a:ext cx="10922000" cy="5349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11"/>
              </a:lnSpc>
              <a:spcAft>
                <a:spcPts val="0"/>
              </a:spcAft>
              <a:defRPr sz="2900" b="1">
                <a:solidFill>
                  <a:srgbClr val="F2F5F7"/>
                </a:solidFill>
                <a:latin typeface="Arial"/>
              </a:defRPr>
            </a:pPr>
            <a:r>
              <a:t>Sincrono e asincrono nello stesso progetto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1295400"/>
            <a:ext cx="10922000" cy="2910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92"/>
              </a:lnSpc>
              <a:spcAft>
                <a:spcPts val="0"/>
              </a:spcAft>
              <a:defRPr sz="1400" b="0">
                <a:solidFill>
                  <a:srgbClr val="AFBFCC"/>
                </a:solidFill>
                <a:latin typeface="Arial"/>
              </a:defRPr>
            </a:pPr>
            <a:r>
              <a:t>I callback eseguono istruzioni in sequenza; il browser decide quando richiamarli.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8000" y="6261100"/>
            <a:ext cx="11176000" cy="12700"/>
          </a:xfrm>
          <a:prstGeom prst="rect">
            <a:avLst/>
          </a:prstGeom>
          <a:solidFill>
            <a:srgbClr val="344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8000" y="6438900"/>
            <a:ext cx="10922000" cy="2098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52"/>
              </a:lnSpc>
              <a:spcAft>
                <a:spcPts val="0"/>
              </a:spcAft>
              <a:defRPr sz="900" b="0">
                <a:solidFill>
                  <a:srgbClr val="AFBFCC"/>
                </a:solidFill>
                <a:latin typeface="Arial"/>
              </a:defRPr>
            </a:pPr>
            <a:r>
              <a:t>DUCK HUNT NL  /  VARISCO NICOLÒ · ANDRONI LORENZO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96600" y="6413500"/>
            <a:ext cx="825500" cy="2423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08"/>
              </a:lnSpc>
              <a:spcAft>
                <a:spcPts val="0"/>
              </a:spcAft>
              <a:defRPr sz="1100" b="0">
                <a:solidFill>
                  <a:srgbClr val="A9DF70"/>
                </a:solidFill>
                <a:latin typeface="Arial"/>
              </a:defRPr>
            </a:pPr>
            <a:r>
              <a:t>15 / 17</a:t>
            </a:r>
          </a:p>
        </p:txBody>
      </p:sp>
      <p:sp>
        <p:nvSpPr>
          <p:cNvPr id="8" name="Rectangle 7"/>
          <p:cNvSpPr/>
          <p:nvPr/>
        </p:nvSpPr>
        <p:spPr>
          <a:xfrm>
            <a:off x="508000" y="1968500"/>
            <a:ext cx="5397500" cy="3644900"/>
          </a:xfrm>
          <a:prstGeom prst="rect">
            <a:avLst/>
          </a:prstGeom>
          <a:solidFill>
            <a:srgbClr val="1927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59500" y="1968500"/>
            <a:ext cx="5524500" cy="3644900"/>
          </a:xfrm>
          <a:prstGeom prst="rect">
            <a:avLst/>
          </a:prstGeom>
          <a:solidFill>
            <a:srgbClr val="1927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2000" y="2222500"/>
            <a:ext cx="4826000" cy="4048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88"/>
              </a:lnSpc>
              <a:spcAft>
                <a:spcPts val="0"/>
              </a:spcAft>
              <a:defRPr sz="2100" b="1">
                <a:solidFill>
                  <a:srgbClr val="A9DF70"/>
                </a:solidFill>
                <a:latin typeface="Arial"/>
              </a:defRPr>
            </a:pPr>
            <a:r>
              <a:t>SINCRONO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2768600"/>
            <a:ext cx="4889500" cy="24043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04"/>
              </a:lnSpc>
              <a:spcAft>
                <a:spcPts val="0"/>
              </a:spcAft>
              <a:defRPr sz="1800" b="0">
                <a:solidFill>
                  <a:srgbClr val="F2F5F7"/>
                </a:solidFill>
                <a:latin typeface="Arial"/>
              </a:defRPr>
            </a:pPr>
            <a:r>
              <a:t>spara(): controlli → munizioni</a:t>
            </a:r>
          </a:p>
          <a:p>
            <a:pPr>
              <a:lnSpc>
                <a:spcPts val="2304"/>
              </a:lnSpc>
              <a:spcAft>
                <a:spcPts val="0"/>
              </a:spcAft>
              <a:defRPr sz="1800" b="0">
                <a:solidFill>
                  <a:srgbClr val="F2F5F7"/>
                </a:solidFill>
                <a:latin typeface="Arial"/>
              </a:defRPr>
            </a:pPr>
            <a:r>
              <a:t>→ hitbox → punti.</a:t>
            </a:r>
          </a:p>
          <a:p>
            <a:pPr>
              <a:lnSpc>
                <a:spcPts val="2304"/>
              </a:lnSpc>
              <a:spcAft>
                <a:spcPts val="0"/>
              </a:spcAft>
              <a:defRPr sz="1800" b="0">
                <a:solidFill>
                  <a:srgbClr val="F2F5F7"/>
                </a:solidFill>
                <a:latin typeface="Arial"/>
              </a:defRPr>
            </a:pPr>
          </a:p>
          <a:p>
            <a:pPr>
              <a:lnSpc>
                <a:spcPts val="2304"/>
              </a:lnSpc>
              <a:spcAft>
                <a:spcPts val="0"/>
              </a:spcAft>
              <a:defRPr sz="1800" b="0">
                <a:solidFill>
                  <a:srgbClr val="F2F5F7"/>
                </a:solidFill>
                <a:latin typeface="Arial"/>
              </a:defRPr>
            </a:pPr>
            <a:r>
              <a:t>aggiornaAnatra(): movimento</a:t>
            </a:r>
          </a:p>
          <a:p>
            <a:pPr>
              <a:lnSpc>
                <a:spcPts val="2304"/>
              </a:lnSpc>
              <a:spcAft>
                <a:spcPts val="0"/>
              </a:spcAft>
              <a:defRPr sz="1800" b="0">
                <a:solidFill>
                  <a:srgbClr val="F2F5F7"/>
                </a:solidFill>
                <a:latin typeface="Arial"/>
              </a:defRPr>
            </a:pPr>
            <a:r>
              <a:t>e timer nello stesso callback.</a:t>
            </a:r>
          </a:p>
          <a:p>
            <a:pPr>
              <a:lnSpc>
                <a:spcPts val="2304"/>
              </a:lnSpc>
              <a:spcAft>
                <a:spcPts val="0"/>
              </a:spcAft>
              <a:defRPr sz="1800" b="0">
                <a:solidFill>
                  <a:srgbClr val="F2F5F7"/>
                </a:solidFill>
                <a:latin typeface="Arial"/>
              </a:defRPr>
            </a:pPr>
          </a:p>
          <a:p>
            <a:pPr>
              <a:lnSpc>
                <a:spcPts val="2304"/>
              </a:lnSpc>
              <a:spcAft>
                <a:spcPts val="0"/>
              </a:spcAft>
              <a:defRPr sz="1800" b="0">
                <a:solidFill>
                  <a:srgbClr val="F2F5F7"/>
                </a:solidFill>
                <a:latin typeface="Arial"/>
              </a:defRPr>
            </a:pPr>
            <a:r>
              <a:t>localStorage: lettura e scrittura</a:t>
            </a:r>
          </a:p>
          <a:p>
            <a:pPr>
              <a:lnSpc>
                <a:spcPts val="2304"/>
              </a:lnSpc>
              <a:spcAft>
                <a:spcPts val="0"/>
              </a:spcAft>
              <a:defRPr sz="1800" b="0">
                <a:solidFill>
                  <a:srgbClr val="F2F5F7"/>
                </a:solidFill>
                <a:latin typeface="Arial"/>
              </a:defRPr>
            </a:pPr>
            <a:r>
              <a:t>con gestione try/catch.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3500" y="2222500"/>
            <a:ext cx="5016500" cy="4048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88"/>
              </a:lnSpc>
              <a:spcAft>
                <a:spcPts val="0"/>
              </a:spcAft>
              <a:defRPr sz="2100" b="1">
                <a:solidFill>
                  <a:srgbClr val="FFD16A"/>
                </a:solidFill>
                <a:latin typeface="Arial"/>
              </a:defRPr>
            </a:pPr>
            <a:r>
              <a:t>ASINCRONO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3500" y="2768600"/>
            <a:ext cx="5016500" cy="24043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04"/>
              </a:lnSpc>
              <a:spcAft>
                <a:spcPts val="0"/>
              </a:spcAft>
              <a:defRPr sz="1800" b="0">
                <a:solidFill>
                  <a:srgbClr val="F2F5F7"/>
                </a:solidFill>
                <a:latin typeface="Arial"/>
              </a:defRPr>
            </a:pPr>
            <a:r>
              <a:t>setTimeout + await:</a:t>
            </a:r>
          </a:p>
          <a:p>
            <a:pPr>
              <a:lnSpc>
                <a:spcPts val="2304"/>
              </a:lnSpc>
              <a:spcAft>
                <a:spcPts val="0"/>
              </a:spcAft>
              <a:defRPr sz="1800" b="0">
                <a:solidFill>
                  <a:srgbClr val="F2F5F7"/>
                </a:solidFill>
                <a:latin typeface="Arial"/>
              </a:defRPr>
            </a:pPr>
            <a:r>
              <a:t>ripresa dopo una pausa.</a:t>
            </a:r>
          </a:p>
          <a:p>
            <a:pPr>
              <a:lnSpc>
                <a:spcPts val="2304"/>
              </a:lnSpc>
              <a:spcAft>
                <a:spcPts val="0"/>
              </a:spcAft>
              <a:defRPr sz="1800" b="0">
                <a:solidFill>
                  <a:srgbClr val="F2F5F7"/>
                </a:solidFill>
                <a:latin typeface="Arial"/>
              </a:defRPr>
            </a:pPr>
          </a:p>
          <a:p>
            <a:pPr>
              <a:lnSpc>
                <a:spcPts val="2304"/>
              </a:lnSpc>
              <a:spcAft>
                <a:spcPts val="0"/>
              </a:spcAft>
              <a:defRPr sz="1800" b="0">
                <a:solidFill>
                  <a:srgbClr val="F2F5F7"/>
                </a:solidFill>
                <a:latin typeface="Arial"/>
              </a:defRPr>
            </a:pPr>
            <a:r>
              <a:t>Image.onload + Promise.all:</a:t>
            </a:r>
          </a:p>
          <a:p>
            <a:pPr>
              <a:lnSpc>
                <a:spcPts val="2304"/>
              </a:lnSpc>
              <a:spcAft>
                <a:spcPts val="0"/>
              </a:spcAft>
              <a:defRPr sz="1800" b="0">
                <a:solidFill>
                  <a:srgbClr val="F2F5F7"/>
                </a:solidFill>
                <a:latin typeface="Arial"/>
              </a:defRPr>
            </a:pPr>
            <a:r>
              <a:t>attesa delle risorse grafiche.</a:t>
            </a:r>
          </a:p>
          <a:p>
            <a:pPr>
              <a:lnSpc>
                <a:spcPts val="2304"/>
              </a:lnSpc>
              <a:spcAft>
                <a:spcPts val="0"/>
              </a:spcAft>
              <a:defRPr sz="1800" b="0">
                <a:solidFill>
                  <a:srgbClr val="F2F5F7"/>
                </a:solidFill>
                <a:latin typeface="Arial"/>
              </a:defRPr>
            </a:pPr>
          </a:p>
          <a:p>
            <a:pPr>
              <a:lnSpc>
                <a:spcPts val="2304"/>
              </a:lnSpc>
              <a:spcAft>
                <a:spcPts val="0"/>
              </a:spcAft>
              <a:defRPr sz="1800" b="0">
                <a:solidFill>
                  <a:srgbClr val="F2F5F7"/>
                </a:solidFill>
                <a:latin typeface="Arial"/>
              </a:defRPr>
            </a:pPr>
            <a:r>
              <a:t>requestAnimationFrame ed eventi:</a:t>
            </a:r>
          </a:p>
          <a:p>
            <a:pPr>
              <a:lnSpc>
                <a:spcPts val="2304"/>
              </a:lnSpc>
              <a:spcAft>
                <a:spcPts val="0"/>
              </a:spcAft>
              <a:defRPr sz="1800" b="0">
                <a:solidFill>
                  <a:srgbClr val="F2F5F7"/>
                </a:solidFill>
                <a:latin typeface="Arial"/>
              </a:defRPr>
            </a:pPr>
            <a:r>
              <a:t>callback richiamati dal browser.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9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317500"/>
            <a:ext cx="10922000" cy="2423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08"/>
              </a:lnSpc>
              <a:spcAft>
                <a:spcPts val="0"/>
              </a:spcAft>
              <a:defRPr sz="1100" b="1">
                <a:solidFill>
                  <a:srgbClr val="A9DF70"/>
                </a:solidFill>
                <a:latin typeface="Arial"/>
              </a:defRPr>
            </a:pPr>
            <a:r>
              <a:t>06 / PROBLEMI E SOLUZIONI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723900"/>
            <a:ext cx="10922000" cy="5349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11"/>
              </a:lnSpc>
              <a:spcAft>
                <a:spcPts val="0"/>
              </a:spcAft>
              <a:defRPr sz="2900" b="1">
                <a:solidFill>
                  <a:srgbClr val="F2F5F7"/>
                </a:solidFill>
                <a:latin typeface="Arial"/>
              </a:defRPr>
            </a:pPr>
            <a:r>
              <a:t>Le criticità affrontate nel codice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1295400"/>
            <a:ext cx="10922000" cy="2910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92"/>
              </a:lnSpc>
              <a:spcAft>
                <a:spcPts val="0"/>
              </a:spcAft>
              <a:defRPr sz="1400" b="0">
                <a:solidFill>
                  <a:srgbClr val="AFBFCC"/>
                </a:solidFill>
                <a:latin typeface="Arial"/>
              </a:defRPr>
            </a:pPr>
            <a:r>
              <a:t>Problemi tecnici e relative soluzioni osservabili nell’implementazione.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8000" y="6261100"/>
            <a:ext cx="11176000" cy="12700"/>
          </a:xfrm>
          <a:prstGeom prst="rect">
            <a:avLst/>
          </a:prstGeom>
          <a:solidFill>
            <a:srgbClr val="344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8000" y="6438900"/>
            <a:ext cx="10922000" cy="2098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52"/>
              </a:lnSpc>
              <a:spcAft>
                <a:spcPts val="0"/>
              </a:spcAft>
              <a:defRPr sz="900" b="0">
                <a:solidFill>
                  <a:srgbClr val="AFBFCC"/>
                </a:solidFill>
                <a:latin typeface="Arial"/>
              </a:defRPr>
            </a:pPr>
            <a:r>
              <a:t>DUCK HUNT NL  /  VARISCO NICOLÒ · ANDRONI LORENZO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96600" y="6413500"/>
            <a:ext cx="825500" cy="2423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08"/>
              </a:lnSpc>
              <a:spcAft>
                <a:spcPts val="0"/>
              </a:spcAft>
              <a:defRPr sz="1100" b="0">
                <a:solidFill>
                  <a:srgbClr val="A9DF70"/>
                </a:solidFill>
                <a:latin typeface="Arial"/>
              </a:defRPr>
            </a:pPr>
            <a:r>
              <a:t>16 / 17</a:t>
            </a:r>
          </a:p>
        </p:txBody>
      </p:sp>
      <p:sp>
        <p:nvSpPr>
          <p:cNvPr id="8" name="Rectangle 7"/>
          <p:cNvSpPr/>
          <p:nvPr/>
        </p:nvSpPr>
        <p:spPr>
          <a:xfrm>
            <a:off x="508000" y="1968500"/>
            <a:ext cx="11176000" cy="1143000"/>
          </a:xfrm>
          <a:prstGeom prst="rect">
            <a:avLst/>
          </a:prstGeom>
          <a:solidFill>
            <a:srgbClr val="1927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6600" y="2120900"/>
            <a:ext cx="10922000" cy="3723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32"/>
              </a:lnSpc>
              <a:spcAft>
                <a:spcPts val="0"/>
              </a:spcAft>
              <a:defRPr sz="1900" b="1">
                <a:solidFill>
                  <a:srgbClr val="A9DF70"/>
                </a:solidFill>
                <a:latin typeface="Arial"/>
              </a:defRPr>
            </a:pPr>
            <a:r>
              <a:t>Attese pendenti e azioni fuori fase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6600" y="2501900"/>
            <a:ext cx="10922000" cy="3398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76"/>
              </a:lnSpc>
              <a:spcAft>
                <a:spcPts val="0"/>
              </a:spcAft>
              <a:defRPr sz="1700" b="0">
                <a:solidFill>
                  <a:srgbClr val="F2F5F7"/>
                </a:solidFill>
                <a:latin typeface="Arial"/>
              </a:defRPr>
            </a:pPr>
            <a:r>
              <a:t>Gettone di partita + controlli sulla fase dopo await e prima dello sparo.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8000" y="3289300"/>
            <a:ext cx="11176000" cy="1143000"/>
          </a:xfrm>
          <a:prstGeom prst="rect">
            <a:avLst/>
          </a:prstGeom>
          <a:solidFill>
            <a:srgbClr val="1927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6600" y="3441700"/>
            <a:ext cx="10922000" cy="3723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32"/>
              </a:lnSpc>
              <a:spcAft>
                <a:spcPts val="0"/>
              </a:spcAft>
              <a:defRPr sz="1900" b="1">
                <a:solidFill>
                  <a:srgbClr val="A9DF70"/>
                </a:solidFill>
                <a:latin typeface="Arial"/>
              </a:defRPr>
            </a:pPr>
            <a:r>
              <a:t>Frame lenti e ridimensionamento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600" y="3822700"/>
            <a:ext cx="10922000" cy="3398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76"/>
              </a:lnSpc>
              <a:spcAft>
                <a:spcPts val="0"/>
              </a:spcAft>
              <a:defRPr sz="1700" b="0">
                <a:solidFill>
                  <a:srgbClr val="F2F5F7"/>
                </a:solidFill>
                <a:latin typeface="Arial"/>
              </a:defRPr>
            </a:pPr>
            <a:r>
              <a:t>Delta time limitato; adattaCanvas riscala posizioni, velocità e risoluzione.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8000" y="4610100"/>
            <a:ext cx="11176000" cy="1143000"/>
          </a:xfrm>
          <a:prstGeom prst="rect">
            <a:avLst/>
          </a:prstGeom>
          <a:solidFill>
            <a:srgbClr val="1927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6600" y="4762500"/>
            <a:ext cx="10922000" cy="3723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32"/>
              </a:lnSpc>
              <a:spcAft>
                <a:spcPts val="0"/>
              </a:spcAft>
              <a:defRPr sz="1900" b="1">
                <a:solidFill>
                  <a:srgbClr val="A9DF70"/>
                </a:solidFill>
                <a:latin typeface="Arial"/>
              </a:defRPr>
            </a:pPr>
            <a:r>
              <a:t>Risorse o salvataggio non disponibili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6600" y="5143500"/>
            <a:ext cx="10922000" cy="3398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76"/>
              </a:lnSpc>
              <a:spcAft>
                <a:spcPts val="0"/>
              </a:spcAft>
              <a:defRPr sz="1700" b="0">
                <a:solidFill>
                  <a:srgbClr val="F2F5F7"/>
                </a:solidFill>
                <a:latin typeface="Arial"/>
              </a:defRPr>
            </a:pPr>
            <a:r>
              <a:t>catch per le immagini; try/catch per localStorage; avvisi e avvio protetto.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9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317500"/>
            <a:ext cx="10922000" cy="2423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08"/>
              </a:lnSpc>
              <a:spcAft>
                <a:spcPts val="0"/>
              </a:spcAft>
              <a:defRPr sz="1100" b="1">
                <a:solidFill>
                  <a:srgbClr val="A9DF70"/>
                </a:solidFill>
                <a:latin typeface="Arial"/>
              </a:defRPr>
            </a:pPr>
            <a:r>
              <a:t>07 / CONCLUSIONE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723900"/>
            <a:ext cx="10922000" cy="5349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11"/>
              </a:lnSpc>
              <a:spcAft>
                <a:spcPts val="0"/>
              </a:spcAft>
              <a:defRPr sz="2900" b="1">
                <a:solidFill>
                  <a:srgbClr val="F2F5F7"/>
                </a:solidFill>
                <a:latin typeface="Arial"/>
              </a:defRPr>
            </a:pPr>
            <a:r>
              <a:t>Grazie per l’attenzione!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1295400"/>
            <a:ext cx="10922000" cy="2910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92"/>
              </a:lnSpc>
              <a:spcAft>
                <a:spcPts val="0"/>
              </a:spcAft>
              <a:defRPr sz="1400" b="0">
                <a:solidFill>
                  <a:srgbClr val="AFBFCC"/>
                </a:solidFill>
                <a:latin typeface="Arial"/>
              </a:defRPr>
            </a:pPr>
            <a:r>
              <a:t>DUCK HUNT NL</a:t>
            </a:r>
          </a:p>
        </p:txBody>
      </p:sp>
      <p:sp>
        <p:nvSpPr>
          <p:cNvPr id="5" name="Rectangle 4"/>
          <p:cNvSpPr/>
          <p:nvPr/>
        </p:nvSpPr>
        <p:spPr>
          <a:xfrm>
            <a:off x="508000" y="6261100"/>
            <a:ext cx="11176000" cy="12700"/>
          </a:xfrm>
          <a:prstGeom prst="rect">
            <a:avLst/>
          </a:prstGeom>
          <a:solidFill>
            <a:srgbClr val="344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8000" y="6438900"/>
            <a:ext cx="10922000" cy="2098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52"/>
              </a:lnSpc>
              <a:spcAft>
                <a:spcPts val="0"/>
              </a:spcAft>
              <a:defRPr sz="900" b="0">
                <a:solidFill>
                  <a:srgbClr val="AFBFCC"/>
                </a:solidFill>
                <a:latin typeface="Arial"/>
              </a:defRPr>
            </a:pPr>
            <a:r>
              <a:t>DUCK HUNT NL  /  VARISCO NICOLÒ · ANDRONI LORENZO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96600" y="6413500"/>
            <a:ext cx="825500" cy="2423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08"/>
              </a:lnSpc>
              <a:spcAft>
                <a:spcPts val="0"/>
              </a:spcAft>
              <a:defRPr sz="1100" b="0">
                <a:solidFill>
                  <a:srgbClr val="A9DF70"/>
                </a:solidFill>
                <a:latin typeface="Arial"/>
              </a:defRPr>
            </a:pPr>
            <a:r>
              <a:t>17 / 17</a:t>
            </a:r>
          </a:p>
        </p:txBody>
      </p:sp>
      <p:sp>
        <p:nvSpPr>
          <p:cNvPr id="8" name="Rectangle 7"/>
          <p:cNvSpPr/>
          <p:nvPr/>
        </p:nvSpPr>
        <p:spPr>
          <a:xfrm>
            <a:off x="508000" y="2044700"/>
            <a:ext cx="11176000" cy="3606800"/>
          </a:xfrm>
          <a:prstGeom prst="rect">
            <a:avLst/>
          </a:prstGeom>
          <a:solidFill>
            <a:srgbClr val="1927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6000" y="2590800"/>
            <a:ext cx="10160000" cy="5836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096"/>
              </a:lnSpc>
              <a:spcAft>
                <a:spcPts val="0"/>
              </a:spcAft>
              <a:defRPr sz="3200" b="1">
                <a:solidFill>
                  <a:srgbClr val="A9DF70"/>
                </a:solidFill>
                <a:latin typeface="Arial"/>
              </a:defRPr>
            </a:pPr>
            <a:r>
              <a:t>Varisco Nicolò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276600"/>
            <a:ext cx="10160000" cy="5836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096"/>
              </a:lnSpc>
              <a:spcAft>
                <a:spcPts val="0"/>
              </a:spcAft>
              <a:defRPr sz="3200" b="1">
                <a:solidFill>
                  <a:srgbClr val="A9DF70"/>
                </a:solidFill>
                <a:latin typeface="Arial"/>
              </a:defRPr>
            </a:pPr>
            <a:r>
              <a:t>Androni Lorenzo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4267200"/>
            <a:ext cx="10160000" cy="4048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88"/>
              </a:lnSpc>
              <a:spcAft>
                <a:spcPts val="0"/>
              </a:spcAft>
              <a:defRPr sz="2100" b="0">
                <a:solidFill>
                  <a:srgbClr val="F2F5F7"/>
                </a:solidFill>
                <a:latin typeface="Arial"/>
              </a:defRPr>
            </a:pPr>
            <a:r>
              <a:t>Un sito per scoprire. Un gioco per mettersi alla prova.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4914900"/>
            <a:ext cx="10160000" cy="3561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04"/>
              </a:lnSpc>
              <a:spcAft>
                <a:spcPts val="0"/>
              </a:spcAft>
              <a:defRPr sz="1800" b="0">
                <a:solidFill>
                  <a:srgbClr val="AFBFCC"/>
                </a:solidFill>
                <a:latin typeface="Arial"/>
              </a:defRPr>
            </a:pPr>
            <a:r>
              <a:t>Siamo pronti per le vostre domande.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9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317500"/>
            <a:ext cx="10922000" cy="2451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08"/>
              </a:lnSpc>
              <a:defRPr sz="1100" b="1">
                <a:solidFill>
                  <a:srgbClr val="A9DF70"/>
                </a:solidFill>
                <a:latin typeface="Arial"/>
              </a:defRPr>
            </a:pPr>
            <a:r>
              <a:t>IL SITO WEB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723900"/>
            <a:ext cx="11176000" cy="5422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11"/>
              </a:lnSpc>
              <a:defRPr sz="2900" b="1">
                <a:solidFill>
                  <a:srgbClr val="F2F5F7"/>
                </a:solidFill>
                <a:latin typeface="Arial"/>
              </a:defRPr>
            </a:pPr>
            <a:r>
              <a:t>La homepage: si parte da qui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1295400"/>
            <a:ext cx="11176000" cy="2946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92"/>
              </a:lnSpc>
              <a:defRPr sz="1400" b="0">
                <a:solidFill>
                  <a:srgbClr val="AFBFCC"/>
                </a:solidFill>
                <a:latin typeface="Arial"/>
              </a:defRPr>
            </a:pPr>
            <a:r>
              <a:t>Nome del progetto, scenario animato e collegamento diretto alla partita.</a:t>
            </a:r>
          </a:p>
        </p:txBody>
      </p:sp>
      <p:pic>
        <p:nvPicPr>
          <p:cNvPr id="5" name="Picture 4" descr="si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1968500"/>
            <a:ext cx="6461760" cy="4038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369300" y="2044700"/>
            <a:ext cx="3365500" cy="3441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76"/>
              </a:lnSpc>
              <a:defRPr sz="1700" b="1">
                <a:solidFill>
                  <a:srgbClr val="A9DF70"/>
                </a:solidFill>
                <a:latin typeface="Arial"/>
              </a:defRPr>
            </a:pPr>
            <a:r>
              <a:t>Identità del progetto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69300" y="2438400"/>
            <a:ext cx="3365500" cy="8559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48"/>
              </a:lnSpc>
              <a:defRPr sz="1600" b="0">
                <a:solidFill>
                  <a:srgbClr val="F2F5F7"/>
                </a:solidFill>
                <a:latin typeface="Arial"/>
              </a:defRPr>
            </a:pPr>
            <a:r>
              <a:t>Titolo semplice e grafica</a:t>
            </a:r>
          </a:p>
          <a:p>
            <a:pPr>
              <a:lnSpc>
                <a:spcPts val="2048"/>
              </a:lnSpc>
              <a:defRPr sz="1600" b="0">
                <a:solidFill>
                  <a:srgbClr val="F2F5F7"/>
                </a:solidFill>
                <a:latin typeface="Arial"/>
              </a:defRPr>
            </a:pPr>
            <a:r>
              <a:t>ispirata al gioco</a:t>
            </a:r>
          </a:p>
          <a:p>
            <a:pPr>
              <a:lnSpc>
                <a:spcPts val="2048"/>
              </a:lnSpc>
              <a:defRPr sz="1600" b="0">
                <a:solidFill>
                  <a:srgbClr val="F2F5F7"/>
                </a:solidFill>
                <a:latin typeface="Arial"/>
              </a:defRPr>
            </a:pPr>
            <a:r>
              <a:t>originale.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9300" y="3670300"/>
            <a:ext cx="3365500" cy="3441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76"/>
              </a:lnSpc>
              <a:defRPr sz="1700" b="1">
                <a:solidFill>
                  <a:srgbClr val="A9DF70"/>
                </a:solidFill>
                <a:latin typeface="Arial"/>
              </a:defRPr>
            </a:pPr>
            <a:r>
              <a:t>Due scelte chiare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9300" y="4064000"/>
            <a:ext cx="3365500" cy="8559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48"/>
              </a:lnSpc>
              <a:defRPr sz="1600" b="0">
                <a:solidFill>
                  <a:srgbClr val="F2F5F7"/>
                </a:solidFill>
                <a:latin typeface="Arial"/>
              </a:defRPr>
            </a:pPr>
            <a:r>
              <a:t>Gioca ora apre gioco.html;</a:t>
            </a:r>
          </a:p>
          <a:p>
            <a:pPr>
              <a:lnSpc>
                <a:spcPts val="2048"/>
              </a:lnSpc>
              <a:defRPr sz="1600" b="0">
                <a:solidFill>
                  <a:srgbClr val="F2F5F7"/>
                </a:solidFill>
                <a:latin typeface="Arial"/>
              </a:defRPr>
            </a:pPr>
            <a:r>
              <a:t>Leggi le regole porta alle</a:t>
            </a:r>
          </a:p>
          <a:p>
            <a:pPr>
              <a:lnSpc>
                <a:spcPts val="2048"/>
              </a:lnSpc>
              <a:defRPr sz="1600" b="0">
                <a:solidFill>
                  <a:srgbClr val="F2F5F7"/>
                </a:solidFill>
                <a:latin typeface="Arial"/>
              </a:defRPr>
            </a:pPr>
            <a:r>
              <a:t>istruzioni.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8000" y="6438900"/>
            <a:ext cx="10160000" cy="2120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52"/>
              </a:lnSpc>
              <a:defRPr sz="900" b="0">
                <a:solidFill>
                  <a:srgbClr val="AFBFCC"/>
                </a:solidFill>
                <a:latin typeface="Arial"/>
              </a:defRPr>
            </a:pPr>
            <a:r>
              <a:t>DUCK HUNT NL  /  VARISCO NICOLÒ · ANDRONI LORENZO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96600" y="6413500"/>
            <a:ext cx="825500" cy="2451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08"/>
              </a:lnSpc>
              <a:defRPr sz="1100" b="0">
                <a:solidFill>
                  <a:srgbClr val="A9DF70"/>
                </a:solidFill>
                <a:latin typeface="Arial"/>
              </a:defRPr>
            </a:pPr>
            <a:r>
              <a:t>02 / 17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9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317500"/>
            <a:ext cx="10922000" cy="2451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08"/>
              </a:lnSpc>
              <a:defRPr sz="1100" b="1">
                <a:solidFill>
                  <a:srgbClr val="A9DF70"/>
                </a:solidFill>
                <a:latin typeface="Arial"/>
              </a:defRPr>
            </a:pPr>
            <a:r>
              <a:t>IL SITO WEB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723900"/>
            <a:ext cx="11176000" cy="5422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11"/>
              </a:lnSpc>
              <a:defRPr sz="2900" b="1">
                <a:solidFill>
                  <a:srgbClr val="F2F5F7"/>
                </a:solidFill>
                <a:latin typeface="Arial"/>
              </a:defRPr>
            </a:pPr>
            <a:r>
              <a:t>Prima di giocare: regole e punteggio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1295400"/>
            <a:ext cx="11176000" cy="2946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92"/>
              </a:lnSpc>
              <a:defRPr sz="1400" b="0">
                <a:solidFill>
                  <a:srgbClr val="AFBFCC"/>
                </a:solidFill>
                <a:latin typeface="Arial"/>
              </a:defRPr>
            </a:pPr>
            <a:r>
              <a:t>La pagina spiega cosa fare e come vengono assegnati i punti.</a:t>
            </a:r>
          </a:p>
        </p:txBody>
      </p:sp>
      <p:pic>
        <p:nvPicPr>
          <p:cNvPr id="5" name="Picture 4" descr="rego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1968500"/>
            <a:ext cx="6461760" cy="4038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369300" y="2044700"/>
            <a:ext cx="3365500" cy="3441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76"/>
              </a:lnSpc>
              <a:defRPr sz="1700" b="1">
                <a:solidFill>
                  <a:srgbClr val="A9DF70"/>
                </a:solidFill>
                <a:latin typeface="Arial"/>
              </a:defRPr>
            </a:pPr>
            <a:r>
              <a:t>Regole in quattro passi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69300" y="2438400"/>
            <a:ext cx="3365500" cy="8559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48"/>
              </a:lnSpc>
              <a:defRPr sz="1600" b="0">
                <a:solidFill>
                  <a:srgbClr val="F2F5F7"/>
                </a:solidFill>
                <a:latin typeface="Arial"/>
              </a:defRPr>
            </a:pPr>
            <a:r>
              <a:t>Mira, spara, non far</a:t>
            </a:r>
          </a:p>
          <a:p>
            <a:pPr>
              <a:lnSpc>
                <a:spcPts val="2048"/>
              </a:lnSpc>
              <a:defRPr sz="1600" b="0">
                <a:solidFill>
                  <a:srgbClr val="F2F5F7"/>
                </a:solidFill>
                <a:latin typeface="Arial"/>
              </a:defRPr>
            </a:pPr>
            <a:r>
              <a:t>scappare l’anatra e</a:t>
            </a:r>
          </a:p>
          <a:p>
            <a:pPr>
              <a:lnSpc>
                <a:spcPts val="2048"/>
              </a:lnSpc>
              <a:defRPr sz="1600" b="0">
                <a:solidFill>
                  <a:srgbClr val="F2F5F7"/>
                </a:solidFill>
                <a:latin typeface="Arial"/>
              </a:defRPr>
            </a:pPr>
            <a:r>
              <a:t>completa i round.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9300" y="3670300"/>
            <a:ext cx="3365500" cy="3441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76"/>
              </a:lnSpc>
              <a:defRPr sz="1700" b="1">
                <a:solidFill>
                  <a:srgbClr val="A9DF70"/>
                </a:solidFill>
                <a:latin typeface="Arial"/>
              </a:defRPr>
            </a:pPr>
            <a:r>
              <a:t>Punti e record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9300" y="4064000"/>
            <a:ext cx="3365500" cy="8559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48"/>
              </a:lnSpc>
              <a:defRPr sz="1600" b="0">
                <a:solidFill>
                  <a:srgbClr val="F2F5F7"/>
                </a:solidFill>
                <a:latin typeface="Arial"/>
              </a:defRPr>
            </a:pPr>
            <a:r>
              <a:t>La tabella confronta i</a:t>
            </a:r>
          </a:p>
          <a:p>
            <a:pPr>
              <a:lnSpc>
                <a:spcPts val="2048"/>
              </a:lnSpc>
              <a:defRPr sz="1600" b="0">
                <a:solidFill>
                  <a:srgbClr val="F2F5F7"/>
                </a:solidFill>
                <a:latin typeface="Arial"/>
              </a:defRPr>
            </a:pPr>
            <a:r>
              <a:t>tentativi: 100, 60 e 30</a:t>
            </a:r>
          </a:p>
          <a:p>
            <a:pPr>
              <a:lnSpc>
                <a:spcPts val="2048"/>
              </a:lnSpc>
              <a:defRPr sz="1600" b="0">
                <a:solidFill>
                  <a:srgbClr val="F2F5F7"/>
                </a:solidFill>
                <a:latin typeface="Arial"/>
              </a:defRPr>
            </a:pPr>
            <a:r>
              <a:t>punti.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8000" y="6438900"/>
            <a:ext cx="10160000" cy="2120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52"/>
              </a:lnSpc>
              <a:defRPr sz="900" b="0">
                <a:solidFill>
                  <a:srgbClr val="AFBFCC"/>
                </a:solidFill>
                <a:latin typeface="Arial"/>
              </a:defRPr>
            </a:pPr>
            <a:r>
              <a:t>DUCK HUNT NL  /  VARISCO NICOLÒ · ANDRONI LORENZO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96600" y="6413500"/>
            <a:ext cx="825500" cy="2451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08"/>
              </a:lnSpc>
              <a:defRPr sz="1100" b="0">
                <a:solidFill>
                  <a:srgbClr val="A9DF70"/>
                </a:solidFill>
                <a:latin typeface="Arial"/>
              </a:defRPr>
            </a:pPr>
            <a:r>
              <a:t>03 / 17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9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317500"/>
            <a:ext cx="10922000" cy="2451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08"/>
              </a:lnSpc>
              <a:defRPr sz="1100" b="1">
                <a:solidFill>
                  <a:srgbClr val="A9DF70"/>
                </a:solidFill>
                <a:latin typeface="Arial"/>
              </a:defRPr>
            </a:pPr>
            <a:r>
              <a:t>IL SITO WEB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723900"/>
            <a:ext cx="11176000" cy="5422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11"/>
              </a:lnSpc>
              <a:defRPr sz="2900" b="1">
                <a:solidFill>
                  <a:srgbClr val="F2F5F7"/>
                </a:solidFill>
                <a:latin typeface="Arial"/>
              </a:defRPr>
            </a:pPr>
            <a:r>
              <a:t>Scenari e domande frequenti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1295400"/>
            <a:ext cx="11176000" cy="2946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92"/>
              </a:lnSpc>
              <a:defRPr sz="1400" b="0">
                <a:solidFill>
                  <a:srgbClr val="AFBFCC"/>
                </a:solidFill>
                <a:latin typeface="Arial"/>
              </a:defRPr>
            </a:pPr>
            <a:r>
              <a:t>L’utente vede le ambientazioni e trova risposte prima di iniziare.</a:t>
            </a:r>
          </a:p>
        </p:txBody>
      </p:sp>
      <p:pic>
        <p:nvPicPr>
          <p:cNvPr id="5" name="Picture 4" descr="scenar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1968500"/>
            <a:ext cx="6461760" cy="4038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369300" y="2044700"/>
            <a:ext cx="3365500" cy="3441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76"/>
              </a:lnSpc>
              <a:defRPr sz="1700" b="1">
                <a:solidFill>
                  <a:srgbClr val="A9DF70"/>
                </a:solidFill>
                <a:latin typeface="Arial"/>
              </a:defRPr>
            </a:pPr>
            <a:r>
              <a:t>Cinque ambientazioni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69300" y="2438400"/>
            <a:ext cx="3365500" cy="5918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48"/>
              </a:lnSpc>
              <a:defRPr sz="1600" b="0">
                <a:solidFill>
                  <a:srgbClr val="F2F5F7"/>
                </a:solidFill>
                <a:latin typeface="Arial"/>
              </a:defRPr>
            </a:pPr>
            <a:r>
              <a:t>Le anteprime video mostrano</a:t>
            </a:r>
          </a:p>
          <a:p>
            <a:pPr>
              <a:lnSpc>
                <a:spcPts val="2048"/>
              </a:lnSpc>
              <a:defRPr sz="1600" b="0">
                <a:solidFill>
                  <a:srgbClr val="F2F5F7"/>
                </a:solidFill>
                <a:latin typeface="Arial"/>
              </a:defRPr>
            </a:pPr>
            <a:r>
              <a:t>gli scenari dei round.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9300" y="3416300"/>
            <a:ext cx="3365500" cy="3441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76"/>
              </a:lnSpc>
              <a:defRPr sz="1700" b="1">
                <a:solidFill>
                  <a:srgbClr val="A9DF70"/>
                </a:solidFill>
                <a:latin typeface="Arial"/>
              </a:defRPr>
            </a:pPr>
            <a:r>
              <a:t>Informazioni pratiche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9300" y="3810000"/>
            <a:ext cx="3365500" cy="8559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48"/>
              </a:lnSpc>
              <a:defRPr sz="1600" b="0">
                <a:solidFill>
                  <a:srgbClr val="F2F5F7"/>
                </a:solidFill>
                <a:latin typeface="Arial"/>
              </a:defRPr>
            </a:pPr>
            <a:r>
              <a:t>Installazione, record</a:t>
            </a:r>
          </a:p>
          <a:p>
            <a:pPr>
              <a:lnSpc>
                <a:spcPts val="2048"/>
              </a:lnSpc>
              <a:defRPr sz="1600" b="0">
                <a:solidFill>
                  <a:srgbClr val="F2F5F7"/>
                </a:solidFill>
                <a:latin typeface="Arial"/>
              </a:defRPr>
            </a:pPr>
            <a:r>
              <a:t>locale e bersagli mancati:</a:t>
            </a:r>
          </a:p>
          <a:p>
            <a:pPr>
              <a:lnSpc>
                <a:spcPts val="2048"/>
              </a:lnSpc>
              <a:defRPr sz="1600" b="0">
                <a:solidFill>
                  <a:srgbClr val="F2F5F7"/>
                </a:solidFill>
                <a:latin typeface="Arial"/>
              </a:defRPr>
            </a:pPr>
            <a:r>
              <a:t>risposte brevi e dirette.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8000" y="6438900"/>
            <a:ext cx="10160000" cy="2120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52"/>
              </a:lnSpc>
              <a:defRPr sz="900" b="0">
                <a:solidFill>
                  <a:srgbClr val="AFBFCC"/>
                </a:solidFill>
                <a:latin typeface="Arial"/>
              </a:defRPr>
            </a:pPr>
            <a:r>
              <a:t>DUCK HUNT NL  /  VARISCO NICOLÒ · ANDRONI LORENZO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96600" y="6413500"/>
            <a:ext cx="825500" cy="2451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08"/>
              </a:lnSpc>
              <a:defRPr sz="1100" b="0">
                <a:solidFill>
                  <a:srgbClr val="A9DF70"/>
                </a:solidFill>
                <a:latin typeface="Arial"/>
              </a:defRPr>
            </a:pPr>
            <a:r>
              <a:t>04 /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Duck Hunt NL – Progetto e codice JavaScript</dc:title>
  <dc:subject/>
  <dc:creator>Varisco Nicolò · Androni Lorenzo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