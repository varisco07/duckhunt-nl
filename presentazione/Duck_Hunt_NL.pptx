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6" r:id="rId28"/>
    <p:sldId id="277" r:id="rId29"/>
    <p:sldId id="278" r:id="rId30"/>
    <p:sldId id="258" r:id="rId10"/>
    <p:sldId id="259" r:id="rId11"/>
    <p:sldId id="260" r:id="rId12"/>
    <p:sldId id="261" r:id="rId13"/>
    <p:sldId id="262" r:id="rId14"/>
    <p:sldId id="263" r:id="rId15"/>
    <p:sldId id="267" r:id="rId19"/>
    <p:sldId id="268" r:id="rId20"/>
    <p:sldId id="269" r:id="rId21"/>
    <p:sldId id="270" r:id="rId22"/>
    <p:sldId id="273" r:id="rId25"/>
    <p:sldId id="274" r:id="rId26"/>
    <p:sldId id="275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Aprire con il titolo e presentare entrambi i componenti del team. Il progetto comprende un sito informativo e una pagina di gioco.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massimo teorico è 5000 punti. Un bersaglio conta sia se colpito sia se mancato. I comandi attuali sono desktop; nel codice non c’è un selettore di difficoltà.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gioco.html include script.js con defer: il browser esegue lo script dopo aver analizzato il documento. JavaScript recupera gli elementi con document.querySelector e aggiorna il DOM.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 viene disegnato tutto sul canvas: mostraAnatra cambia posizione e dimensione di un elemento img; disegnaSfondo aggiorna la sorgente del video solo quando cambia lo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 spread copia i campi iniziali. colpitePerTurno è un array distinto con cinque contatori. avviaPartita usa Object.assign per ripristinare i dati e fill(0) per azzerare i risultati dei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fase conclusa mostra i risultati; inPausa è raggiungibile da inCorso. La prima istruzione di spara protegge anche intro, pausa e attesa tra bersagli. Il return interrompe immediatamente la funzione.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callback esegue aggiornamento e disegno in modo sincrono. requestAnimationFrame programma una successiva chiamata prima di un prossimo ridisegno del browser; non garantisce 60 FPS. Il limite rende il tempo simulato più lento del tempo reale quando i frame sono molto distanti.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scala 1 la hitbox misura circa 54 × 42, centrata sull’anatra. Non è un controllo pixel per pixel. Se il primo colpo va a segno, colpi passa da 3 a 2 e numeroColpo vale 1: viene letto l’elemento zero dell’array.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funzione async restituisce una Promise. Il timer risolve la Promise dopo almeno il ritardo richiesto; la prosecuzione dopo await viene eseguita quando il browser può farlo. Non si blocca il thread e non si crea automaticamente un secondo thread. La caduta dura 1,05 secondi, l’altra attesa 900 millisecondi.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avviaPartita e terminaPartita incrementano gettonePartita. Un callback legato a un numero precedente viene ignorato: il timer non è cancellato, ma il suo risultato non può modificare la nuova partita. mostraIntroTurno applica lo stesso controllo dopo 1800 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Gli eventi onload e onerror completano o rifiutano la Promise. Promise.all riguarda sette immagini: due GIF di volo, due di caduta, due mirini e il cane. Non attende i video MP4; questi sono caricati separatamente. La firma then e i corpi omessi sono abbreviati a scopo espositivo.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Spiegare: un evento futuro non rende automaticamente asincrone le istruzioni del suo callback. Anche una funzione async esegue sincronicamente fino al primo await. Durante un’attesa altre attività possono essere gestite dall’event loop; non significa che questo codice JavaScript lavori in parallelo su più thread.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Queste criticità sono dedotte dalle protezioni nel codice, senza attribuire al team una cronologia di errori non documentata. Limiti da conoscere: Promise.all non copre i video; il codice attuale non gestisce input touch; la pausa blocca la simulazione ma non congela necessariamente la GIF. La documentazione contiene riferimenti a versioni precedenti, perciò le slide seguono script.js e gioco.html.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Concludere: Il progetto ci ha permesso di collegare struttura HTML, presentazione CSS e logica JavaScript, distinguendo gli aggiornamenti immediati dalle operazioni in attesa. Grazie per l’attenzione. Se richiesta, aprire index.html, entrare nel gioco, mostrare uno sparo e la pausa con P o Esc. La guida separata contiene il discorso e le risposte alle domande tecniche.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Nome del progetto, scenario animato e collegamento diretto alla partita. Identità del progetto: Titolo semplice e grafica ispirata al gioco originale. Due scelte chiare: Gioca ora apre gioco.html; Leggi le regole porta alle istruzioni.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pagina spiega cosa fare e come vengono assegnati i punti. Regole in quattro passi: Mira, spara, non far scappare l’anatra e completa i round. Punti e record: La tabella confronta i tentativi: 100, 60 e 30 punti.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L’utente vede le ambientazioni e trova risposte prima di iniziare. Cinque ambientazioni: Le anteprime video mostrano gli scenari dei round. Informazioni pratiche: Installazione, record locale e bersagli mancati: risposte brevi e dirette.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17500"/>
            <a:ext cx="109220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A9DF70"/>
                </a:solidFill>
                <a:latin typeface="Arial"/>
              </a:defRPr>
            </a:pPr>
            <a:r>
              <a:t>PROGETTO WEB / PRESENTAZIONE TECNICA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23900"/>
            <a:ext cx="10922000" cy="5349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11"/>
              </a:lnSpc>
              <a:spcAft>
                <a:spcPts val="0"/>
              </a:spcAft>
              <a:defRPr sz="2900" b="1">
                <a:solidFill>
                  <a:srgbClr val="F2F5F7"/>
                </a:solidFill>
                <a:latin typeface="Arial"/>
              </a:defRPr>
            </a:pPr>
            <a:r>
              <a:t>DUCK HUNT NL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295400"/>
            <a:ext cx="10922000" cy="2910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0">
                <a:solidFill>
                  <a:srgbClr val="AFBFCC"/>
                </a:solidFill>
                <a:latin typeface="Arial"/>
              </a:defRPr>
            </a:pPr>
            <a:r>
              <a:t>Un gioco arcade in pixel art, costruito con HTML, CSS e JavaScript puro.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6261100"/>
            <a:ext cx="11176000" cy="12700"/>
          </a:xfrm>
          <a:prstGeom prst="rect">
            <a:avLst/>
          </a:prstGeom>
          <a:solidFill>
            <a:srgbClr val="344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" y="6438900"/>
            <a:ext cx="10922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DUCK HUNT NL  /  VARISCO NICOLÒ · ANDRONI LORENZO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6600" y="6413500"/>
            <a:ext cx="8255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A9DF70"/>
                </a:solidFill>
                <a:latin typeface="Arial"/>
              </a:defRPr>
            </a:pPr>
            <a:r>
              <a:t>01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2146300"/>
            <a:ext cx="5461000" cy="9413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56"/>
              </a:lnSpc>
              <a:spcAft>
                <a:spcPts val="0"/>
              </a:spcAft>
              <a:defRPr sz="2700" b="1">
                <a:solidFill>
                  <a:srgbClr val="F2F5F7"/>
                </a:solidFill>
                <a:latin typeface="Arial"/>
              </a:defRPr>
            </a:pPr>
            <a:r>
              <a:t>Varisco Nicolò</a:t>
            </a:r>
          </a:p>
          <a:p>
            <a:pPr>
              <a:lnSpc>
                <a:spcPts val="3456"/>
              </a:lnSpc>
              <a:spcAft>
                <a:spcPts val="0"/>
              </a:spcAft>
              <a:defRPr sz="2700" b="1">
                <a:solidFill>
                  <a:srgbClr val="F2F5F7"/>
                </a:solidFill>
                <a:latin typeface="Arial"/>
              </a:defRPr>
            </a:pPr>
            <a:r>
              <a:t>Androni Lorenzo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3517900"/>
            <a:ext cx="5715000" cy="3561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A9DF70"/>
                </a:solidFill>
                <a:latin typeface="Arial"/>
              </a:defRPr>
            </a:pPr>
            <a:r>
              <a:t>5 round · 50 bersagli · 3 colpi per anatra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4190999"/>
            <a:ext cx="5461000" cy="713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0"/>
              </a:lnSpc>
              <a:spcAft>
                <a:spcPts val="0"/>
              </a:spcAft>
              <a:defRPr sz="2000" b="0">
                <a:solidFill>
                  <a:srgbClr val="AFBFCC"/>
                </a:solidFill>
                <a:latin typeface="Arial"/>
              </a:defRPr>
            </a:pPr>
            <a:r>
              <a:t>Dall’idea alle scelte progettuali,</a:t>
            </a:r>
          </a:p>
          <a:p>
            <a:pPr>
              <a:lnSpc>
                <a:spcPts val="2560"/>
              </a:lnSpc>
              <a:spcAft>
                <a:spcPts val="0"/>
              </a:spcAft>
              <a:defRPr sz="2000" b="0">
                <a:solidFill>
                  <a:srgbClr val="AFBFCC"/>
                </a:solidFill>
                <a:latin typeface="Arial"/>
              </a:defRPr>
            </a:pPr>
            <a:r>
              <a:t>fino al funzionamento del codice.</a:t>
            </a:r>
          </a:p>
        </p:txBody>
      </p:sp>
      <p:pic>
        <p:nvPicPr>
          <p:cNvPr id="11" name="Picture 10" descr="copert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1866899"/>
            <a:ext cx="5080000" cy="33866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17500"/>
            <a:ext cx="109220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defRPr sz="1100" b="1">
                <a:solidFill>
                  <a:srgbClr val="A9DF70"/>
                </a:solidFill>
                <a:latin typeface="Arial"/>
              </a:defRPr>
            </a:pPr>
            <a:r>
              <a:t>IL SITO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23900"/>
            <a:ext cx="11176000" cy="542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11"/>
              </a:lnSpc>
              <a:defRPr sz="2900" b="1">
                <a:solidFill>
                  <a:srgbClr val="F2F5F7"/>
                </a:solidFill>
                <a:latin typeface="Arial"/>
              </a:defRPr>
            </a:pPr>
            <a:r>
              <a:t>La homepage: si parte da qui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295400"/>
            <a:ext cx="11176000" cy="2946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defRPr sz="1400" b="0">
                <a:solidFill>
                  <a:srgbClr val="AFBFCC"/>
                </a:solidFill>
                <a:latin typeface="Arial"/>
              </a:defRPr>
            </a:pPr>
            <a:r>
              <a:t>Nome del progetto, scenario animato e collegamento diretto alla partita.</a:t>
            </a:r>
          </a:p>
        </p:txBody>
      </p:sp>
      <p:pic>
        <p:nvPicPr>
          <p:cNvPr id="5" name="Picture 4" descr="si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968500"/>
            <a:ext cx="6461760" cy="403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69300" y="2044700"/>
            <a:ext cx="3365500" cy="344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defRPr sz="1700" b="1">
                <a:solidFill>
                  <a:srgbClr val="A9DF70"/>
                </a:solidFill>
                <a:latin typeface="Arial"/>
              </a:defRPr>
            </a:pPr>
            <a:r>
              <a:t>Identità del progetto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9300" y="2438400"/>
            <a:ext cx="3365500" cy="855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defRPr sz="1600" b="0">
                <a:solidFill>
                  <a:srgbClr val="F2F5F7"/>
                </a:solidFill>
                <a:latin typeface="Arial"/>
              </a:defRPr>
            </a:pPr>
            <a:r>
              <a:t>Titolo semplice e grafica</a:t>
            </a:r>
          </a:p>
          <a:p>
            <a:pPr>
              <a:lnSpc>
                <a:spcPts val="2048"/>
              </a:lnSpc>
              <a:defRPr sz="1600" b="0">
                <a:solidFill>
                  <a:srgbClr val="F2F5F7"/>
                </a:solidFill>
                <a:latin typeface="Arial"/>
              </a:defRPr>
            </a:pPr>
            <a:r>
              <a:t>ispirata al gioco</a:t>
            </a:r>
          </a:p>
          <a:p>
            <a:pPr>
              <a:lnSpc>
                <a:spcPts val="2048"/>
              </a:lnSpc>
              <a:defRPr sz="1600" b="0">
                <a:solidFill>
                  <a:srgbClr val="F2F5F7"/>
                </a:solidFill>
                <a:latin typeface="Arial"/>
              </a:defRPr>
            </a:pPr>
            <a:r>
              <a:t>originale.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9300" y="3670300"/>
            <a:ext cx="3365500" cy="344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defRPr sz="1700" b="1">
                <a:solidFill>
                  <a:srgbClr val="A9DF70"/>
                </a:solidFill>
                <a:latin typeface="Arial"/>
              </a:defRPr>
            </a:pPr>
            <a:r>
              <a:t>Due scelte chiare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9300" y="4064000"/>
            <a:ext cx="3365500" cy="855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defRPr sz="1600" b="0">
                <a:solidFill>
                  <a:srgbClr val="F2F5F7"/>
                </a:solidFill>
                <a:latin typeface="Arial"/>
              </a:defRPr>
            </a:pPr>
            <a:r>
              <a:t>Gioca ora apre gioco.html;</a:t>
            </a:r>
          </a:p>
          <a:p>
            <a:pPr>
              <a:lnSpc>
                <a:spcPts val="2048"/>
              </a:lnSpc>
              <a:defRPr sz="1600" b="0">
                <a:solidFill>
                  <a:srgbClr val="F2F5F7"/>
                </a:solidFill>
                <a:latin typeface="Arial"/>
              </a:defRPr>
            </a:pPr>
            <a:r>
              <a:t>Leggi le regole porta alle</a:t>
            </a:r>
          </a:p>
          <a:p>
            <a:pPr>
              <a:lnSpc>
                <a:spcPts val="2048"/>
              </a:lnSpc>
              <a:defRPr sz="1600" b="0">
                <a:solidFill>
                  <a:srgbClr val="F2F5F7"/>
                </a:solidFill>
                <a:latin typeface="Arial"/>
              </a:defRPr>
            </a:pPr>
            <a:r>
              <a:t>istruzioni.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6438900"/>
            <a:ext cx="10160000" cy="2120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defRPr sz="900" b="0">
                <a:solidFill>
                  <a:srgbClr val="AFBFCC"/>
                </a:solidFill>
                <a:latin typeface="Arial"/>
              </a:defRPr>
            </a:pPr>
            <a:r>
              <a:t>DUCK HUNT NL  /  VARISCO NICOLÒ · ANDRONI LORENZO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6600" y="6413500"/>
            <a:ext cx="8255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defRPr sz="1100" b="0">
                <a:solidFill>
                  <a:srgbClr val="A9DF70"/>
                </a:solidFill>
                <a:latin typeface="Arial"/>
              </a:defRPr>
            </a:pPr>
            <a: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17500"/>
            <a:ext cx="109220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defRPr sz="1100" b="1">
                <a:solidFill>
                  <a:srgbClr val="A9DF70"/>
                </a:solidFill>
                <a:latin typeface="Arial"/>
              </a:defRPr>
            </a:pPr>
            <a:r>
              <a:t>IL SITO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23900"/>
            <a:ext cx="11176000" cy="542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11"/>
              </a:lnSpc>
              <a:defRPr sz="2900" b="1">
                <a:solidFill>
                  <a:srgbClr val="F2F5F7"/>
                </a:solidFill>
                <a:latin typeface="Arial"/>
              </a:defRPr>
            </a:pPr>
            <a:r>
              <a:t>Prima di giocare: regole e punteggio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295400"/>
            <a:ext cx="11176000" cy="2946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defRPr sz="1400" b="0">
                <a:solidFill>
                  <a:srgbClr val="AFBFCC"/>
                </a:solidFill>
                <a:latin typeface="Arial"/>
              </a:defRPr>
            </a:pPr>
            <a:r>
              <a:t>La pagina spiega cosa fare e come vengono assegnati i punti.</a:t>
            </a:r>
          </a:p>
        </p:txBody>
      </p:sp>
      <p:pic>
        <p:nvPicPr>
          <p:cNvPr id="5" name="Picture 4" descr="reg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968500"/>
            <a:ext cx="6461760" cy="403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69300" y="2044700"/>
            <a:ext cx="3365500" cy="344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defRPr sz="1700" b="1">
                <a:solidFill>
                  <a:srgbClr val="A9DF70"/>
                </a:solidFill>
                <a:latin typeface="Arial"/>
              </a:defRPr>
            </a:pPr>
            <a:r>
              <a:t>Regole in quattro passi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9300" y="2438400"/>
            <a:ext cx="3365500" cy="855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defRPr sz="1600" b="0">
                <a:solidFill>
                  <a:srgbClr val="F2F5F7"/>
                </a:solidFill>
                <a:latin typeface="Arial"/>
              </a:defRPr>
            </a:pPr>
            <a:r>
              <a:t>Mira, spara, non far</a:t>
            </a:r>
          </a:p>
          <a:p>
            <a:pPr>
              <a:lnSpc>
                <a:spcPts val="2048"/>
              </a:lnSpc>
              <a:defRPr sz="1600" b="0">
                <a:solidFill>
                  <a:srgbClr val="F2F5F7"/>
                </a:solidFill>
                <a:latin typeface="Arial"/>
              </a:defRPr>
            </a:pPr>
            <a:r>
              <a:t>scappare l’anatra e</a:t>
            </a:r>
          </a:p>
          <a:p>
            <a:pPr>
              <a:lnSpc>
                <a:spcPts val="2048"/>
              </a:lnSpc>
              <a:defRPr sz="1600" b="0">
                <a:solidFill>
                  <a:srgbClr val="F2F5F7"/>
                </a:solidFill>
                <a:latin typeface="Arial"/>
              </a:defRPr>
            </a:pPr>
            <a:r>
              <a:t>completa i round.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9300" y="3670300"/>
            <a:ext cx="3365500" cy="344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defRPr sz="1700" b="1">
                <a:solidFill>
                  <a:srgbClr val="A9DF70"/>
                </a:solidFill>
                <a:latin typeface="Arial"/>
              </a:defRPr>
            </a:pPr>
            <a:r>
              <a:t>Punti e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9300" y="4064000"/>
            <a:ext cx="3365500" cy="855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defRPr sz="1600" b="0">
                <a:solidFill>
                  <a:srgbClr val="F2F5F7"/>
                </a:solidFill>
                <a:latin typeface="Arial"/>
              </a:defRPr>
            </a:pPr>
            <a:r>
              <a:t>La tabella confronta i</a:t>
            </a:r>
          </a:p>
          <a:p>
            <a:pPr>
              <a:lnSpc>
                <a:spcPts val="2048"/>
              </a:lnSpc>
              <a:defRPr sz="1600" b="0">
                <a:solidFill>
                  <a:srgbClr val="F2F5F7"/>
                </a:solidFill>
                <a:latin typeface="Arial"/>
              </a:defRPr>
            </a:pPr>
            <a:r>
              <a:t>tentativi: 100, 60 e 30</a:t>
            </a:r>
          </a:p>
          <a:p>
            <a:pPr>
              <a:lnSpc>
                <a:spcPts val="2048"/>
              </a:lnSpc>
              <a:defRPr sz="1600" b="0">
                <a:solidFill>
                  <a:srgbClr val="F2F5F7"/>
                </a:solidFill>
                <a:latin typeface="Arial"/>
              </a:defRPr>
            </a:pPr>
            <a:r>
              <a:t>punti.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6438900"/>
            <a:ext cx="10160000" cy="2120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defRPr sz="900" b="0">
                <a:solidFill>
                  <a:srgbClr val="AFBFCC"/>
                </a:solidFill>
                <a:latin typeface="Arial"/>
              </a:defRPr>
            </a:pPr>
            <a:r>
              <a:t>DUCK HUNT NL  /  VARISCO NICOLÒ · ANDRONI LORENZO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6600" y="6413500"/>
            <a:ext cx="8255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defRPr sz="1100" b="0">
                <a:solidFill>
                  <a:srgbClr val="A9DF70"/>
                </a:solidFill>
                <a:latin typeface="Arial"/>
              </a:defRPr>
            </a:pPr>
            <a: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17500"/>
            <a:ext cx="109220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defRPr sz="1100" b="1">
                <a:solidFill>
                  <a:srgbClr val="A9DF70"/>
                </a:solidFill>
                <a:latin typeface="Arial"/>
              </a:defRPr>
            </a:pPr>
            <a:r>
              <a:t>IL SITO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23900"/>
            <a:ext cx="11176000" cy="542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11"/>
              </a:lnSpc>
              <a:defRPr sz="2900" b="1">
                <a:solidFill>
                  <a:srgbClr val="F2F5F7"/>
                </a:solidFill>
                <a:latin typeface="Arial"/>
              </a:defRPr>
            </a:pPr>
            <a:r>
              <a:t>Scenari e domande frequenti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295400"/>
            <a:ext cx="11176000" cy="2946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defRPr sz="1400" b="0">
                <a:solidFill>
                  <a:srgbClr val="AFBFCC"/>
                </a:solidFill>
                <a:latin typeface="Arial"/>
              </a:defRPr>
            </a:pPr>
            <a:r>
              <a:t>L’utente vede le ambientazioni e trova risposte prima di iniziare.</a:t>
            </a:r>
          </a:p>
        </p:txBody>
      </p:sp>
      <p:pic>
        <p:nvPicPr>
          <p:cNvPr id="5" name="Picture 4" descr="scen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968500"/>
            <a:ext cx="6461760" cy="403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69300" y="2044700"/>
            <a:ext cx="3365500" cy="344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defRPr sz="1700" b="1">
                <a:solidFill>
                  <a:srgbClr val="A9DF70"/>
                </a:solidFill>
                <a:latin typeface="Arial"/>
              </a:defRPr>
            </a:pPr>
            <a:r>
              <a:t>Cinque ambientazioni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9300" y="2438400"/>
            <a:ext cx="3365500" cy="5918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defRPr sz="1600" b="0">
                <a:solidFill>
                  <a:srgbClr val="F2F5F7"/>
                </a:solidFill>
                <a:latin typeface="Arial"/>
              </a:defRPr>
            </a:pPr>
            <a:r>
              <a:t>Le anteprime video mostrano</a:t>
            </a:r>
          </a:p>
          <a:p>
            <a:pPr>
              <a:lnSpc>
                <a:spcPts val="2048"/>
              </a:lnSpc>
              <a:defRPr sz="1600" b="0">
                <a:solidFill>
                  <a:srgbClr val="F2F5F7"/>
                </a:solidFill>
                <a:latin typeface="Arial"/>
              </a:defRPr>
            </a:pPr>
            <a:r>
              <a:t>gli scenari dei round.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9300" y="3416300"/>
            <a:ext cx="3365500" cy="3441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defRPr sz="1700" b="1">
                <a:solidFill>
                  <a:srgbClr val="A9DF70"/>
                </a:solidFill>
                <a:latin typeface="Arial"/>
              </a:defRPr>
            </a:pPr>
            <a:r>
              <a:t>Informazioni pratiche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9300" y="3810000"/>
            <a:ext cx="3365500" cy="855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defRPr sz="1600" b="0">
                <a:solidFill>
                  <a:srgbClr val="F2F5F7"/>
                </a:solidFill>
                <a:latin typeface="Arial"/>
              </a:defRPr>
            </a:pPr>
            <a:r>
              <a:t>Installazione, record</a:t>
            </a:r>
          </a:p>
          <a:p>
            <a:pPr>
              <a:lnSpc>
                <a:spcPts val="2048"/>
              </a:lnSpc>
              <a:defRPr sz="1600" b="0">
                <a:solidFill>
                  <a:srgbClr val="F2F5F7"/>
                </a:solidFill>
                <a:latin typeface="Arial"/>
              </a:defRPr>
            </a:pPr>
            <a:r>
              <a:t>locale e bersagli mancati:</a:t>
            </a:r>
          </a:p>
          <a:p>
            <a:pPr>
              <a:lnSpc>
                <a:spcPts val="2048"/>
              </a:lnSpc>
              <a:defRPr sz="1600" b="0">
                <a:solidFill>
                  <a:srgbClr val="F2F5F7"/>
                </a:solidFill>
                <a:latin typeface="Arial"/>
              </a:defRPr>
            </a:pPr>
            <a:r>
              <a:t>risposte brevi e dirette.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6438900"/>
            <a:ext cx="10160000" cy="2120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defRPr sz="900" b="0">
                <a:solidFill>
                  <a:srgbClr val="AFBFCC"/>
                </a:solidFill>
                <a:latin typeface="Arial"/>
              </a:defRPr>
            </a:pPr>
            <a:r>
              <a:t>DUCK HUNT NL  /  VARISCO NICOLÒ · ANDRONI LORENZO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6600" y="6413500"/>
            <a:ext cx="825500" cy="245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defRPr sz="1100" b="0">
                <a:solidFill>
                  <a:srgbClr val="A9DF70"/>
                </a:solidFill>
                <a:latin typeface="Arial"/>
              </a:defRPr>
            </a:pPr>
            <a: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17500"/>
            <a:ext cx="109220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A9DF70"/>
                </a:solidFill>
                <a:latin typeface="Arial"/>
              </a:defRPr>
            </a:pPr>
            <a:r>
              <a:t>02 / FUNZIONALITÀ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23900"/>
            <a:ext cx="10922000" cy="5349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11"/>
              </a:lnSpc>
              <a:spcAft>
                <a:spcPts val="0"/>
              </a:spcAft>
              <a:defRPr sz="2900" b="1">
                <a:solidFill>
                  <a:srgbClr val="F2F5F7"/>
                </a:solidFill>
                <a:latin typeface="Arial"/>
              </a:defRPr>
            </a:pPr>
            <a:r>
              <a:t>Le regole diventano interazione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295400"/>
            <a:ext cx="10922000" cy="2910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0">
                <a:solidFill>
                  <a:srgbClr val="AFBFCC"/>
                </a:solidFill>
                <a:latin typeface="Arial"/>
              </a:defRPr>
            </a:pPr>
            <a:r>
              <a:t>Funzionalità presenti nella versione del progetto analizzata.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6261100"/>
            <a:ext cx="11176000" cy="12700"/>
          </a:xfrm>
          <a:prstGeom prst="rect">
            <a:avLst/>
          </a:prstGeom>
          <a:solidFill>
            <a:srgbClr val="344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" y="6438900"/>
            <a:ext cx="10922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DUCK HUNT NL  /  VARISCO NICOLÒ · ANDRONI LORENZO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6600" y="6413500"/>
            <a:ext cx="8255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A9DF70"/>
                </a:solidFill>
                <a:latin typeface="Arial"/>
              </a:defRPr>
            </a:pPr>
            <a:r>
              <a:t>05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968500"/>
            <a:ext cx="11176000" cy="1143000"/>
          </a:xfrm>
          <a:prstGeom prst="rect">
            <a:avLst/>
          </a:prstGeom>
          <a:solidFill>
            <a:srgbClr val="19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600" y="2120900"/>
            <a:ext cx="10922000" cy="3723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A9DF70"/>
                </a:solidFill>
                <a:latin typeface="Arial"/>
              </a:defRPr>
            </a:pPr>
            <a:r>
              <a:t>Partita completa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600" y="2501900"/>
            <a:ext cx="10922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2F5F7"/>
                </a:solidFill>
                <a:latin typeface="Arial"/>
              </a:defRPr>
            </a:pPr>
            <a:r>
              <a:t>5 round × 10 bersagli; 3 colpi per anatra; 100 / 60 / 30 punti.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8000" y="3289300"/>
            <a:ext cx="11176000" cy="1143000"/>
          </a:xfrm>
          <a:prstGeom prst="rect">
            <a:avLst/>
          </a:prstGeom>
          <a:solidFill>
            <a:srgbClr val="19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3441700"/>
            <a:ext cx="10922000" cy="3723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A9DF70"/>
                </a:solidFill>
                <a:latin typeface="Arial"/>
              </a:defRPr>
            </a:pPr>
            <a:r>
              <a:t>Comandi e riscontri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822700"/>
            <a:ext cx="10922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2F5F7"/>
                </a:solidFill>
                <a:latin typeface="Arial"/>
              </a:defRPr>
            </a:pPr>
            <a:r>
              <a:t>Mouse per mirare; clic o Spazio per sparare; P / Esc per la pausa.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4610100"/>
            <a:ext cx="11176000" cy="1143000"/>
          </a:xfrm>
          <a:prstGeom prst="rect">
            <a:avLst/>
          </a:prstGeom>
          <a:solidFill>
            <a:srgbClr val="19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600" y="4762500"/>
            <a:ext cx="10922000" cy="3723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A9DF70"/>
                </a:solidFill>
                <a:latin typeface="Arial"/>
              </a:defRPr>
            </a:pPr>
            <a:r>
              <a:t>Progressione e risultati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600" y="5143500"/>
            <a:ext cx="10922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2F5F7"/>
                </a:solidFill>
                <a:latin typeface="Arial"/>
              </a:defRPr>
            </a:pPr>
            <a:r>
              <a:t>Cinque scenari, traiettorie variabili, statistiche finali e record locale.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17500"/>
            <a:ext cx="109220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A9DF70"/>
                </a:solidFill>
                <a:latin typeface="Arial"/>
              </a:defRPr>
            </a:pPr>
            <a:r>
              <a:t>03 / STRUTTURA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23900"/>
            <a:ext cx="10922000" cy="5349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11"/>
              </a:lnSpc>
              <a:spcAft>
                <a:spcPts val="0"/>
              </a:spcAft>
              <a:defRPr sz="2900" b="1">
                <a:solidFill>
                  <a:srgbClr val="F2F5F7"/>
                </a:solidFill>
                <a:latin typeface="Arial"/>
              </a:defRPr>
            </a:pPr>
            <a:r>
              <a:t>Responsabilità separate, file collegati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295400"/>
            <a:ext cx="10922000" cy="2910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0">
                <a:solidFill>
                  <a:srgbClr val="AFBFCC"/>
                </a:solidFill>
                <a:latin typeface="Arial"/>
              </a:defRPr>
            </a:pPr>
            <a:r>
              <a:t>HTML organizza i contenuti, CSS definisce l’aspetto, JavaScript governa la partita.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6261100"/>
            <a:ext cx="11176000" cy="12700"/>
          </a:xfrm>
          <a:prstGeom prst="rect">
            <a:avLst/>
          </a:prstGeom>
          <a:solidFill>
            <a:srgbClr val="344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" y="6438900"/>
            <a:ext cx="10922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DUCK HUNT NL  /  VARISCO NICOLÒ · ANDRONI LORENZO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6600" y="6413500"/>
            <a:ext cx="8255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A9DF70"/>
                </a:solidFill>
                <a:latin typeface="Arial"/>
              </a:defRPr>
            </a:pPr>
            <a:r>
              <a:t>06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968500"/>
            <a:ext cx="11176000" cy="1143000"/>
          </a:xfrm>
          <a:prstGeom prst="rect">
            <a:avLst/>
          </a:prstGeom>
          <a:solidFill>
            <a:srgbClr val="19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600" y="2120900"/>
            <a:ext cx="10922000" cy="3723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A9DF70"/>
                </a:solidFill>
                <a:latin typeface="Arial"/>
              </a:defRPr>
            </a:pPr>
            <a:r>
              <a:t>Pagine 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600" y="2501900"/>
            <a:ext cx="10922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2F5F7"/>
                </a:solidFill>
                <a:latin typeface="Arial"/>
              </a:defRPr>
            </a:pPr>
            <a:r>
              <a:t>index.html: sito informativo  →  gioco.html: interfaccia e campo di gioco.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8000" y="3289300"/>
            <a:ext cx="11176000" cy="1143000"/>
          </a:xfrm>
          <a:prstGeom prst="rect">
            <a:avLst/>
          </a:prstGeom>
          <a:solidFill>
            <a:srgbClr val="19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3441700"/>
            <a:ext cx="10922000" cy="3723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A9DF70"/>
                </a:solidFill>
                <a:latin typeface="Arial"/>
              </a:defRPr>
            </a:pPr>
            <a:r>
              <a:t>Fogli di stile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822700"/>
            <a:ext cx="10922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2F5F7"/>
                </a:solidFill>
                <a:latin typeface="Arial"/>
              </a:defRPr>
            </a:pPr>
            <a:r>
              <a:t>sito.css: sito principale  /  style.css: gioco, layout e sovrapposizioni.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4610100"/>
            <a:ext cx="11176000" cy="1143000"/>
          </a:xfrm>
          <a:prstGeom prst="rect">
            <a:avLst/>
          </a:prstGeom>
          <a:solidFill>
            <a:srgbClr val="19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600" y="4762500"/>
            <a:ext cx="10922000" cy="3723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A9DF70"/>
                </a:solidFill>
                <a:latin typeface="Arial"/>
              </a:defRPr>
            </a:pPr>
            <a:r>
              <a:t>Logica e risorse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600" y="5143500"/>
            <a:ext cx="10922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2F5F7"/>
                </a:solidFill>
                <a:latin typeface="Arial"/>
              </a:defRPr>
            </a:pPr>
            <a:r>
              <a:t>script.js: stato, eventi e regole  /  img e gif: immagini, GIF e video MP4.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17500"/>
            <a:ext cx="109220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A9DF70"/>
                </a:solidFill>
                <a:latin typeface="Arial"/>
              </a:defRPr>
            </a:pPr>
            <a:r>
              <a:t>04 / SCELTA PROGETTUALE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23900"/>
            <a:ext cx="10922000" cy="5349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11"/>
              </a:lnSpc>
              <a:spcAft>
                <a:spcPts val="0"/>
              </a:spcAft>
              <a:defRPr sz="2900" b="1">
                <a:solidFill>
                  <a:srgbClr val="F2F5F7"/>
                </a:solidFill>
                <a:latin typeface="Arial"/>
              </a:defRPr>
            </a:pPr>
            <a:r>
              <a:t>Tre livelli compongono il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295400"/>
            <a:ext cx="10922000" cy="2910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0">
                <a:solidFill>
                  <a:srgbClr val="AFBFCC"/>
                </a:solidFill>
                <a:latin typeface="Arial"/>
              </a:defRPr>
            </a:pPr>
            <a:r>
              <a:t>La scena combina elementi DOM e disegno su canvas.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6261100"/>
            <a:ext cx="11176000" cy="12700"/>
          </a:xfrm>
          <a:prstGeom prst="rect">
            <a:avLst/>
          </a:prstGeom>
          <a:solidFill>
            <a:srgbClr val="344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" y="6438900"/>
            <a:ext cx="10922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DUCK HUNT NL  /  VARISCO NICOLÒ · ANDRONI LORENZO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6600" y="6413500"/>
            <a:ext cx="8255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A9DF70"/>
                </a:solidFill>
                <a:latin typeface="Arial"/>
              </a:defRPr>
            </a:pPr>
            <a:r>
              <a:t>07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6500" y="2006600"/>
            <a:ext cx="4127500" cy="3561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1">
                <a:solidFill>
                  <a:srgbClr val="A9DF70"/>
                </a:solidFill>
                <a:latin typeface="Arial"/>
              </a:defRPr>
            </a:pPr>
            <a:r>
              <a:t>01   VIDEO MP4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6500" y="2413000"/>
            <a:ext cx="4190999" cy="323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F2F5F7"/>
                </a:solidFill>
                <a:latin typeface="Arial"/>
              </a:defRPr>
            </a:pPr>
            <a:r>
              <a:t>Paesaggio animato sullo sfondo.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6500" y="3225800"/>
            <a:ext cx="4127500" cy="3561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1">
                <a:solidFill>
                  <a:srgbClr val="A9DF70"/>
                </a:solidFill>
                <a:latin typeface="Arial"/>
              </a:defRPr>
            </a:pPr>
            <a:r>
              <a:t>02   IMMAGINE GIF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6500" y="3632200"/>
            <a:ext cx="4190999" cy="583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F2F5F7"/>
                </a:solidFill>
                <a:latin typeface="Arial"/>
              </a:defRPr>
            </a:pPr>
            <a:r>
              <a:t>Anatra in volo e in caduta,</a:t>
            </a:r>
          </a:p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F2F5F7"/>
                </a:solidFill>
                <a:latin typeface="Arial"/>
              </a:defRPr>
            </a:pPr>
            <a:r>
              <a:t>spostata tramite stili CSS.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6500" y="4673600"/>
            <a:ext cx="4127500" cy="3561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1">
                <a:solidFill>
                  <a:srgbClr val="A9DF70"/>
                </a:solidFill>
                <a:latin typeface="Arial"/>
              </a:defRPr>
            </a:pPr>
            <a:r>
              <a:t>03   CANVAS + 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6500" y="5080000"/>
            <a:ext cx="4190999" cy="583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F2F5F7"/>
                </a:solidFill>
                <a:latin typeface="Arial"/>
              </a:defRPr>
            </a:pPr>
            <a:r>
              <a:t>Mirino ed effetti sul canvas;</a:t>
            </a:r>
          </a:p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F2F5F7"/>
                </a:solidFill>
                <a:latin typeface="Arial"/>
              </a:defRPr>
            </a:pPr>
            <a:r>
              <a:t>punteggi e pannelli nell’HTML.</a:t>
            </a:r>
          </a:p>
        </p:txBody>
      </p:sp>
      <p:pic>
        <p:nvPicPr>
          <p:cNvPr id="15" name="Picture 14" descr="gio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1993899"/>
            <a:ext cx="6258560" cy="391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17500"/>
            <a:ext cx="109220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A9DF70"/>
                </a:solidFill>
                <a:latin typeface="Arial"/>
              </a:defRPr>
            </a:pPr>
            <a:r>
              <a:t>JAVASCRIPT / IL CUORE DEL PROGETTO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23900"/>
            <a:ext cx="10922000" cy="5349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11"/>
              </a:lnSpc>
              <a:spcAft>
                <a:spcPts val="0"/>
              </a:spcAft>
              <a:defRPr sz="2900" b="1">
                <a:solidFill>
                  <a:srgbClr val="F2F5F7"/>
                </a:solidFill>
                <a:latin typeface="Arial"/>
              </a:defRPr>
            </a:pPr>
            <a:r>
              <a:t>Lo stato: una sola fonte per la partita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295400"/>
            <a:ext cx="10922000" cy="2910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0">
                <a:solidFill>
                  <a:srgbClr val="AFBFCC"/>
                </a:solidFill>
                <a:latin typeface="Arial"/>
              </a:defRPr>
            </a:pPr>
            <a:r>
              <a:t>Estratto dal codice attuale; le omissioni sono indicate con // 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6261100"/>
            <a:ext cx="11176000" cy="12700"/>
          </a:xfrm>
          <a:prstGeom prst="rect">
            <a:avLst/>
          </a:prstGeom>
          <a:solidFill>
            <a:srgbClr val="344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" y="6438900"/>
            <a:ext cx="10922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DUCK HUNT NL  /  VARISCO NICOLÒ · ANDRONI LORENZO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6600" y="6413500"/>
            <a:ext cx="8255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A9DF70"/>
                </a:solidFill>
                <a:latin typeface="Arial"/>
              </a:defRPr>
            </a:pPr>
            <a:r>
              <a:t>08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854200"/>
            <a:ext cx="7099300" cy="4140200"/>
          </a:xfrm>
          <a:prstGeom prst="rect">
            <a:avLst/>
          </a:prstGeom>
          <a:solidFill>
            <a:srgbClr val="19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500" y="2044700"/>
            <a:ext cx="6731000" cy="273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const statoGioco = {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...statoIniziale,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colpitePerTurno: Array(NUMERO_TURNI).fill(0),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fase: "pronta",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recordPersonale: 0,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recordDisponibile: true,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mira: { x: LARGHEZZA / 2,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        y: ALTEZZA / 2, visibile: false },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ultimoTempo: 0,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gettonePartita: 0,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graficaCaricata: false,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99" y="1917700"/>
            <a:ext cx="3619500" cy="2585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A9DF70"/>
                </a:solidFill>
                <a:latin typeface="Arial"/>
              </a:defRPr>
            </a:pPr>
            <a:r>
              <a:t>COME FUNZIONA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99" y="2311400"/>
            <a:ext cx="3683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1">
                <a:solidFill>
                  <a:srgbClr val="FFD16A"/>
                </a:solidFill>
                <a:latin typeface="Arial"/>
              </a:defRPr>
            </a:pPr>
            <a:r>
              <a:t>Dati condivisi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99" y="2654300"/>
            <a:ext cx="3683000" cy="551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Fase, mira e contatori sono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raccolti nello stesso oggetto.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799" y="3441700"/>
            <a:ext cx="3683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1">
                <a:solidFill>
                  <a:srgbClr val="FFD16A"/>
                </a:solidFill>
                <a:latin typeface="Arial"/>
              </a:defRPr>
            </a:pPr>
            <a:r>
              <a:t>Reset controllato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799" y="3784600"/>
            <a:ext cx="3683000" cy="795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statoIniziale contiene i valori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da azzerare a ogni nuova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partita.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" y="5753100"/>
            <a:ext cx="6731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script.js / statoIniziale e statoGioco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17500"/>
            <a:ext cx="109220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A9DF70"/>
                </a:solidFill>
                <a:latin typeface="Arial"/>
              </a:defRPr>
            </a:pPr>
            <a:r>
              <a:t>JAVASCRIPT / IL CUORE DEL PROGETTO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23900"/>
            <a:ext cx="10922000" cy="5349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11"/>
              </a:lnSpc>
              <a:spcAft>
                <a:spcPts val="0"/>
              </a:spcAft>
              <a:defRPr sz="2900" b="1">
                <a:solidFill>
                  <a:srgbClr val="F2F5F7"/>
                </a:solidFill>
                <a:latin typeface="Arial"/>
              </a:defRPr>
            </a:pPr>
            <a:r>
              <a:t>Le fasi impediscono azioni fuori tempo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295400"/>
            <a:ext cx="10922000" cy="2910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0">
                <a:solidFill>
                  <a:srgbClr val="AFBFCC"/>
                </a:solidFill>
                <a:latin typeface="Arial"/>
              </a:defRPr>
            </a:pPr>
            <a:r>
              <a:t>Estratto dal codice attuale; le omissioni sono indicate con // 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6261100"/>
            <a:ext cx="11176000" cy="12700"/>
          </a:xfrm>
          <a:prstGeom prst="rect">
            <a:avLst/>
          </a:prstGeom>
          <a:solidFill>
            <a:srgbClr val="344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" y="6438900"/>
            <a:ext cx="10922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DUCK HUNT NL  /  VARISCO NICOLÒ · ANDRONI LORENZO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6600" y="6413500"/>
            <a:ext cx="8255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A9DF70"/>
                </a:solidFill>
                <a:latin typeface="Arial"/>
              </a:defRPr>
            </a:pPr>
            <a:r>
              <a:t>09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854200"/>
            <a:ext cx="7099300" cy="4140200"/>
          </a:xfrm>
          <a:prstGeom prst="rect">
            <a:avLst/>
          </a:prstGeom>
          <a:solidFill>
            <a:srgbClr val="19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500" y="2044700"/>
            <a:ext cx="6731000" cy="273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function lanciaAnatra() {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statoGioco.fase = "inCorso";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creaAnatra();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nascondiOverlay();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// …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function spara() {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if (statoGioco.fase !== "inCorso" ||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    statoGioco.colpi === 0) return;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// …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99" y="1917700"/>
            <a:ext cx="3619500" cy="2585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A9DF70"/>
                </a:solidFill>
                <a:latin typeface="Arial"/>
              </a:defRPr>
            </a:pPr>
            <a:r>
              <a:t>COME FUNZIONA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99" y="2311400"/>
            <a:ext cx="3683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1">
                <a:solidFill>
                  <a:srgbClr val="FFD16A"/>
                </a:solidFill>
                <a:latin typeface="Arial"/>
              </a:defRPr>
            </a:pPr>
            <a:r>
              <a:t>Sequenza principale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99" y="2654300"/>
            <a:ext cx="3683000" cy="795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pronta → traRound → inCorso →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traBersagli; poi nuovo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bersaglio o fine.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799" y="3683000"/>
            <a:ext cx="3683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1">
                <a:solidFill>
                  <a:srgbClr val="FFD16A"/>
                </a:solidFill>
                <a:latin typeface="Arial"/>
              </a:defRPr>
            </a:pPr>
            <a:r>
              <a:t>Guardia iniziale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799" y="4025900"/>
            <a:ext cx="3683000" cy="795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Si può sparare soltanto durante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il volo, con munizioni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disponibili.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" y="5753100"/>
            <a:ext cx="6731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script.js / lanciaAnatra e inizio di spara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17500"/>
            <a:ext cx="109220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A9DF70"/>
                </a:solidFill>
                <a:latin typeface="Arial"/>
              </a:defRPr>
            </a:pPr>
            <a:r>
              <a:t>JAVASCRIPT / IL CUORE DEL PROGETTO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23900"/>
            <a:ext cx="10922000" cy="5349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11"/>
              </a:lnSpc>
              <a:spcAft>
                <a:spcPts val="0"/>
              </a:spcAft>
              <a:defRPr sz="2900" b="1">
                <a:solidFill>
                  <a:srgbClr val="F2F5F7"/>
                </a:solidFill>
                <a:latin typeface="Arial"/>
              </a:defRPr>
            </a:pPr>
            <a:r>
              <a:t>Il game loop: aggiornare prima di disegnare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295400"/>
            <a:ext cx="10922000" cy="2910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0">
                <a:solidFill>
                  <a:srgbClr val="AFBFCC"/>
                </a:solidFill>
                <a:latin typeface="Arial"/>
              </a:defRPr>
            </a:pPr>
            <a:r>
              <a:t>Estratto dal codice attuale; le omissioni sono indicate con // 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6261100"/>
            <a:ext cx="11176000" cy="12700"/>
          </a:xfrm>
          <a:prstGeom prst="rect">
            <a:avLst/>
          </a:prstGeom>
          <a:solidFill>
            <a:srgbClr val="344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" y="6438900"/>
            <a:ext cx="10922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DUCK HUNT NL  /  VARISCO NICOLÒ · ANDRONI LORENZO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6600" y="6413500"/>
            <a:ext cx="8255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A9DF70"/>
                </a:solidFill>
                <a:latin typeface="Arial"/>
              </a:defRPr>
            </a:pPr>
            <a:r>
              <a:t>10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854200"/>
            <a:ext cx="7099300" cy="4140200"/>
          </a:xfrm>
          <a:prstGeom prst="rect">
            <a:avLst/>
          </a:prstGeom>
          <a:solidFill>
            <a:srgbClr val="19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500" y="2044700"/>
            <a:ext cx="6731000" cy="2952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function aggiornaFotogramma(tempoAttuale) {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const intervallo = Math.min(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    (tempoAttuale - statoGioco.ultimoTempo)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    / 1000, .05);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statoGioco.ultimoTempo = tempoAttuale;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if (statoGioco.fase !== "inPausa") {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    if (statoGioco.fase === "inCorso")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        aggiornaAnatra(intervallo);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    // … aggiornamento caduta ed effetti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disegna();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requestAnimationFrame(aggiornaFotogramma);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99" y="1917700"/>
            <a:ext cx="3619500" cy="2585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A9DF70"/>
                </a:solidFill>
                <a:latin typeface="Arial"/>
              </a:defRPr>
            </a:pPr>
            <a:r>
              <a:t>COME FUNZIONA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99" y="2311400"/>
            <a:ext cx="3683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1">
                <a:solidFill>
                  <a:srgbClr val="FFD16A"/>
                </a:solidFill>
                <a:latin typeface="Arial"/>
              </a:defRPr>
            </a:pPr>
            <a:r>
              <a:t>Delta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99" y="2654300"/>
            <a:ext cx="3683000" cy="795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La differenza fra timestamp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diventa un intervallo in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secondi.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799" y="3683000"/>
            <a:ext cx="3683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1">
                <a:solidFill>
                  <a:srgbClr val="FFD16A"/>
                </a:solidFill>
                <a:latin typeface="Arial"/>
              </a:defRPr>
            </a:pPr>
            <a:r>
              <a:t>Limite di 0,05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799" y="4025900"/>
            <a:ext cx="3683000" cy="795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Riduce i salti dopo un frame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lento. Il browser pianifica il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frame seguente.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" y="5753100"/>
            <a:ext cx="6731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script.js / aggiornaFotogramma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17500"/>
            <a:ext cx="109220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A9DF70"/>
                </a:solidFill>
                <a:latin typeface="Arial"/>
              </a:defRPr>
            </a:pPr>
            <a:r>
              <a:t>JAVASCRIPT / IL CUORE DEL PROGETTO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23900"/>
            <a:ext cx="10922000" cy="5349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11"/>
              </a:lnSpc>
              <a:spcAft>
                <a:spcPts val="0"/>
              </a:spcAft>
              <a:defRPr sz="2900" b="1">
                <a:solidFill>
                  <a:srgbClr val="F2F5F7"/>
                </a:solidFill>
                <a:latin typeface="Arial"/>
              </a:defRPr>
            </a:pPr>
            <a:r>
              <a:t>La hitbox decide se il colpo è a segno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295400"/>
            <a:ext cx="10922000" cy="2910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0">
                <a:solidFill>
                  <a:srgbClr val="AFBFCC"/>
                </a:solidFill>
                <a:latin typeface="Arial"/>
              </a:defRPr>
            </a:pPr>
            <a:r>
              <a:t>Estratto dal codice attuale; le omissioni sono indicate con // 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6261100"/>
            <a:ext cx="11176000" cy="12700"/>
          </a:xfrm>
          <a:prstGeom prst="rect">
            <a:avLst/>
          </a:prstGeom>
          <a:solidFill>
            <a:srgbClr val="344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" y="6438900"/>
            <a:ext cx="10922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DUCK HUNT NL  /  VARISCO NICOLÒ · ANDRONI LORENZO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6600" y="6413500"/>
            <a:ext cx="8255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A9DF70"/>
                </a:solidFill>
                <a:latin typeface="Arial"/>
              </a:defRPr>
            </a:pPr>
            <a:r>
              <a:t>11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854200"/>
            <a:ext cx="7099300" cy="4140200"/>
          </a:xfrm>
          <a:prstGeom prst="rect">
            <a:avLst/>
          </a:prstGeom>
          <a:solidFill>
            <a:srgbClr val="19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500" y="2044700"/>
            <a:ext cx="6731000" cy="2508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statoGioco.colpi -= 1;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statoGioco.colpiSparati += 1;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const { anatra, mira } = statoGioco;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const scala = scalaGioco();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const colpita =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Math.abs(mira.x - anatra.x) &lt; 27 * scala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&amp;&amp; Math.abs(mira.y - anatra.y) &lt; 21 * scala;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const numeroColpo =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COLPI_PER_ANATRA - statoGioco.colpi;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const punti = colpita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? PUNTI_PER_COLPO[numeroColpo - 1] : 0;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99" y="1917700"/>
            <a:ext cx="3619500" cy="2585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A9DF70"/>
                </a:solidFill>
                <a:latin typeface="Arial"/>
              </a:defRPr>
            </a:pPr>
            <a:r>
              <a:t>COME FUNZIONA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99" y="2311400"/>
            <a:ext cx="3683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1">
                <a:solidFill>
                  <a:srgbClr val="FFD16A"/>
                </a:solidFill>
                <a:latin typeface="Arial"/>
              </a:defRPr>
            </a:pPr>
            <a:r>
              <a:t>Collisione rettangolare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99" y="2654300"/>
            <a:ext cx="3683000" cy="795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Entrambe le distanze dal centro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devono rientrare nei limiti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della hitbox.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799" y="3683000"/>
            <a:ext cx="3683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1">
                <a:solidFill>
                  <a:srgbClr val="FFD16A"/>
                </a:solidFill>
                <a:latin typeface="Arial"/>
              </a:defRPr>
            </a:pPr>
            <a:r>
              <a:t>Punti per tentativo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799" y="4025900"/>
            <a:ext cx="3683000" cy="795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L’indice numeroColpo − 1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seleziona 100, 60 o 30; una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mancata vale zero.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" y="5753100"/>
            <a:ext cx="6731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script.js / spara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17500"/>
            <a:ext cx="109220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A9DF70"/>
                </a:solidFill>
                <a:latin typeface="Arial"/>
              </a:defRPr>
            </a:pPr>
            <a:r>
              <a:t>JAVASCRIPT / IL CUORE DEL PROGETTO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23900"/>
            <a:ext cx="10922000" cy="5349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11"/>
              </a:lnSpc>
              <a:spcAft>
                <a:spcPts val="0"/>
              </a:spcAft>
              <a:defRPr sz="2900" b="1">
                <a:solidFill>
                  <a:srgbClr val="F2F5F7"/>
                </a:solidFill>
                <a:latin typeface="Arial"/>
              </a:defRPr>
            </a:pPr>
            <a:r>
              <a:t>Asincrono: attendere senza bloccare il gioco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295400"/>
            <a:ext cx="10922000" cy="2910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0">
                <a:solidFill>
                  <a:srgbClr val="AFBFCC"/>
                </a:solidFill>
                <a:latin typeface="Arial"/>
              </a:defRPr>
            </a:pPr>
            <a:r>
              <a:t>Estratto dal codice attuale; le omissioni sono indicate con // 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6261100"/>
            <a:ext cx="11176000" cy="12700"/>
          </a:xfrm>
          <a:prstGeom prst="rect">
            <a:avLst/>
          </a:prstGeom>
          <a:solidFill>
            <a:srgbClr val="344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" y="6438900"/>
            <a:ext cx="10922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DUCK HUNT NL  /  VARISCO NICOLÒ · ANDRONI LORENZO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6600" y="6413500"/>
            <a:ext cx="8255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A9DF70"/>
                </a:solidFill>
                <a:latin typeface="Arial"/>
              </a:defRPr>
            </a:pPr>
            <a:r>
              <a:t>12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854200"/>
            <a:ext cx="7099300" cy="4140200"/>
          </a:xfrm>
          <a:prstGeom prst="rect">
            <a:avLst/>
          </a:prstGeom>
          <a:solidFill>
            <a:srgbClr val="19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500" y="2044700"/>
            <a:ext cx="6731000" cy="317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const attendi = (millisecondi) =&gt;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new Promise((completa) =&gt;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    window.setTimeout(completa, millisecondi));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async function continuaPartita(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gettone, messaggio, mostraCaduta = false) {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statoGioco.fase = "traBersagli";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statoGioco.anatra = null;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statoGioco.bersagliTurno += 1;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// …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await attendi(mostraCaduta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    ? DURATA_CADUTA * 1000 : 900);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// …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99" y="1917700"/>
            <a:ext cx="3619500" cy="2585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A9DF70"/>
                </a:solidFill>
                <a:latin typeface="Arial"/>
              </a:defRPr>
            </a:pPr>
            <a:r>
              <a:t>COME FUNZIONA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99" y="2311400"/>
            <a:ext cx="3683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1">
                <a:solidFill>
                  <a:srgbClr val="FFD16A"/>
                </a:solidFill>
                <a:latin typeface="Arial"/>
              </a:defRPr>
            </a:pPr>
            <a:r>
              <a:t>Prima dell’await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99" y="2654300"/>
            <a:ext cx="3683000" cy="795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La funzione cambia subito fase,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rimuove l’anatra e conta il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bersaglio.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799" y="3683000"/>
            <a:ext cx="3683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1">
                <a:solidFill>
                  <a:srgbClr val="FFD16A"/>
                </a:solidFill>
                <a:latin typeface="Arial"/>
              </a:defRPr>
            </a:pPr>
            <a:r>
              <a:t>Durante l’attesa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799" y="4025900"/>
            <a:ext cx="3683000" cy="795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Si sospende questa funzione: il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browser continua a disegnare e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gestire eventi.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" y="5753100"/>
            <a:ext cx="6731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script.js / attendi e continuaPartita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17500"/>
            <a:ext cx="109220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A9DF70"/>
                </a:solidFill>
                <a:latin typeface="Arial"/>
              </a:defRPr>
            </a:pPr>
            <a:r>
              <a:t>JAVASCRIPT / IL CUORE DEL PROGETTO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23900"/>
            <a:ext cx="10922000" cy="5349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11"/>
              </a:lnSpc>
              <a:spcAft>
                <a:spcPts val="0"/>
              </a:spcAft>
              <a:defRPr sz="2900" b="1">
                <a:solidFill>
                  <a:srgbClr val="F2F5F7"/>
                </a:solidFill>
                <a:latin typeface="Arial"/>
              </a:defRPr>
            </a:pPr>
            <a:r>
              <a:t>Il gettone evita che un’attesa vecchia interferisca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295400"/>
            <a:ext cx="10922000" cy="2910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0">
                <a:solidFill>
                  <a:srgbClr val="AFBFCC"/>
                </a:solidFill>
                <a:latin typeface="Arial"/>
              </a:defRPr>
            </a:pPr>
            <a:r>
              <a:t>Estratto dal codice attuale; le omissioni sono indicate con // 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6261100"/>
            <a:ext cx="11176000" cy="12700"/>
          </a:xfrm>
          <a:prstGeom prst="rect">
            <a:avLst/>
          </a:prstGeom>
          <a:solidFill>
            <a:srgbClr val="344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" y="6438900"/>
            <a:ext cx="10922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DUCK HUNT NL  /  VARISCO NICOLÒ · ANDRONI LORENZO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6600" y="6413500"/>
            <a:ext cx="8255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A9DF70"/>
                </a:solidFill>
                <a:latin typeface="Arial"/>
              </a:defRPr>
            </a:pPr>
            <a:r>
              <a:t>13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854200"/>
            <a:ext cx="7099300" cy="4140200"/>
          </a:xfrm>
          <a:prstGeom prst="rect">
            <a:avLst/>
          </a:prstGeom>
          <a:solidFill>
            <a:srgbClr val="19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500" y="2044700"/>
            <a:ext cx="6731000" cy="273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await attendi(mostraCaduta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? DURATA_CADUTA * 1000 : 900);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if (statoGioco.fase !== "traBersagli" ||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statoGioco.gettonePartita !== gettone) return;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statoGioco.anatraInCaduta = null;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if (!turnoFinito) return lanciaAnatra();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if (statoGioco.turno === NUMERO_TURNI)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return terminaPartita();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statoGioco.turno += 1;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statoGioco.bersagliTurno = 0;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await mostraIntroTurno(gettone);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99" y="1917700"/>
            <a:ext cx="3619500" cy="2585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A9DF70"/>
                </a:solidFill>
                <a:latin typeface="Arial"/>
              </a:defRPr>
            </a:pPr>
            <a:r>
              <a:t>COME FUNZIONA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99" y="2311400"/>
            <a:ext cx="3683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1">
                <a:solidFill>
                  <a:srgbClr val="FFD16A"/>
                </a:solidFill>
                <a:latin typeface="Arial"/>
              </a:defRPr>
            </a:pPr>
            <a:r>
              <a:t>Controllo al rientro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99" y="2654300"/>
            <a:ext cx="3683000" cy="795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Dopo l’attesa si verifica che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fase e partita siano ancora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quelle previste.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799" y="3683000"/>
            <a:ext cx="3683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1">
                <a:solidFill>
                  <a:srgbClr val="FFD16A"/>
                </a:solidFill>
                <a:latin typeface="Arial"/>
              </a:defRPr>
            </a:pPr>
            <a:r>
              <a:t>Tre percorsi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799" y="4025900"/>
            <a:ext cx="3683000" cy="795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Altro bersaglio, fine partita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oppure round successivo con una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nuova intro.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" y="5753100"/>
            <a:ext cx="6731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script.js / seconda parte di continuaPartita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17500"/>
            <a:ext cx="109220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A9DF70"/>
                </a:solidFill>
                <a:latin typeface="Arial"/>
              </a:defRPr>
            </a:pPr>
            <a:r>
              <a:t>JAVASCRIPT / IL CUORE DEL PROGETTO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23900"/>
            <a:ext cx="10922000" cy="5349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11"/>
              </a:lnSpc>
              <a:spcAft>
                <a:spcPts val="0"/>
              </a:spcAft>
              <a:defRPr sz="2900" b="1">
                <a:solidFill>
                  <a:srgbClr val="F2F5F7"/>
                </a:solidFill>
                <a:latin typeface="Arial"/>
              </a:defRPr>
            </a:pPr>
            <a:r>
              <a:t>Caricare la grafica con Promise.all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295400"/>
            <a:ext cx="10922000" cy="2910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0">
                <a:solidFill>
                  <a:srgbClr val="AFBFCC"/>
                </a:solidFill>
                <a:latin typeface="Arial"/>
              </a:defRPr>
            </a:pPr>
            <a:r>
              <a:t>Estratto dal codice attuale; le omissioni sono indicate con // 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6261100"/>
            <a:ext cx="11176000" cy="12700"/>
          </a:xfrm>
          <a:prstGeom prst="rect">
            <a:avLst/>
          </a:prstGeom>
          <a:solidFill>
            <a:srgbClr val="344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" y="6438900"/>
            <a:ext cx="10922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DUCK HUNT NL  /  VARISCO NICOLÒ · ANDRONI LORENZO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6600" y="6413500"/>
            <a:ext cx="8255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A9DF70"/>
                </a:solidFill>
                <a:latin typeface="Arial"/>
              </a:defRPr>
            </a:pPr>
            <a:r>
              <a:t>14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854200"/>
            <a:ext cx="7099300" cy="4140200"/>
          </a:xfrm>
          <a:prstGeom prst="rect">
            <a:avLst/>
          </a:prstGeom>
          <a:solidFill>
            <a:srgbClr val="19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500" y="2044700"/>
            <a:ext cx="6731000" cy="317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const caricaImmagine = (percorso) =&gt;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new Promise((completa, rifiuta) =&gt; {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const immagine = new Image();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immagine.onload = () =&gt; completa(immagine);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immagine.onerror = () =&gt; rifiuta(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  new Error("Impossibile caricare " + percorso));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immagine.src = percorso;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});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// …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Promise.all([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// … percorsi di GIF, mirini e cane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].map(caricaImmagine)).then((/* … */) =&gt; {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    // … abilita avvio dopo il caricamento</a:t>
            </a:r>
          </a:p>
          <a:p>
            <a:pPr>
              <a:lnSpc>
                <a:spcPts val="1750"/>
              </a:lnSpc>
              <a:spcAft>
                <a:spcPts val="0"/>
              </a:spcAft>
              <a:defRPr sz="1400" b="0">
                <a:solidFill>
                  <a:srgbClr val="F2F5F7"/>
                </a:solidFill>
                <a:latin typeface="Consolas"/>
              </a:defRPr>
            </a:pPr>
            <a:r>
              <a:t>}).catch((errore) =&gt; { /* … mostra errore */ });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99" y="1917700"/>
            <a:ext cx="3619500" cy="2585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A9DF70"/>
                </a:solidFill>
                <a:latin typeface="Arial"/>
              </a:defRPr>
            </a:pPr>
            <a:r>
              <a:t>COME FUNZIONA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99" y="2311400"/>
            <a:ext cx="3683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1">
                <a:solidFill>
                  <a:srgbClr val="FFD16A"/>
                </a:solidFill>
                <a:latin typeface="Arial"/>
              </a:defRPr>
            </a:pPr>
            <a:r>
              <a:t>Tutte pronte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99" y="2654300"/>
            <a:ext cx="3683000" cy="795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map avvia i caricamenti;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Promise.all si risolve quando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tutti hanno successo.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799" y="3683000"/>
            <a:ext cx="3683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1">
                <a:solidFill>
                  <a:srgbClr val="FFD16A"/>
                </a:solidFill>
                <a:latin typeface="Arial"/>
              </a:defRPr>
            </a:pPr>
            <a:r>
              <a:t>Errore gestito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799" y="4025900"/>
            <a:ext cx="3683000" cy="795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Se una risorsa fallisce, catch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mostra il problema e l’avvio</a:t>
            </a:r>
          </a:p>
          <a:p>
            <a:pPr>
              <a:lnSpc>
                <a:spcPts val="1920"/>
              </a:lnSpc>
              <a:spcAft>
                <a:spcPts val="0"/>
              </a:spcAft>
              <a:defRPr sz="1500" b="0">
                <a:solidFill>
                  <a:srgbClr val="F2F5F7"/>
                </a:solidFill>
                <a:latin typeface="Arial"/>
              </a:defRPr>
            </a:pPr>
            <a:r>
              <a:t>resta disabilitato.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" y="5753100"/>
            <a:ext cx="6731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script.js / caricaImmagine e caricamento finale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17500"/>
            <a:ext cx="109220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A9DF70"/>
                </a:solidFill>
                <a:latin typeface="Arial"/>
              </a:defRPr>
            </a:pPr>
            <a:r>
              <a:t>05 / I COMANDI DEL GIOCO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23900"/>
            <a:ext cx="10922000" cy="5349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11"/>
              </a:lnSpc>
              <a:spcAft>
                <a:spcPts val="0"/>
              </a:spcAft>
              <a:defRPr sz="2900" b="1">
                <a:solidFill>
                  <a:srgbClr val="F2F5F7"/>
                </a:solidFill>
                <a:latin typeface="Arial"/>
              </a:defRPr>
            </a:pPr>
            <a:r>
              <a:t>Mouse e tastiera: i comandi del gioco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295400"/>
            <a:ext cx="10922000" cy="2910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0">
                <a:solidFill>
                  <a:srgbClr val="AFBFCC"/>
                </a:solidFill>
                <a:latin typeface="Arial"/>
              </a:defRPr>
            </a:pPr>
            <a:r>
              <a:t>JavaScript riconosce le azioni del giocatore e aggiorna il gioco.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6261100"/>
            <a:ext cx="11176000" cy="12700"/>
          </a:xfrm>
          <a:prstGeom prst="rect">
            <a:avLst/>
          </a:prstGeom>
          <a:solidFill>
            <a:srgbClr val="344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" y="6438900"/>
            <a:ext cx="10922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DUCK HUNT NL  /  VARISCO NICOLÒ · ANDRONI LORENZO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6600" y="6413500"/>
            <a:ext cx="8255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A9DF70"/>
                </a:solidFill>
                <a:latin typeface="Arial"/>
              </a:defRPr>
            </a:pPr>
            <a:r>
              <a:t>15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968500"/>
            <a:ext cx="5397500" cy="3644900"/>
          </a:xfrm>
          <a:prstGeom prst="rect">
            <a:avLst/>
          </a:prstGeom>
          <a:solidFill>
            <a:srgbClr val="19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59500" y="1968500"/>
            <a:ext cx="5524500" cy="3644900"/>
          </a:xfrm>
          <a:prstGeom prst="rect">
            <a:avLst/>
          </a:prstGeom>
          <a:solidFill>
            <a:srgbClr val="19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222500"/>
            <a:ext cx="4826000" cy="4048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1">
                <a:solidFill>
                  <a:srgbClr val="A9DF70"/>
                </a:solidFill>
                <a:latin typeface="Arial"/>
              </a:defRPr>
            </a:pPr>
            <a:r>
              <a:t>MIRARE CON IL MOUSE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768600"/>
            <a:ext cx="4889500" cy="24043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F2F5F7"/>
                </a:solidFill>
                <a:latin typeface="Arial"/>
              </a:defRPr>
            </a:pPr>
            <a:r>
              <a:t>Muovi il mouse sul campo: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F2F5F7"/>
                </a:solidFill>
                <a:latin typeface="Arial"/>
              </a:defRPr>
            </a:pPr>
            <a:r>
              <a:t>il mirino segue la posizione.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F2F5F7"/>
                </a:solidFill>
                <a:latin typeface="Arial"/>
              </a:defRPr>
            </a:pP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F2F5F7"/>
                </a:solidFill>
                <a:latin typeface="Arial"/>
              </a:defRPr>
            </a:pPr>
            <a:r>
              <a:t>L'evento mousemove richiama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F2F5F7"/>
                </a:solidFill>
                <a:latin typeface="Arial"/>
              </a:defRPr>
            </a:pPr>
            <a:r>
              <a:t>la funzione puntaMira().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F2F5F7"/>
                </a:solidFill>
                <a:latin typeface="Arial"/>
              </a:defRPr>
            </a:pP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F2F5F7"/>
                </a:solidFill>
                <a:latin typeface="Arial"/>
              </a:defRPr>
            </a:pPr>
            <a:r>
              <a:t>Le coordinate del mouse diventano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F2F5F7"/>
                </a:solidFill>
                <a:latin typeface="Arial"/>
              </a:defRPr>
            </a:pPr>
            <a:r>
              <a:t>la posizione della mira nel gioco.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3500" y="2222500"/>
            <a:ext cx="5016500" cy="4048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1">
                <a:solidFill>
                  <a:srgbClr val="FFD16A"/>
                </a:solidFill>
                <a:latin typeface="Arial"/>
              </a:defRPr>
            </a:pPr>
            <a:r>
              <a:t>SPARARE CON CLIC O SPAZIO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3500" y="2768600"/>
            <a:ext cx="5016500" cy="24043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F2F5F7"/>
                </a:solidFill>
                <a:latin typeface="Arial"/>
              </a:defRPr>
            </a:pPr>
            <a:r>
              <a:t>Premi il clic sinistro o Spazio: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F2F5F7"/>
                </a:solidFill>
                <a:latin typeface="Arial"/>
              </a:defRPr>
            </a:pPr>
            <a:r>
              <a:t>viene chiamata spara().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F2F5F7"/>
                </a:solidFill>
                <a:latin typeface="Arial"/>
              </a:defRPr>
            </a:pP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F2F5F7"/>
                </a:solidFill>
                <a:latin typeface="Arial"/>
              </a:defRPr>
            </a:pPr>
            <a:r>
              <a:t>Durante il volo, se hai munizioni,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F2F5F7"/>
                </a:solidFill>
                <a:latin typeface="Arial"/>
              </a:defRPr>
            </a:pPr>
            <a:r>
              <a:t>il gioco esegue lo sparo.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F2F5F7"/>
                </a:solidFill>
                <a:latin typeface="Arial"/>
              </a:defRPr>
            </a:pP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F2F5F7"/>
                </a:solidFill>
                <a:latin typeface="Arial"/>
              </a:defRPr>
            </a:pPr>
            <a:r>
              <a:t>Ogni sparo consuma un colpo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F2F5F7"/>
                </a:solidFill>
                <a:latin typeface="Arial"/>
              </a:defRPr>
            </a:pPr>
            <a:r>
              <a:t>e controlla se hai preso l'anatra.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17500"/>
            <a:ext cx="109220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A9DF70"/>
                </a:solidFill>
                <a:latin typeface="Arial"/>
              </a:defRPr>
            </a:pPr>
            <a:r>
              <a:t>06 / PROBLEMI E SOLUZIONI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23900"/>
            <a:ext cx="10922000" cy="5349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11"/>
              </a:lnSpc>
              <a:spcAft>
                <a:spcPts val="0"/>
              </a:spcAft>
              <a:defRPr sz="2900" b="1">
                <a:solidFill>
                  <a:srgbClr val="F2F5F7"/>
                </a:solidFill>
                <a:latin typeface="Arial"/>
              </a:defRPr>
            </a:pPr>
            <a:r>
              <a:t>Le criticità affrontate nel codice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295400"/>
            <a:ext cx="10922000" cy="2910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0">
                <a:solidFill>
                  <a:srgbClr val="AFBFCC"/>
                </a:solidFill>
                <a:latin typeface="Arial"/>
              </a:defRPr>
            </a:pPr>
            <a:r>
              <a:t>Problemi tecnici e relative soluzioni osservabili nell’implementazione.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6261100"/>
            <a:ext cx="11176000" cy="12700"/>
          </a:xfrm>
          <a:prstGeom prst="rect">
            <a:avLst/>
          </a:prstGeom>
          <a:solidFill>
            <a:srgbClr val="344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" y="6438900"/>
            <a:ext cx="10922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DUCK HUNT NL  /  VARISCO NICOLÒ · ANDRONI LORENZO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6600" y="6413500"/>
            <a:ext cx="8255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A9DF70"/>
                </a:solidFill>
                <a:latin typeface="Arial"/>
              </a:defRPr>
            </a:pPr>
            <a:r>
              <a:t>16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1968500"/>
            <a:ext cx="11176000" cy="1143000"/>
          </a:xfrm>
          <a:prstGeom prst="rect">
            <a:avLst/>
          </a:prstGeom>
          <a:solidFill>
            <a:srgbClr val="19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600" y="2120900"/>
            <a:ext cx="10922000" cy="3723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A9DF70"/>
                </a:solidFill>
                <a:latin typeface="Arial"/>
              </a:defRPr>
            </a:pPr>
            <a:r>
              <a:t>Attese pendenti e azioni fuori fase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600" y="2501900"/>
            <a:ext cx="10922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2F5F7"/>
                </a:solidFill>
                <a:latin typeface="Arial"/>
              </a:defRPr>
            </a:pPr>
            <a:r>
              <a:t>Gettone di partita + controlli sulla fase dopo await e prima dello sparo.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8000" y="3289300"/>
            <a:ext cx="11176000" cy="1143000"/>
          </a:xfrm>
          <a:prstGeom prst="rect">
            <a:avLst/>
          </a:prstGeom>
          <a:solidFill>
            <a:srgbClr val="19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3441700"/>
            <a:ext cx="10922000" cy="3723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A9DF70"/>
                </a:solidFill>
                <a:latin typeface="Arial"/>
              </a:defRPr>
            </a:pPr>
            <a:r>
              <a:t>Frame lenti e ridimensionamento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822700"/>
            <a:ext cx="10922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2F5F7"/>
                </a:solidFill>
                <a:latin typeface="Arial"/>
              </a:defRPr>
            </a:pPr>
            <a:r>
              <a:t>Delta time limitato; adattaCanvas riscala posizioni, velocità e risoluzione.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4610100"/>
            <a:ext cx="11176000" cy="1143000"/>
          </a:xfrm>
          <a:prstGeom prst="rect">
            <a:avLst/>
          </a:prstGeom>
          <a:solidFill>
            <a:srgbClr val="19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600" y="4762500"/>
            <a:ext cx="10922000" cy="3723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A9DF70"/>
                </a:solidFill>
                <a:latin typeface="Arial"/>
              </a:defRPr>
            </a:pPr>
            <a:r>
              <a:t>Risorse o salvataggio non disponibili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600" y="5143500"/>
            <a:ext cx="10922000" cy="3398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2F5F7"/>
                </a:solidFill>
                <a:latin typeface="Arial"/>
              </a:defRPr>
            </a:pPr>
            <a:r>
              <a:t>catch per le immagini; try/catch per localStorage; avvisi e avvio protetto.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17500"/>
            <a:ext cx="109220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A9DF70"/>
                </a:solidFill>
                <a:latin typeface="Arial"/>
              </a:defRPr>
            </a:pPr>
            <a:r>
              <a:t>07 / CONCLUSIONE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23900"/>
            <a:ext cx="10922000" cy="5349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11"/>
              </a:lnSpc>
              <a:spcAft>
                <a:spcPts val="0"/>
              </a:spcAft>
              <a:defRPr sz="2900" b="1">
                <a:solidFill>
                  <a:srgbClr val="F2F5F7"/>
                </a:solidFill>
                <a:latin typeface="Arial"/>
              </a:defRPr>
            </a:pPr>
            <a:r>
              <a:t>Grazie per l’attenzione!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295400"/>
            <a:ext cx="10922000" cy="2910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0">
                <a:solidFill>
                  <a:srgbClr val="AFBFCC"/>
                </a:solidFill>
                <a:latin typeface="Arial"/>
              </a:defRPr>
            </a:pPr>
            <a:r>
              <a:t>DUCK HUNT NL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6261100"/>
            <a:ext cx="11176000" cy="12700"/>
          </a:xfrm>
          <a:prstGeom prst="rect">
            <a:avLst/>
          </a:prstGeom>
          <a:solidFill>
            <a:srgbClr val="344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" y="6438900"/>
            <a:ext cx="10922000" cy="2098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FBFCC"/>
                </a:solidFill>
                <a:latin typeface="Arial"/>
              </a:defRPr>
            </a:pPr>
            <a:r>
              <a:t>DUCK HUNT NL  /  VARISCO NICOLÒ · ANDRONI LORENZO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6600" y="6413500"/>
            <a:ext cx="825500" cy="242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A9DF70"/>
                </a:solidFill>
                <a:latin typeface="Arial"/>
              </a:defRPr>
            </a:pPr>
            <a:r>
              <a:t>17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2044700"/>
            <a:ext cx="11176000" cy="3606800"/>
          </a:xfrm>
          <a:prstGeom prst="rect">
            <a:avLst/>
          </a:prstGeom>
          <a:solidFill>
            <a:srgbClr val="192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000" y="2590800"/>
            <a:ext cx="10160000" cy="583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96"/>
              </a:lnSpc>
              <a:spcAft>
                <a:spcPts val="0"/>
              </a:spcAft>
              <a:defRPr sz="3200" b="1">
                <a:solidFill>
                  <a:srgbClr val="A9DF70"/>
                </a:solidFill>
                <a:latin typeface="Arial"/>
              </a:defRPr>
            </a:pPr>
            <a:r>
              <a:t>Varisco Nicolò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276600"/>
            <a:ext cx="10160000" cy="583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96"/>
              </a:lnSpc>
              <a:spcAft>
                <a:spcPts val="0"/>
              </a:spcAft>
              <a:defRPr sz="3200" b="1">
                <a:solidFill>
                  <a:srgbClr val="A9DF70"/>
                </a:solidFill>
                <a:latin typeface="Arial"/>
              </a:defRPr>
            </a:pPr>
            <a:r>
              <a:t>Androni Lorenzo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67200"/>
            <a:ext cx="10160000" cy="4048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F2F5F7"/>
                </a:solidFill>
                <a:latin typeface="Arial"/>
              </a:defRPr>
            </a:pPr>
            <a:r>
              <a:t>Un sito per scoprire. Un gioco per mettersi alla prova.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914900"/>
            <a:ext cx="10160000" cy="3561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AFBFCC"/>
                </a:solidFill>
                <a:latin typeface="Arial"/>
              </a:defRPr>
            </a:pPr>
            <a:r>
              <a:t>Siamo pronti per le vostre domande.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Duck Hunt NL – Progetto e codice JavaScript</dc:title>
  <dc:subject/>
  <dc:creator>Varisco Nicolò · Androni Lorenzo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