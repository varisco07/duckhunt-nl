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Presentare il titolo e gli autori. Duck Hunt NL è un progetto web che combina un sito di presentazione e un gioco arcade nel browser. Le immagini e i video della presentazione sono acquisizioni reali del progetto. La grafica di copertina usa uno degli sfondi animati effettivamente presenti nel gioco.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di ingresso è index.html, che ora contiene il sito principale. I pulsanti Gioca portano a gioco.html. Dal gioco è presente il collegamento Torna al sito. I due obiettivi sono diversi: informare prima, far interagire poi.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Mostrare la gerarchia della homepage: titolo, breve descrizione, due pulsanti con priorità visive diverse e tre numeri che riassumono il gioco. Il menu porta alle sezioni della stessa pagina. Il sito usa gli stessi colori e le stesse ambientazioni del gioco per mantenere continuità.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schermata stretta mostra il sito a 390 pixel di larghezza. Il responsive riguarda l’impaginazione: spazi, griglie e dimensioni si adattano. Il supporto ai gesti touch del gioco è stato rimosso su richiesta; i comandi previsti sono mouse e tastiera. Non presentare quindi il progetto come un gioco per telefono.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Avviare il filmato in modalità presentazione. Il video, incorporato nel file PowerPoint, mostra lo scorrimento reale della homepage. Commentare brevemente come le sezioni rispondano alle domande del giocatore prima di iniziare. Il video è senza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Indicare il pannello in alto a destra: round corrente, bersagli già affrontati, punteggio, record e munizioni. La mira segue il puntatore. Le anatre sono GIF animate, mentre il mirino e i feedback dei colpi vengono disegnati sul canvas. Lo sfondo è un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Riprodurre il filmato in modalità presentazione. La clip mostra una sessione reale nel browser, con un puntatore controllato per dimostrare le azioni del gioco. A metà è mostrata la pausa. Il file MP4 è incorporato nel PowerPoint e non richiede Internet. Il filmato è senza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turno ha dieci bersagli. I turni sono cinque, quindi i bersagli totali sono cinquanta. Ogni papera consente tre tentativi: 100, 60 o 30 punti a seconda del colpo riuscito. Il massimo è 50 per 100, cioè 5000. Una papera è mancata se finisce il tempo, esce dal campo oppure si esauriscono i colpi.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sfondi sono video MP4 in pixel art. Il quarto e quinto round possono usare traiettorie a onda, zigzag e tuffo; nei primi tre la traiettoria è a onda. A ogni turno aumenta la velocità e diminuisce il tempo di volo disponibile. Il mirino bianco nell’ultimo turno migliora la visibilità sullo sfondo scuro.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campo combina tre tecniche. Un elemento video riproduce il paesaggio. Un elemento immagine posizionato mostra la GIF dell’anatra, cambiando sorgente per direzione e caduta. Il canvas disegna il mirino, il feedback dei colpi e il cane iniziale. L’HTML contiene punteggi, pulsanti e overlay. Questo evita di ridisegnare in JavaScript ciò che il browser può già riprodurre.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loop usa il tempo trascorso tra fotogrammi, limitato a 0,05 secondi per evitare salti troppo grandi. Ogni frame aggiorna la logica e richiama il disegno. La variabile fase determina cosa può succedere: pronta, traRound, inCorso, traBersagli, inPausa e conclusa. Dopo un bersaglio si torna a inCorso, oppure si passa al turno successivo. Un gettone della partita impedisce alle attese di una vecchia sessione di modificare una nuova partita.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è un estratto reale della funzione spara. La differenza assoluta tra coordinate misura la distanza lungo ciascun asse. Devono essere rispettate entrambe le soglie: la hitbox è quindi rettangolare. La variabile scala adatta le soglie alle dimensioni del campo. L’indice numeroColpo meno uno seleziona 100, 60 o 30 dall’array dei punti. Se il colpo è mancato, i punti sono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colpo produce un feedback diverso per successo e insuccesso. Quando la papera è colpita, viene mostrata la sua caduta. In pausa si fermano gli aggiornamenti della partita e il video di sfondo. Il record viene salvato in localStorage e letto all’avvio. Le operazioni di salvataggio sono protette da try/catch: se il browser impedisce la memorizzazione, il gioco segnala il problema e continua a funzionare.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gioco è sviluppato in HTML, CSS e JavaScript puro, senza framework o librerie di esecuzione. La presentazione è stata generata con strumenti separati, che non fanno parte dell’applicazione web. Il conteggio delle righe include quelle vuote ed è calcolato al momento della generazione. La semplificazione ha rimosso codice touch e duplicazioni e ha introdotto dati iniziali condivisi e una funzione comune per gli overlay. Il sito resta responsive.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Chiudere ricordando i tre risultati principali: una homepage chiara e responsive, un gioco completo in cinque scenari e una logica realizzata in JavaScript puro. Per una dimostrazione interattiva aprire index.html dalla cartella del progetto e premere Gioca ora. Ringraziare e lasciare spazio alle domande.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3" name="Text 1"/>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4" name="Text 2"/>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01</a:t>
            </a:r>
            <a:endParaRPr lang="en-US" sz="1100" dirty="0"/>
          </a:p>
        </p:txBody>
      </p:sp>
      <p:pic>
        <p:nvPicPr>
          <p:cNvPr id="5" name="Image 0" descr="C:\Users\varis\OneDrive\Desktop\duckhunt-NL\presentazione\media\paesaggio-2.png">    </p:cNvPr>
          <p:cNvPicPr>
            <a:picLocks noChangeAspect="1"/>
          </p:cNvPicPr>
          <p:nvPr/>
        </p:nvPicPr>
        <p:blipFill>
          <a:blip r:embed="rId1"/>
          <a:srcRect l="0" r="0" t="7813" b="7813"/>
          <a:stretch/>
        </p:blipFill>
        <p:spPr>
          <a:xfrm>
            <a:off x="0" y="0"/>
            <a:ext cx="12192000" cy="6858000"/>
          </a:xfrm>
          <a:prstGeom prst="rect">
            <a:avLst/>
          </a:prstGeom>
        </p:spPr>
      </p:pic>
      <p:sp>
        <p:nvSpPr>
          <p:cNvPr id="6" name="Shape 3"/>
          <p:cNvSpPr/>
          <p:nvPr/>
        </p:nvSpPr>
        <p:spPr>
          <a:xfrm>
            <a:off x="0" y="0"/>
            <a:ext cx="12192000" cy="6858000"/>
          </a:xfrm>
          <a:prstGeom prst="rect">
            <a:avLst/>
          </a:prstGeom>
          <a:solidFill>
            <a:srgbClr val="0B1220">
              <a:alpha val="66000"/>
            </a:srgbClr>
          </a:solidFill>
          <a:ln w="12700">
            <a:solidFill>
              <a:srgbClr val="0B1220">
                <a:alpha val="0"/>
              </a:srgbClr>
            </a:solidFill>
            <a:prstDash val="solid"/>
          </a:ln>
        </p:spPr>
      </p:sp>
      <p:sp>
        <p:nvSpPr>
          <p:cNvPr id="7" name="Shape 4"/>
          <p:cNvSpPr/>
          <p:nvPr/>
        </p:nvSpPr>
        <p:spPr>
          <a:xfrm>
            <a:off x="0" y="0"/>
            <a:ext cx="6583680" cy="6858000"/>
          </a:xfrm>
          <a:prstGeom prst="rect">
            <a:avLst/>
          </a:prstGeom>
          <a:solidFill>
            <a:srgbClr val="0B1220">
              <a:alpha val="94000"/>
            </a:srgbClr>
          </a:solidFill>
          <a:ln w="12700">
            <a:solidFill>
              <a:srgbClr val="0B1220">
                <a:alpha val="0"/>
              </a:srgbClr>
            </a:solidFill>
            <a:prstDash val="solid"/>
          </a:ln>
        </p:spPr>
      </p:sp>
      <p:sp>
        <p:nvSpPr>
          <p:cNvPr id="8" name="Shape 5"/>
          <p:cNvSpPr/>
          <p:nvPr/>
        </p:nvSpPr>
        <p:spPr>
          <a:xfrm>
            <a:off x="594360" y="585216"/>
            <a:ext cx="2770632" cy="292608"/>
          </a:xfrm>
          <a:prstGeom prst="rect">
            <a:avLst/>
          </a:prstGeom>
          <a:solidFill>
            <a:srgbClr val="F6CF58">
              <a:alpha val="12000"/>
            </a:srgbClr>
          </a:solidFill>
          <a:ln w="12700">
            <a:solidFill>
              <a:srgbClr val="F6CF58">
                <a:alpha val="0"/>
              </a:srgbClr>
            </a:solidFill>
            <a:prstDash val="solid"/>
          </a:ln>
        </p:spPr>
      </p:sp>
      <p:sp>
        <p:nvSpPr>
          <p:cNvPr id="9" name="Text 6"/>
          <p:cNvSpPr/>
          <p:nvPr/>
        </p:nvSpPr>
        <p:spPr>
          <a:xfrm>
            <a:off x="685800" y="644652"/>
            <a:ext cx="2587752" cy="182880"/>
          </a:xfrm>
          <a:prstGeom prst="rect">
            <a:avLst/>
          </a:prstGeom>
          <a:noFill/>
          <a:ln/>
        </p:spPr>
        <p:txBody>
          <a:bodyPr wrap="square" lIns="0" tIns="0" rIns="0" bIns="0" rtlCol="0" anchor="t"/>
          <a:lstStyle/>
          <a:p>
            <a:pPr algn="l" indent="0" marL="0">
              <a:buNone/>
            </a:pPr>
            <a:r>
              <a:rPr lang="en-US" sz="900" b="1" spc="140" kern="0" dirty="0">
                <a:solidFill>
                  <a:srgbClr val="F6CF58"/>
                </a:solidFill>
                <a:latin typeface="Arial" pitchFamily="34" charset="0"/>
                <a:ea typeface="Arial" pitchFamily="34" charset="-122"/>
                <a:cs typeface="Arial" pitchFamily="34" charset="-120"/>
              </a:rPr>
              <a:t>PROGETTO WEB / ARCADE</a:t>
            </a:r>
            <a:endParaRPr lang="en-US" sz="900" dirty="0"/>
          </a:p>
        </p:txBody>
      </p:sp>
      <p:sp>
        <p:nvSpPr>
          <p:cNvPr id="10" name="Text 7"/>
          <p:cNvSpPr/>
          <p:nvPr/>
        </p:nvSpPr>
        <p:spPr>
          <a:xfrm>
            <a:off x="548640" y="1353312"/>
            <a:ext cx="6492240" cy="2286000"/>
          </a:xfrm>
          <a:prstGeom prst="rect">
            <a:avLst/>
          </a:prstGeom>
          <a:noFill/>
          <a:ln/>
        </p:spPr>
        <p:txBody>
          <a:bodyPr wrap="square" lIns="0" tIns="0" rIns="0" bIns="0" rtlCol="0" anchor="t"/>
          <a:lstStyle/>
          <a:p>
            <a:pPr algn="l" indent="0" marL="0">
              <a:buNone/>
            </a:pPr>
            <a:r>
              <a:rPr lang="en-US" sz="7600" dirty="0">
                <a:solidFill>
                  <a:srgbClr val="F3F7FB"/>
                </a:solidFill>
                <a:latin typeface="Impact" pitchFamily="34" charset="0"/>
                <a:ea typeface="Impact" pitchFamily="34" charset="-122"/>
                <a:cs typeface="Impact" pitchFamily="34" charset="-120"/>
              </a:rPr>
              <a:t>DUCK</a:t>
            </a:r>
            <a:endParaRPr lang="en-US" sz="7600" dirty="0"/>
          </a:p>
          <a:p>
            <a:pPr algn="l" indent="0" marL="0">
              <a:buNone/>
            </a:pPr>
            <a:r>
              <a:rPr lang="en-US" sz="7600" dirty="0">
                <a:solidFill>
                  <a:srgbClr val="F3F7FB"/>
                </a:solidFill>
                <a:latin typeface="Impact" pitchFamily="34" charset="0"/>
                <a:ea typeface="Impact" pitchFamily="34" charset="-122"/>
                <a:cs typeface="Impact" pitchFamily="34" charset="-120"/>
              </a:rPr>
              <a:t>HUNT NL</a:t>
            </a:r>
            <a:endParaRPr lang="en-US" sz="7600" dirty="0"/>
          </a:p>
        </p:txBody>
      </p:sp>
      <p:sp>
        <p:nvSpPr>
          <p:cNvPr id="11" name="Shape 8"/>
          <p:cNvSpPr/>
          <p:nvPr/>
        </p:nvSpPr>
        <p:spPr>
          <a:xfrm>
            <a:off x="612648" y="3730752"/>
            <a:ext cx="950976" cy="64008"/>
          </a:xfrm>
          <a:prstGeom prst="rect">
            <a:avLst/>
          </a:prstGeom>
          <a:solidFill>
            <a:srgbClr val="F6CF58"/>
          </a:solidFill>
          <a:ln w="12700">
            <a:solidFill>
              <a:srgbClr val="F6CF58">
                <a:alpha val="0"/>
              </a:srgbClr>
            </a:solidFill>
            <a:prstDash val="solid"/>
          </a:ln>
        </p:spPr>
      </p:sp>
      <p:sp>
        <p:nvSpPr>
          <p:cNvPr id="12" name="Text 9"/>
          <p:cNvSpPr/>
          <p:nvPr/>
        </p:nvSpPr>
        <p:spPr>
          <a:xfrm>
            <a:off x="594360" y="4096512"/>
            <a:ext cx="5486400" cy="594360"/>
          </a:xfrm>
          <a:prstGeom prst="rect">
            <a:avLst/>
          </a:prstGeom>
          <a:noFill/>
          <a:ln/>
        </p:spPr>
        <p:txBody>
          <a:bodyPr wrap="square" lIns="0" tIns="0" rIns="0" bIns="0" rtlCol="0" anchor="t"/>
          <a:lstStyle/>
          <a:p>
            <a:pPr algn="l" indent="0" marL="0">
              <a:buNone/>
            </a:pPr>
            <a:r>
              <a:rPr lang="en-US" sz="3200" b="1" dirty="0">
                <a:solidFill>
                  <a:srgbClr val="F6CF58"/>
                </a:solidFill>
                <a:latin typeface="Bahnschrift" pitchFamily="34" charset="0"/>
                <a:ea typeface="Bahnschrift" pitchFamily="34" charset="-122"/>
                <a:cs typeface="Bahnschrift" pitchFamily="34" charset="-120"/>
              </a:rPr>
              <a:t>Dal sito al gioco.</a:t>
            </a:r>
            <a:endParaRPr lang="en-US" sz="3200" dirty="0"/>
          </a:p>
        </p:txBody>
      </p:sp>
      <p:sp>
        <p:nvSpPr>
          <p:cNvPr id="13" name="Text 10"/>
          <p:cNvSpPr/>
          <p:nvPr/>
        </p:nvSpPr>
        <p:spPr>
          <a:xfrm>
            <a:off x="621792" y="4828032"/>
            <a:ext cx="5303520" cy="786384"/>
          </a:xfrm>
          <a:prstGeom prst="rect">
            <a:avLst/>
          </a:prstGeom>
          <a:noFill/>
          <a:ln/>
        </p:spPr>
        <p:txBody>
          <a:bodyPr wrap="square" lIns="0" tIns="0" rIns="0" bIns="0" rtlCol="0" anchor="t"/>
          <a:lstStyle/>
          <a:p>
            <a:pPr algn="l" indent="0" marL="0">
              <a:buNone/>
            </a:pPr>
            <a:r>
              <a:rPr lang="en-US" sz="2000" dirty="0">
                <a:solidFill>
                  <a:srgbClr val="F3F7FB"/>
                </a:solidFill>
                <a:latin typeface="Arial" pitchFamily="34" charset="0"/>
                <a:ea typeface="Arial" pitchFamily="34" charset="-122"/>
                <a:cs typeface="Arial" pitchFamily="34" charset="-120"/>
              </a:rPr>
              <a:t>Un’esperienza arcade in pixel art,</a:t>
            </a:r>
            <a:endParaRPr lang="en-US" sz="2000" dirty="0"/>
          </a:p>
          <a:p>
            <a:pPr algn="l" indent="0" marL="0">
              <a:buNone/>
            </a:pPr>
            <a:r>
              <a:rPr lang="en-US" sz="2000" dirty="0">
                <a:solidFill>
                  <a:srgbClr val="F3F7FB"/>
                </a:solidFill>
                <a:latin typeface="Arial" pitchFamily="34" charset="0"/>
                <a:ea typeface="Arial" pitchFamily="34" charset="-122"/>
                <a:cs typeface="Arial" pitchFamily="34" charset="-120"/>
              </a:rPr>
              <a:t>costruita con HTML, CSS e JavaScript.</a:t>
            </a:r>
            <a:endParaRPr lang="en-US" sz="2000" dirty="0"/>
          </a:p>
        </p:txBody>
      </p:sp>
      <p:sp>
        <p:nvSpPr>
          <p:cNvPr id="14" name="Text 11"/>
          <p:cNvSpPr/>
          <p:nvPr/>
        </p:nvSpPr>
        <p:spPr>
          <a:xfrm>
            <a:off x="621792" y="5980176"/>
            <a:ext cx="5760720" cy="246888"/>
          </a:xfrm>
          <a:prstGeom prst="rect">
            <a:avLst/>
          </a:prstGeom>
          <a:noFill/>
          <a:ln/>
        </p:spPr>
        <p:txBody>
          <a:bodyPr wrap="square" lIns="0" tIns="0" rIns="0" bIns="0" rtlCol="0" anchor="t"/>
          <a:lstStyle/>
          <a:p>
            <a:pPr algn="l" indent="0" marL="0">
              <a:buNone/>
            </a:pPr>
            <a:r>
              <a:rPr lang="en-US" sz="1100" b="1" spc="110" kern="0" dirty="0">
                <a:solidFill>
                  <a:srgbClr val="A3B5CA"/>
                </a:solidFill>
                <a:latin typeface="Arial" pitchFamily="34" charset="0"/>
                <a:ea typeface="Arial" pitchFamily="34" charset="-122"/>
                <a:cs typeface="Arial" pitchFamily="34" charset="-120"/>
              </a:rPr>
              <a:t>VARISCO NICOLÒ · ANDRONI LORENZO</a:t>
            </a:r>
            <a:endParaRPr lang="en-US" sz="1100" dirty="0"/>
          </a:p>
        </p:txBody>
      </p:sp>
      <p:sp>
        <p:nvSpPr>
          <p:cNvPr id="15" name="Shape 12"/>
          <p:cNvSpPr/>
          <p:nvPr/>
        </p:nvSpPr>
        <p:spPr>
          <a:xfrm>
            <a:off x="8961120" y="5330952"/>
            <a:ext cx="1554480" cy="292608"/>
          </a:xfrm>
          <a:prstGeom prst="rect">
            <a:avLst/>
          </a:prstGeom>
          <a:solidFill>
            <a:srgbClr val="F6CF58">
              <a:alpha val="12000"/>
            </a:srgbClr>
          </a:solidFill>
          <a:ln w="12700">
            <a:solidFill>
              <a:srgbClr val="F6CF58">
                <a:alpha val="0"/>
              </a:srgbClr>
            </a:solidFill>
            <a:prstDash val="solid"/>
          </a:ln>
        </p:spPr>
      </p:sp>
      <p:sp>
        <p:nvSpPr>
          <p:cNvPr id="16" name="Text 13"/>
          <p:cNvSpPr/>
          <p:nvPr/>
        </p:nvSpPr>
        <p:spPr>
          <a:xfrm>
            <a:off x="9052560" y="5390388"/>
            <a:ext cx="1371600" cy="182880"/>
          </a:xfrm>
          <a:prstGeom prst="rect">
            <a:avLst/>
          </a:prstGeom>
          <a:noFill/>
          <a:ln/>
        </p:spPr>
        <p:txBody>
          <a:bodyPr wrap="square" lIns="0" tIns="0" rIns="0" bIns="0" rtlCol="0" anchor="t"/>
          <a:lstStyle/>
          <a:p>
            <a:pPr algn="l" indent="0" marL="0">
              <a:buNone/>
            </a:pPr>
            <a:r>
              <a:rPr lang="en-US" sz="900" b="1" spc="140" kern="0" dirty="0">
                <a:solidFill>
                  <a:srgbClr val="F6CF58"/>
                </a:solidFill>
                <a:latin typeface="Arial" pitchFamily="34" charset="0"/>
                <a:ea typeface="Arial" pitchFamily="34" charset="-122"/>
                <a:cs typeface="Arial" pitchFamily="34" charset="-120"/>
              </a:rPr>
              <a:t>5 ROUND</a:t>
            </a:r>
            <a:endParaRPr lang="en-US" sz="900" dirty="0"/>
          </a:p>
        </p:txBody>
      </p:sp>
      <p:sp>
        <p:nvSpPr>
          <p:cNvPr id="17" name="Shape 14"/>
          <p:cNvSpPr/>
          <p:nvPr/>
        </p:nvSpPr>
        <p:spPr>
          <a:xfrm>
            <a:off x="8961120" y="5751576"/>
            <a:ext cx="1883664" cy="292608"/>
          </a:xfrm>
          <a:prstGeom prst="rect">
            <a:avLst/>
          </a:prstGeom>
          <a:solidFill>
            <a:srgbClr val="F3F7FB">
              <a:alpha val="12000"/>
            </a:srgbClr>
          </a:solidFill>
          <a:ln w="12700">
            <a:solidFill>
              <a:srgbClr val="F3F7FB">
                <a:alpha val="0"/>
              </a:srgbClr>
            </a:solidFill>
            <a:prstDash val="solid"/>
          </a:ln>
        </p:spPr>
      </p:sp>
      <p:sp>
        <p:nvSpPr>
          <p:cNvPr id="18" name="Text 15"/>
          <p:cNvSpPr/>
          <p:nvPr/>
        </p:nvSpPr>
        <p:spPr>
          <a:xfrm>
            <a:off x="9052560" y="5811012"/>
            <a:ext cx="1700784" cy="182880"/>
          </a:xfrm>
          <a:prstGeom prst="rect">
            <a:avLst/>
          </a:prstGeom>
          <a:noFill/>
          <a:ln/>
        </p:spPr>
        <p:txBody>
          <a:bodyPr wrap="square" lIns="0" tIns="0" rIns="0" bIns="0" rtlCol="0" anchor="t"/>
          <a:lstStyle/>
          <a:p>
            <a:pPr algn="l" indent="0" marL="0">
              <a:buNone/>
            </a:pPr>
            <a:r>
              <a:rPr lang="en-US" sz="900" b="1" spc="140" kern="0" dirty="0">
                <a:solidFill>
                  <a:srgbClr val="F3F7FB"/>
                </a:solidFill>
                <a:latin typeface="Arial" pitchFamily="34" charset="0"/>
                <a:ea typeface="Arial" pitchFamily="34" charset="-122"/>
                <a:cs typeface="Arial" pitchFamily="34" charset="-120"/>
              </a:rPr>
              <a:t>50 BERSAGLI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01 / L’IDEA</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Un progetto. Due esperienze.</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Il sito spiega il gioco. Il gioco mette alla prova la mira.</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02</a:t>
            </a:r>
            <a:endParaRPr lang="en-US" sz="1100" dirty="0"/>
          </a:p>
        </p:txBody>
      </p:sp>
      <p:sp>
        <p:nvSpPr>
          <p:cNvPr id="8" name="Shape 6"/>
          <p:cNvSpPr/>
          <p:nvPr/>
        </p:nvSpPr>
        <p:spPr>
          <a:xfrm>
            <a:off x="516636" y="2116836"/>
            <a:ext cx="5367528" cy="3383280"/>
          </a:xfrm>
          <a:prstGeom prst="rect">
            <a:avLst/>
          </a:prstGeom>
          <a:solidFill>
            <a:srgbClr val="2A3C55"/>
          </a:solidFill>
          <a:ln w="12700">
            <a:solidFill>
              <a:srgbClr val="2A3C55">
                <a:alpha val="0"/>
              </a:srgbClr>
            </a:solidFill>
            <a:prstDash val="solid"/>
          </a:ln>
        </p:spPr>
      </p:sp>
      <p:sp>
        <p:nvSpPr>
          <p:cNvPr id="9" name="Shape 7"/>
          <p:cNvSpPr/>
          <p:nvPr/>
        </p:nvSpPr>
        <p:spPr>
          <a:xfrm>
            <a:off x="548640" y="2148840"/>
            <a:ext cx="5303520" cy="265176"/>
          </a:xfrm>
          <a:prstGeom prst="rect">
            <a:avLst/>
          </a:prstGeom>
          <a:solidFill>
            <a:srgbClr val="142238"/>
          </a:solidFill>
          <a:ln w="12700">
            <a:solidFill>
              <a:srgbClr val="142238">
                <a:alpha val="0"/>
              </a:srgbClr>
            </a:solidFill>
            <a:prstDash val="solid"/>
          </a:ln>
        </p:spPr>
      </p:sp>
      <p:sp>
        <p:nvSpPr>
          <p:cNvPr id="10" name="Shape 8"/>
          <p:cNvSpPr/>
          <p:nvPr/>
        </p:nvSpPr>
        <p:spPr>
          <a:xfrm>
            <a:off x="649224" y="2249424"/>
            <a:ext cx="50292" cy="50292"/>
          </a:xfrm>
          <a:prstGeom prst="rect">
            <a:avLst/>
          </a:prstGeom>
          <a:solidFill>
            <a:srgbClr val="F6CF58"/>
          </a:solidFill>
          <a:ln w="12700">
            <a:solidFill>
              <a:srgbClr val="F6CF58">
                <a:alpha val="0"/>
              </a:srgbClr>
            </a:solidFill>
            <a:prstDash val="solid"/>
          </a:ln>
        </p:spPr>
      </p:sp>
      <p:sp>
        <p:nvSpPr>
          <p:cNvPr id="11" name="Shape 9"/>
          <p:cNvSpPr/>
          <p:nvPr/>
        </p:nvSpPr>
        <p:spPr>
          <a:xfrm>
            <a:off x="768096" y="2249424"/>
            <a:ext cx="50292" cy="50292"/>
          </a:xfrm>
          <a:prstGeom prst="rect">
            <a:avLst/>
          </a:prstGeom>
          <a:solidFill>
            <a:srgbClr val="94D77A"/>
          </a:solidFill>
          <a:ln w="12700">
            <a:solidFill>
              <a:srgbClr val="94D77A">
                <a:alpha val="0"/>
              </a:srgbClr>
            </a:solidFill>
            <a:prstDash val="solid"/>
          </a:ln>
        </p:spPr>
      </p:sp>
      <p:sp>
        <p:nvSpPr>
          <p:cNvPr id="12" name="Shape 10"/>
          <p:cNvSpPr/>
          <p:nvPr/>
        </p:nvSpPr>
        <p:spPr>
          <a:xfrm>
            <a:off x="886968" y="2249424"/>
            <a:ext cx="50292" cy="50292"/>
          </a:xfrm>
          <a:prstGeom prst="rect">
            <a:avLst/>
          </a:prstGeom>
          <a:solidFill>
            <a:srgbClr val="4BBEFF"/>
          </a:solidFill>
          <a:ln w="12700">
            <a:solidFill>
              <a:srgbClr val="4BBEFF">
                <a:alpha val="0"/>
              </a:srgbClr>
            </a:solidFill>
            <a:prstDash val="solid"/>
          </a:ln>
        </p:spPr>
      </p:sp>
      <p:sp>
        <p:nvSpPr>
          <p:cNvPr id="13" name="Text 11"/>
          <p:cNvSpPr/>
          <p:nvPr/>
        </p:nvSpPr>
        <p:spPr>
          <a:xfrm>
            <a:off x="1124712" y="2212848"/>
            <a:ext cx="4572000" cy="155448"/>
          </a:xfrm>
          <a:prstGeom prst="rect">
            <a:avLst/>
          </a:prstGeom>
          <a:noFill/>
          <a:ln/>
        </p:spPr>
        <p:txBody>
          <a:bodyPr wrap="square" lIns="0" tIns="0" rIns="0" bIns="0" rtlCol="0" anchor="t"/>
          <a:lstStyle/>
          <a:p>
            <a:pPr algn="l" indent="0" marL="0">
              <a:buNone/>
            </a:pPr>
            <a:r>
              <a:rPr lang="en-US" sz="800" dirty="0">
                <a:solidFill>
                  <a:srgbClr val="A3B5CA"/>
                </a:solidFill>
                <a:latin typeface="Arial" pitchFamily="34" charset="0"/>
                <a:ea typeface="Arial" pitchFamily="34" charset="-122"/>
                <a:cs typeface="Arial" pitchFamily="34" charset="-120"/>
              </a:rPr>
              <a:t>index.html / sito principale</a:t>
            </a:r>
            <a:endParaRPr lang="en-US" sz="800" dirty="0"/>
          </a:p>
        </p:txBody>
      </p:sp>
      <p:pic>
        <p:nvPicPr>
          <p:cNvPr id="14" name="Image 0" descr="C:\Users\varis\OneDrive\Desktop\duckhunt-NL\presentazione\media\sito-desktop.png">    </p:cNvPr>
          <p:cNvPicPr>
            <a:picLocks noChangeAspect="1"/>
          </p:cNvPicPr>
          <p:nvPr/>
        </p:nvPicPr>
        <p:blipFill>
          <a:blip r:embed="rId1"/>
          <a:stretch>
            <a:fillRect/>
          </a:stretch>
        </p:blipFill>
        <p:spPr>
          <a:xfrm>
            <a:off x="757123" y="2414016"/>
            <a:ext cx="4886554" cy="3054096"/>
          </a:xfrm>
          <a:prstGeom prst="rect">
            <a:avLst/>
          </a:prstGeom>
        </p:spPr>
      </p:pic>
      <p:sp>
        <p:nvSpPr>
          <p:cNvPr id="15" name="Shape 12"/>
          <p:cNvSpPr/>
          <p:nvPr/>
        </p:nvSpPr>
        <p:spPr>
          <a:xfrm>
            <a:off x="6295644" y="2116836"/>
            <a:ext cx="5367528" cy="3383280"/>
          </a:xfrm>
          <a:prstGeom prst="rect">
            <a:avLst/>
          </a:prstGeom>
          <a:solidFill>
            <a:srgbClr val="2A3C55"/>
          </a:solidFill>
          <a:ln w="12700">
            <a:solidFill>
              <a:srgbClr val="2A3C55">
                <a:alpha val="0"/>
              </a:srgbClr>
            </a:solidFill>
            <a:prstDash val="solid"/>
          </a:ln>
        </p:spPr>
      </p:sp>
      <p:sp>
        <p:nvSpPr>
          <p:cNvPr id="16" name="Shape 13"/>
          <p:cNvSpPr/>
          <p:nvPr/>
        </p:nvSpPr>
        <p:spPr>
          <a:xfrm>
            <a:off x="6327648" y="2148840"/>
            <a:ext cx="5303520" cy="265176"/>
          </a:xfrm>
          <a:prstGeom prst="rect">
            <a:avLst/>
          </a:prstGeom>
          <a:solidFill>
            <a:srgbClr val="142238"/>
          </a:solidFill>
          <a:ln w="12700">
            <a:solidFill>
              <a:srgbClr val="142238">
                <a:alpha val="0"/>
              </a:srgbClr>
            </a:solidFill>
            <a:prstDash val="solid"/>
          </a:ln>
        </p:spPr>
      </p:sp>
      <p:sp>
        <p:nvSpPr>
          <p:cNvPr id="17" name="Shape 14"/>
          <p:cNvSpPr/>
          <p:nvPr/>
        </p:nvSpPr>
        <p:spPr>
          <a:xfrm>
            <a:off x="6428232" y="2249424"/>
            <a:ext cx="50292" cy="50292"/>
          </a:xfrm>
          <a:prstGeom prst="rect">
            <a:avLst/>
          </a:prstGeom>
          <a:solidFill>
            <a:srgbClr val="F6CF58"/>
          </a:solidFill>
          <a:ln w="12700">
            <a:solidFill>
              <a:srgbClr val="F6CF58">
                <a:alpha val="0"/>
              </a:srgbClr>
            </a:solidFill>
            <a:prstDash val="solid"/>
          </a:ln>
        </p:spPr>
      </p:sp>
      <p:sp>
        <p:nvSpPr>
          <p:cNvPr id="18" name="Shape 15"/>
          <p:cNvSpPr/>
          <p:nvPr/>
        </p:nvSpPr>
        <p:spPr>
          <a:xfrm>
            <a:off x="6547104" y="2249424"/>
            <a:ext cx="50292" cy="50292"/>
          </a:xfrm>
          <a:prstGeom prst="rect">
            <a:avLst/>
          </a:prstGeom>
          <a:solidFill>
            <a:srgbClr val="94D77A"/>
          </a:solidFill>
          <a:ln w="12700">
            <a:solidFill>
              <a:srgbClr val="94D77A">
                <a:alpha val="0"/>
              </a:srgbClr>
            </a:solidFill>
            <a:prstDash val="solid"/>
          </a:ln>
        </p:spPr>
      </p:sp>
      <p:sp>
        <p:nvSpPr>
          <p:cNvPr id="19" name="Shape 16"/>
          <p:cNvSpPr/>
          <p:nvPr/>
        </p:nvSpPr>
        <p:spPr>
          <a:xfrm>
            <a:off x="6665976" y="2249424"/>
            <a:ext cx="50292" cy="50292"/>
          </a:xfrm>
          <a:prstGeom prst="rect">
            <a:avLst/>
          </a:prstGeom>
          <a:solidFill>
            <a:srgbClr val="4BBEFF"/>
          </a:solidFill>
          <a:ln w="12700">
            <a:solidFill>
              <a:srgbClr val="4BBEFF">
                <a:alpha val="0"/>
              </a:srgbClr>
            </a:solidFill>
            <a:prstDash val="solid"/>
          </a:ln>
        </p:spPr>
      </p:sp>
      <p:sp>
        <p:nvSpPr>
          <p:cNvPr id="20" name="Text 17"/>
          <p:cNvSpPr/>
          <p:nvPr/>
        </p:nvSpPr>
        <p:spPr>
          <a:xfrm>
            <a:off x="6903720" y="2212848"/>
            <a:ext cx="4572000" cy="155448"/>
          </a:xfrm>
          <a:prstGeom prst="rect">
            <a:avLst/>
          </a:prstGeom>
          <a:noFill/>
          <a:ln/>
        </p:spPr>
        <p:txBody>
          <a:bodyPr wrap="square" lIns="0" tIns="0" rIns="0" bIns="0" rtlCol="0" anchor="t"/>
          <a:lstStyle/>
          <a:p>
            <a:pPr algn="l" indent="0" marL="0">
              <a:buNone/>
            </a:pPr>
            <a:r>
              <a:rPr lang="en-US" sz="800" dirty="0">
                <a:solidFill>
                  <a:srgbClr val="A3B5CA"/>
                </a:solidFill>
                <a:latin typeface="Arial" pitchFamily="34" charset="0"/>
                <a:ea typeface="Arial" pitchFamily="34" charset="-122"/>
                <a:cs typeface="Arial" pitchFamily="34" charset="-120"/>
              </a:rPr>
              <a:t>gioco.html / esperienza interattiva</a:t>
            </a:r>
            <a:endParaRPr lang="en-US" sz="800" dirty="0"/>
          </a:p>
        </p:txBody>
      </p:sp>
      <p:pic>
        <p:nvPicPr>
          <p:cNvPr id="21" name="Image 1" descr="C:\Users\varis\OneDrive\Desktop\duckhunt-NL\presentazione\media\gioco-azione.png">    </p:cNvPr>
          <p:cNvPicPr>
            <a:picLocks noChangeAspect="1"/>
          </p:cNvPicPr>
          <p:nvPr/>
        </p:nvPicPr>
        <p:blipFill>
          <a:blip r:embed="rId2"/>
          <a:stretch>
            <a:fillRect/>
          </a:stretch>
        </p:blipFill>
        <p:spPr>
          <a:xfrm>
            <a:off x="6327648" y="2449449"/>
            <a:ext cx="5303520" cy="2983230"/>
          </a:xfrm>
          <a:prstGeom prst="rect">
            <a:avLst/>
          </a:prstGeom>
        </p:spPr>
      </p:pic>
      <p:sp>
        <p:nvSpPr>
          <p:cNvPr id="22" name="Text 18"/>
          <p:cNvSpPr/>
          <p:nvPr/>
        </p:nvSpPr>
        <p:spPr>
          <a:xfrm>
            <a:off x="585216" y="5696712"/>
            <a:ext cx="3657600" cy="237744"/>
          </a:xfrm>
          <a:prstGeom prst="rect">
            <a:avLst/>
          </a:prstGeom>
          <a:noFill/>
          <a:ln/>
        </p:spPr>
        <p:txBody>
          <a:bodyPr wrap="square" lIns="0" tIns="0" rIns="0" bIns="0" rtlCol="0" anchor="t"/>
          <a:lstStyle/>
          <a:p>
            <a:pPr algn="l" indent="0" marL="0">
              <a:buNone/>
            </a:pPr>
            <a:r>
              <a:rPr lang="en-US" sz="1200" b="1" spc="150" kern="0" dirty="0">
                <a:solidFill>
                  <a:srgbClr val="4BBEFF"/>
                </a:solidFill>
                <a:latin typeface="Arial" pitchFamily="34" charset="0"/>
                <a:ea typeface="Arial" pitchFamily="34" charset="-122"/>
                <a:cs typeface="Arial" pitchFamily="34" charset="-120"/>
              </a:rPr>
              <a:t>SCOPRIRE</a:t>
            </a:r>
            <a:endParaRPr lang="en-US" sz="1200" dirty="0"/>
          </a:p>
        </p:txBody>
      </p:sp>
      <p:sp>
        <p:nvSpPr>
          <p:cNvPr id="23" name="Text 19"/>
          <p:cNvSpPr/>
          <p:nvPr/>
        </p:nvSpPr>
        <p:spPr>
          <a:xfrm>
            <a:off x="585216" y="6044184"/>
            <a:ext cx="5394960" cy="228600"/>
          </a:xfrm>
          <a:prstGeom prst="rect">
            <a:avLst/>
          </a:prstGeom>
          <a:noFill/>
          <a:ln/>
        </p:spPr>
        <p:txBody>
          <a:bodyPr wrap="square" lIns="0" tIns="0" rIns="0" bIns="0" rtlCol="0" anchor="t"/>
          <a:lstStyle/>
          <a:p>
            <a:pPr algn="l" indent="0" marL="0">
              <a:buNone/>
            </a:pPr>
            <a:r>
              <a:rPr lang="en-US" sz="1400" dirty="0">
                <a:solidFill>
                  <a:srgbClr val="A3B5CA"/>
                </a:solidFill>
                <a:latin typeface="Arial" pitchFamily="34" charset="0"/>
                <a:ea typeface="Arial" pitchFamily="34" charset="-122"/>
                <a:cs typeface="Arial" pitchFamily="34" charset="-120"/>
              </a:rPr>
              <a:t>Regole, comandi, punteggio e scenari.</a:t>
            </a:r>
            <a:endParaRPr lang="en-US" sz="1400" dirty="0"/>
          </a:p>
        </p:txBody>
      </p:sp>
      <p:sp>
        <p:nvSpPr>
          <p:cNvPr id="24" name="Text 20"/>
          <p:cNvSpPr/>
          <p:nvPr/>
        </p:nvSpPr>
        <p:spPr>
          <a:xfrm>
            <a:off x="6364224" y="5696712"/>
            <a:ext cx="3657600" cy="237744"/>
          </a:xfrm>
          <a:prstGeom prst="rect">
            <a:avLst/>
          </a:prstGeom>
          <a:noFill/>
          <a:ln/>
        </p:spPr>
        <p:txBody>
          <a:bodyPr wrap="square" lIns="0" tIns="0" rIns="0" bIns="0" rtlCol="0" anchor="t"/>
          <a:lstStyle/>
          <a:p>
            <a:pPr algn="l" indent="0" marL="0">
              <a:buNone/>
            </a:pPr>
            <a:r>
              <a:rPr lang="en-US" sz="1200" b="1" spc="150" kern="0" dirty="0">
                <a:solidFill>
                  <a:srgbClr val="F6CF58"/>
                </a:solidFill>
                <a:latin typeface="Arial" pitchFamily="34" charset="0"/>
                <a:ea typeface="Arial" pitchFamily="34" charset="-122"/>
                <a:cs typeface="Arial" pitchFamily="34" charset="-120"/>
              </a:rPr>
              <a:t>GIOCARE</a:t>
            </a:r>
            <a:endParaRPr lang="en-US" sz="1200" dirty="0"/>
          </a:p>
        </p:txBody>
      </p:sp>
      <p:sp>
        <p:nvSpPr>
          <p:cNvPr id="25" name="Text 21"/>
          <p:cNvSpPr/>
          <p:nvPr/>
        </p:nvSpPr>
        <p:spPr>
          <a:xfrm>
            <a:off x="6364224" y="6044184"/>
            <a:ext cx="5394960" cy="228600"/>
          </a:xfrm>
          <a:prstGeom prst="rect">
            <a:avLst/>
          </a:prstGeom>
          <a:noFill/>
          <a:ln/>
        </p:spPr>
        <p:txBody>
          <a:bodyPr wrap="square" lIns="0" tIns="0" rIns="0" bIns="0" rtlCol="0" anchor="t"/>
          <a:lstStyle/>
          <a:p>
            <a:pPr algn="l" indent="0" marL="0">
              <a:buNone/>
            </a:pPr>
            <a:r>
              <a:rPr lang="en-US" sz="1400" dirty="0">
                <a:solidFill>
                  <a:srgbClr val="A3B5CA"/>
                </a:solidFill>
                <a:latin typeface="Arial" pitchFamily="34" charset="0"/>
                <a:ea typeface="Arial" pitchFamily="34" charset="-122"/>
                <a:cs typeface="Arial" pitchFamily="34" charset="-120"/>
              </a:rPr>
              <a:t>Una partita completa, senza installazioni.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02 / IL SITO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Una pagina che accompagna al primo clic.</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Una struttura semplice: capire le regole e arrivare subito al gioco.</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03</a:t>
            </a:r>
            <a:endParaRPr lang="en-US" sz="1100" dirty="0"/>
          </a:p>
        </p:txBody>
      </p:sp>
      <p:sp>
        <p:nvSpPr>
          <p:cNvPr id="8" name="Shape 6"/>
          <p:cNvSpPr/>
          <p:nvPr/>
        </p:nvSpPr>
        <p:spPr>
          <a:xfrm>
            <a:off x="516636" y="2025396"/>
            <a:ext cx="7726680" cy="4169664"/>
          </a:xfrm>
          <a:prstGeom prst="rect">
            <a:avLst/>
          </a:prstGeom>
          <a:solidFill>
            <a:srgbClr val="2A3C55"/>
          </a:solidFill>
          <a:ln w="12700">
            <a:solidFill>
              <a:srgbClr val="2A3C55">
                <a:alpha val="0"/>
              </a:srgbClr>
            </a:solidFill>
            <a:prstDash val="solid"/>
          </a:ln>
        </p:spPr>
      </p:sp>
      <p:sp>
        <p:nvSpPr>
          <p:cNvPr id="9" name="Shape 7"/>
          <p:cNvSpPr/>
          <p:nvPr/>
        </p:nvSpPr>
        <p:spPr>
          <a:xfrm>
            <a:off x="548640" y="2057400"/>
            <a:ext cx="7662672" cy="265176"/>
          </a:xfrm>
          <a:prstGeom prst="rect">
            <a:avLst/>
          </a:prstGeom>
          <a:solidFill>
            <a:srgbClr val="142238"/>
          </a:solidFill>
          <a:ln w="12700">
            <a:solidFill>
              <a:srgbClr val="142238">
                <a:alpha val="0"/>
              </a:srgbClr>
            </a:solidFill>
            <a:prstDash val="solid"/>
          </a:ln>
        </p:spPr>
      </p:sp>
      <p:sp>
        <p:nvSpPr>
          <p:cNvPr id="10" name="Shape 8"/>
          <p:cNvSpPr/>
          <p:nvPr/>
        </p:nvSpPr>
        <p:spPr>
          <a:xfrm>
            <a:off x="649224" y="2157984"/>
            <a:ext cx="50292" cy="50292"/>
          </a:xfrm>
          <a:prstGeom prst="rect">
            <a:avLst/>
          </a:prstGeom>
          <a:solidFill>
            <a:srgbClr val="F6CF58"/>
          </a:solidFill>
          <a:ln w="12700">
            <a:solidFill>
              <a:srgbClr val="F6CF58">
                <a:alpha val="0"/>
              </a:srgbClr>
            </a:solidFill>
            <a:prstDash val="solid"/>
          </a:ln>
        </p:spPr>
      </p:sp>
      <p:sp>
        <p:nvSpPr>
          <p:cNvPr id="11" name="Shape 9"/>
          <p:cNvSpPr/>
          <p:nvPr/>
        </p:nvSpPr>
        <p:spPr>
          <a:xfrm>
            <a:off x="768096" y="2157984"/>
            <a:ext cx="50292" cy="50292"/>
          </a:xfrm>
          <a:prstGeom prst="rect">
            <a:avLst/>
          </a:prstGeom>
          <a:solidFill>
            <a:srgbClr val="94D77A"/>
          </a:solidFill>
          <a:ln w="12700">
            <a:solidFill>
              <a:srgbClr val="94D77A">
                <a:alpha val="0"/>
              </a:srgbClr>
            </a:solidFill>
            <a:prstDash val="solid"/>
          </a:ln>
        </p:spPr>
      </p:sp>
      <p:sp>
        <p:nvSpPr>
          <p:cNvPr id="12" name="Shape 10"/>
          <p:cNvSpPr/>
          <p:nvPr/>
        </p:nvSpPr>
        <p:spPr>
          <a:xfrm>
            <a:off x="886968" y="2157984"/>
            <a:ext cx="50292" cy="50292"/>
          </a:xfrm>
          <a:prstGeom prst="rect">
            <a:avLst/>
          </a:prstGeom>
          <a:solidFill>
            <a:srgbClr val="4BBEFF"/>
          </a:solidFill>
          <a:ln w="12700">
            <a:solidFill>
              <a:srgbClr val="4BBEFF">
                <a:alpha val="0"/>
              </a:srgbClr>
            </a:solidFill>
            <a:prstDash val="solid"/>
          </a:ln>
        </p:spPr>
      </p:sp>
      <p:sp>
        <p:nvSpPr>
          <p:cNvPr id="13" name="Text 11"/>
          <p:cNvSpPr/>
          <p:nvPr/>
        </p:nvSpPr>
        <p:spPr>
          <a:xfrm>
            <a:off x="1124712" y="2121408"/>
            <a:ext cx="6931152" cy="155448"/>
          </a:xfrm>
          <a:prstGeom prst="rect">
            <a:avLst/>
          </a:prstGeom>
          <a:noFill/>
          <a:ln/>
        </p:spPr>
        <p:txBody>
          <a:bodyPr wrap="square" lIns="0" tIns="0" rIns="0" bIns="0" rtlCol="0" anchor="t"/>
          <a:lstStyle/>
          <a:p>
            <a:pPr algn="l" indent="0" marL="0">
              <a:buNone/>
            </a:pPr>
            <a:r>
              <a:rPr lang="en-US" sz="800" dirty="0">
                <a:solidFill>
                  <a:srgbClr val="A3B5CA"/>
                </a:solidFill>
                <a:latin typeface="Arial" pitchFamily="34" charset="0"/>
                <a:ea typeface="Arial" pitchFamily="34" charset="-122"/>
                <a:cs typeface="Arial" pitchFamily="34" charset="-120"/>
              </a:rPr>
              <a:t>DUCK HUNT NL / homepage reale</a:t>
            </a:r>
            <a:endParaRPr lang="en-US" sz="800" dirty="0"/>
          </a:p>
        </p:txBody>
      </p:sp>
      <p:pic>
        <p:nvPicPr>
          <p:cNvPr id="14" name="Image 0" descr="C:\Users\varis\OneDrive\Desktop\duckhunt-NL\presentazione\media\sito-desktop.png">    </p:cNvPr>
          <p:cNvPicPr>
            <a:picLocks noChangeAspect="1"/>
          </p:cNvPicPr>
          <p:nvPr/>
        </p:nvPicPr>
        <p:blipFill>
          <a:blip r:embed="rId1"/>
          <a:stretch>
            <a:fillRect/>
          </a:stretch>
        </p:blipFill>
        <p:spPr>
          <a:xfrm>
            <a:off x="1307592" y="2322576"/>
            <a:ext cx="6144768" cy="3840480"/>
          </a:xfrm>
          <a:prstGeom prst="rect">
            <a:avLst/>
          </a:prstGeom>
        </p:spPr>
      </p:pic>
      <p:sp>
        <p:nvSpPr>
          <p:cNvPr id="15" name="Text 12"/>
          <p:cNvSpPr/>
          <p:nvPr/>
        </p:nvSpPr>
        <p:spPr>
          <a:xfrm>
            <a:off x="8622792" y="2231136"/>
            <a:ext cx="548640" cy="393192"/>
          </a:xfrm>
          <a:prstGeom prst="rect">
            <a:avLst/>
          </a:prstGeom>
          <a:noFill/>
          <a:ln/>
        </p:spPr>
        <p:txBody>
          <a:bodyPr wrap="square" lIns="0" tIns="0" rIns="0" bIns="0" rtlCol="0" anchor="t"/>
          <a:lstStyle/>
          <a:p>
            <a:pPr algn="l" indent="0" marL="0">
              <a:buNone/>
            </a:pPr>
            <a:r>
              <a:rPr lang="en-US" sz="2800" b="1" dirty="0">
                <a:solidFill>
                  <a:srgbClr val="F6CF58"/>
                </a:solidFill>
                <a:latin typeface="Arial" pitchFamily="34" charset="0"/>
                <a:ea typeface="Arial" pitchFamily="34" charset="-122"/>
                <a:cs typeface="Arial" pitchFamily="34" charset="-120"/>
              </a:rPr>
              <a:t>01</a:t>
            </a:r>
            <a:endParaRPr lang="en-US" sz="2800" dirty="0"/>
          </a:p>
        </p:txBody>
      </p:sp>
      <p:sp>
        <p:nvSpPr>
          <p:cNvPr id="16" name="Text 13"/>
          <p:cNvSpPr/>
          <p:nvPr/>
        </p:nvSpPr>
        <p:spPr>
          <a:xfrm>
            <a:off x="9262872" y="2267712"/>
            <a:ext cx="2377440" cy="365760"/>
          </a:xfrm>
          <a:prstGeom prst="rect">
            <a:avLst/>
          </a:prstGeom>
          <a:noFill/>
          <a:ln/>
        </p:spPr>
        <p:txBody>
          <a:bodyPr wrap="square" lIns="0" tIns="0" rIns="0" bIns="0" rtlCol="0" anchor="t"/>
          <a:lstStyle/>
          <a:p>
            <a:pPr algn="l" indent="0" marL="0">
              <a:buNone/>
            </a:pPr>
            <a:r>
              <a:rPr lang="en-US" sz="1900" b="1" dirty="0">
                <a:solidFill>
                  <a:srgbClr val="F3F7FB"/>
                </a:solidFill>
                <a:latin typeface="Arial" pitchFamily="34" charset="0"/>
                <a:ea typeface="Arial" pitchFamily="34" charset="-122"/>
                <a:cs typeface="Arial" pitchFamily="34" charset="-120"/>
              </a:rPr>
              <a:t>Invito chiaro</a:t>
            </a:r>
            <a:endParaRPr lang="en-US" sz="1900" dirty="0"/>
          </a:p>
        </p:txBody>
      </p:sp>
      <p:sp>
        <p:nvSpPr>
          <p:cNvPr id="17" name="Text 14"/>
          <p:cNvSpPr/>
          <p:nvPr/>
        </p:nvSpPr>
        <p:spPr>
          <a:xfrm>
            <a:off x="8641080" y="2761488"/>
            <a:ext cx="2834640" cy="64008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“Gioca ora” è subito visibile.</a:t>
            </a:r>
            <a:endParaRPr lang="en-US" sz="1600" dirty="0"/>
          </a:p>
        </p:txBody>
      </p:sp>
      <p:sp>
        <p:nvSpPr>
          <p:cNvPr id="18" name="Shape 15"/>
          <p:cNvSpPr/>
          <p:nvPr/>
        </p:nvSpPr>
        <p:spPr>
          <a:xfrm>
            <a:off x="8641080" y="3584448"/>
            <a:ext cx="2880360" cy="10973"/>
          </a:xfrm>
          <a:prstGeom prst="rect">
            <a:avLst/>
          </a:prstGeom>
          <a:solidFill>
            <a:srgbClr val="2A3C55"/>
          </a:solidFill>
          <a:ln w="12700">
            <a:solidFill>
              <a:srgbClr val="2A3C55">
                <a:alpha val="0"/>
              </a:srgbClr>
            </a:solidFill>
            <a:prstDash val="solid"/>
          </a:ln>
        </p:spPr>
      </p:sp>
      <p:sp>
        <p:nvSpPr>
          <p:cNvPr id="19" name="Text 16"/>
          <p:cNvSpPr/>
          <p:nvPr/>
        </p:nvSpPr>
        <p:spPr>
          <a:xfrm>
            <a:off x="8622792" y="3803904"/>
            <a:ext cx="548640" cy="393192"/>
          </a:xfrm>
          <a:prstGeom prst="rect">
            <a:avLst/>
          </a:prstGeom>
          <a:noFill/>
          <a:ln/>
        </p:spPr>
        <p:txBody>
          <a:bodyPr wrap="square" lIns="0" tIns="0" rIns="0" bIns="0" rtlCol="0" anchor="t"/>
          <a:lstStyle/>
          <a:p>
            <a:pPr algn="l" indent="0" marL="0">
              <a:buNone/>
            </a:pPr>
            <a:r>
              <a:rPr lang="en-US" sz="2800" b="1" dirty="0">
                <a:solidFill>
                  <a:srgbClr val="4BBEFF"/>
                </a:solidFill>
                <a:latin typeface="Arial" pitchFamily="34" charset="0"/>
                <a:ea typeface="Arial" pitchFamily="34" charset="-122"/>
                <a:cs typeface="Arial" pitchFamily="34" charset="-120"/>
              </a:rPr>
              <a:t>02</a:t>
            </a:r>
            <a:endParaRPr lang="en-US" sz="2800" dirty="0"/>
          </a:p>
        </p:txBody>
      </p:sp>
      <p:sp>
        <p:nvSpPr>
          <p:cNvPr id="20" name="Text 17"/>
          <p:cNvSpPr/>
          <p:nvPr/>
        </p:nvSpPr>
        <p:spPr>
          <a:xfrm>
            <a:off x="9262872" y="3840480"/>
            <a:ext cx="2377440" cy="365760"/>
          </a:xfrm>
          <a:prstGeom prst="rect">
            <a:avLst/>
          </a:prstGeom>
          <a:noFill/>
          <a:ln/>
        </p:spPr>
        <p:txBody>
          <a:bodyPr wrap="square" lIns="0" tIns="0" rIns="0" bIns="0" rtlCol="0" anchor="t"/>
          <a:lstStyle/>
          <a:p>
            <a:pPr algn="l" indent="0" marL="0">
              <a:buNone/>
            </a:pPr>
            <a:r>
              <a:rPr lang="en-US" sz="1800" b="1" dirty="0">
                <a:solidFill>
                  <a:srgbClr val="F3F7FB"/>
                </a:solidFill>
                <a:latin typeface="Arial" pitchFamily="34" charset="0"/>
                <a:ea typeface="Arial" pitchFamily="34" charset="-122"/>
                <a:cs typeface="Arial" pitchFamily="34" charset="-120"/>
              </a:rPr>
              <a:t>Informazioni utili</a:t>
            </a:r>
            <a:endParaRPr lang="en-US" sz="1800" dirty="0"/>
          </a:p>
        </p:txBody>
      </p:sp>
      <p:sp>
        <p:nvSpPr>
          <p:cNvPr id="21" name="Text 18"/>
          <p:cNvSpPr/>
          <p:nvPr/>
        </p:nvSpPr>
        <p:spPr>
          <a:xfrm>
            <a:off x="8641080" y="4343400"/>
            <a:ext cx="2834640" cy="118872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Regole, punteggio, comandi,</a:t>
            </a:r>
            <a:endParaRPr lang="en-US" sz="1600" dirty="0"/>
          </a:p>
          <a:p>
            <a:pPr algn="l" indent="0" marL="0">
              <a:buNone/>
            </a:pPr>
            <a:r>
              <a:rPr lang="en-US" sz="1600" dirty="0">
                <a:solidFill>
                  <a:srgbClr val="A3B5CA"/>
                </a:solidFill>
                <a:latin typeface="Arial" pitchFamily="34" charset="0"/>
                <a:ea typeface="Arial" pitchFamily="34" charset="-122"/>
                <a:cs typeface="Arial" pitchFamily="34" charset="-120"/>
              </a:rPr>
              <a:t>cinque scenari e domande frequenti.</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02 / IL SITO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Responsive nella forma. Desktop nei comandi.</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Le pagine si adattano allo schermo; per giocare si usano mouse e tastiera.</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04</a:t>
            </a:r>
            <a:endParaRPr lang="en-US" sz="1100" dirty="0"/>
          </a:p>
        </p:txBody>
      </p:sp>
      <p:sp>
        <p:nvSpPr>
          <p:cNvPr id="8" name="Shape 6"/>
          <p:cNvSpPr/>
          <p:nvPr/>
        </p:nvSpPr>
        <p:spPr>
          <a:xfrm>
            <a:off x="562356" y="2162556"/>
            <a:ext cx="7150608" cy="3877056"/>
          </a:xfrm>
          <a:prstGeom prst="rect">
            <a:avLst/>
          </a:prstGeom>
          <a:solidFill>
            <a:srgbClr val="2A3C55"/>
          </a:solidFill>
          <a:ln w="12700">
            <a:solidFill>
              <a:srgbClr val="2A3C55">
                <a:alpha val="0"/>
              </a:srgbClr>
            </a:solidFill>
            <a:prstDash val="solid"/>
          </a:ln>
        </p:spPr>
      </p:sp>
      <p:sp>
        <p:nvSpPr>
          <p:cNvPr id="9" name="Shape 7"/>
          <p:cNvSpPr/>
          <p:nvPr/>
        </p:nvSpPr>
        <p:spPr>
          <a:xfrm>
            <a:off x="594360" y="2194560"/>
            <a:ext cx="7086600" cy="265176"/>
          </a:xfrm>
          <a:prstGeom prst="rect">
            <a:avLst/>
          </a:prstGeom>
          <a:solidFill>
            <a:srgbClr val="142238"/>
          </a:solidFill>
          <a:ln w="12700">
            <a:solidFill>
              <a:srgbClr val="142238">
                <a:alpha val="0"/>
              </a:srgbClr>
            </a:solidFill>
            <a:prstDash val="solid"/>
          </a:ln>
        </p:spPr>
      </p:sp>
      <p:sp>
        <p:nvSpPr>
          <p:cNvPr id="10" name="Shape 8"/>
          <p:cNvSpPr/>
          <p:nvPr/>
        </p:nvSpPr>
        <p:spPr>
          <a:xfrm>
            <a:off x="694944" y="2295144"/>
            <a:ext cx="50292" cy="50292"/>
          </a:xfrm>
          <a:prstGeom prst="rect">
            <a:avLst/>
          </a:prstGeom>
          <a:solidFill>
            <a:srgbClr val="F6CF58"/>
          </a:solidFill>
          <a:ln w="12700">
            <a:solidFill>
              <a:srgbClr val="F6CF58">
                <a:alpha val="0"/>
              </a:srgbClr>
            </a:solidFill>
            <a:prstDash val="solid"/>
          </a:ln>
        </p:spPr>
      </p:sp>
      <p:sp>
        <p:nvSpPr>
          <p:cNvPr id="11" name="Shape 9"/>
          <p:cNvSpPr/>
          <p:nvPr/>
        </p:nvSpPr>
        <p:spPr>
          <a:xfrm>
            <a:off x="813816" y="2295144"/>
            <a:ext cx="50292" cy="50292"/>
          </a:xfrm>
          <a:prstGeom prst="rect">
            <a:avLst/>
          </a:prstGeom>
          <a:solidFill>
            <a:srgbClr val="94D77A"/>
          </a:solidFill>
          <a:ln w="12700">
            <a:solidFill>
              <a:srgbClr val="94D77A">
                <a:alpha val="0"/>
              </a:srgbClr>
            </a:solidFill>
            <a:prstDash val="solid"/>
          </a:ln>
        </p:spPr>
      </p:sp>
      <p:sp>
        <p:nvSpPr>
          <p:cNvPr id="12" name="Shape 10"/>
          <p:cNvSpPr/>
          <p:nvPr/>
        </p:nvSpPr>
        <p:spPr>
          <a:xfrm>
            <a:off x="932688" y="2295144"/>
            <a:ext cx="50292" cy="50292"/>
          </a:xfrm>
          <a:prstGeom prst="rect">
            <a:avLst/>
          </a:prstGeom>
          <a:solidFill>
            <a:srgbClr val="4BBEFF"/>
          </a:solidFill>
          <a:ln w="12700">
            <a:solidFill>
              <a:srgbClr val="4BBEFF">
                <a:alpha val="0"/>
              </a:srgbClr>
            </a:solidFill>
            <a:prstDash val="solid"/>
          </a:ln>
        </p:spPr>
      </p:sp>
      <p:sp>
        <p:nvSpPr>
          <p:cNvPr id="13" name="Text 11"/>
          <p:cNvSpPr/>
          <p:nvPr/>
        </p:nvSpPr>
        <p:spPr>
          <a:xfrm>
            <a:off x="1170432" y="2258568"/>
            <a:ext cx="6355080" cy="155448"/>
          </a:xfrm>
          <a:prstGeom prst="rect">
            <a:avLst/>
          </a:prstGeom>
          <a:noFill/>
          <a:ln/>
        </p:spPr>
        <p:txBody>
          <a:bodyPr wrap="square" lIns="0" tIns="0" rIns="0" bIns="0" rtlCol="0" anchor="t"/>
          <a:lstStyle/>
          <a:p>
            <a:pPr algn="l" indent="0" marL="0">
              <a:buNone/>
            </a:pPr>
            <a:r>
              <a:rPr lang="en-US" sz="800" dirty="0">
                <a:solidFill>
                  <a:srgbClr val="A3B5CA"/>
                </a:solidFill>
                <a:latin typeface="Arial" pitchFamily="34" charset="0"/>
                <a:ea typeface="Arial" pitchFamily="34" charset="-122"/>
                <a:cs typeface="Arial" pitchFamily="34" charset="-120"/>
              </a:rPr>
              <a:t>Vista desktop</a:t>
            </a:r>
            <a:endParaRPr lang="en-US" sz="800" dirty="0"/>
          </a:p>
        </p:txBody>
      </p:sp>
      <p:pic>
        <p:nvPicPr>
          <p:cNvPr id="14" name="Image 0" descr="C:\Users\varis\OneDrive\Desktop\duckhunt-NL\presentazione\media\sito-desktop.png">    </p:cNvPr>
          <p:cNvPicPr>
            <a:picLocks noChangeAspect="1"/>
          </p:cNvPicPr>
          <p:nvPr/>
        </p:nvPicPr>
        <p:blipFill>
          <a:blip r:embed="rId1"/>
          <a:stretch>
            <a:fillRect/>
          </a:stretch>
        </p:blipFill>
        <p:spPr>
          <a:xfrm>
            <a:off x="1299362" y="2459736"/>
            <a:ext cx="5676595" cy="3547872"/>
          </a:xfrm>
          <a:prstGeom prst="rect">
            <a:avLst/>
          </a:prstGeom>
        </p:spPr>
      </p:pic>
      <p:sp>
        <p:nvSpPr>
          <p:cNvPr id="15" name="Shape 12"/>
          <p:cNvSpPr/>
          <p:nvPr/>
        </p:nvSpPr>
        <p:spPr>
          <a:xfrm>
            <a:off x="8577072" y="1984248"/>
            <a:ext cx="2048256" cy="4370832"/>
          </a:xfrm>
          <a:prstGeom prst="rect">
            <a:avLst/>
          </a:prstGeom>
          <a:solidFill>
            <a:srgbClr val="2A3C55"/>
          </a:solidFill>
          <a:ln w="12700">
            <a:solidFill>
              <a:srgbClr val="2A3C55">
                <a:alpha val="0"/>
              </a:srgbClr>
            </a:solidFill>
            <a:prstDash val="solid"/>
          </a:ln>
        </p:spPr>
      </p:sp>
      <p:pic>
        <p:nvPicPr>
          <p:cNvPr id="16" name="Image 1" descr="C:\Users\varis\OneDrive\Desktop\duckhunt-NL\presentazione\media\sito-responsive.png">    </p:cNvPr>
          <p:cNvPicPr>
            <a:picLocks noChangeAspect="1"/>
          </p:cNvPicPr>
          <p:nvPr/>
        </p:nvPicPr>
        <p:blipFill>
          <a:blip r:embed="rId2"/>
          <a:stretch>
            <a:fillRect/>
          </a:stretch>
        </p:blipFill>
        <p:spPr>
          <a:xfrm>
            <a:off x="8659368" y="2085723"/>
            <a:ext cx="1883664" cy="4076442"/>
          </a:xfrm>
          <a:prstGeom prst="rect">
            <a:avLst/>
          </a:prstGeom>
        </p:spPr>
      </p:pic>
      <p:sp>
        <p:nvSpPr>
          <p:cNvPr id="17" name="Text 13"/>
          <p:cNvSpPr/>
          <p:nvPr/>
        </p:nvSpPr>
        <p:spPr>
          <a:xfrm>
            <a:off x="10808208" y="2852928"/>
            <a:ext cx="859536" cy="365760"/>
          </a:xfrm>
          <a:prstGeom prst="rect">
            <a:avLst/>
          </a:prstGeom>
          <a:noFill/>
          <a:ln/>
        </p:spPr>
        <p:txBody>
          <a:bodyPr wrap="square" lIns="0" tIns="0" rIns="0" bIns="0" rtlCol="0" anchor="t"/>
          <a:lstStyle/>
          <a:p>
            <a:pPr algn="l" indent="0" marL="0">
              <a:buNone/>
            </a:pPr>
            <a:r>
              <a:rPr lang="en-US" sz="1800" b="1" dirty="0">
                <a:solidFill>
                  <a:srgbClr val="F6CF58"/>
                </a:solidFill>
                <a:latin typeface="Arial" pitchFamily="34" charset="0"/>
                <a:ea typeface="Arial" pitchFamily="34" charset="-122"/>
                <a:cs typeface="Arial" pitchFamily="34" charset="-120"/>
              </a:rPr>
              <a:t>390 px</a:t>
            </a:r>
            <a:endParaRPr lang="en-US" sz="1800" dirty="0"/>
          </a:p>
        </p:txBody>
      </p:sp>
      <p:sp>
        <p:nvSpPr>
          <p:cNvPr id="18" name="Text 14"/>
          <p:cNvSpPr/>
          <p:nvPr/>
        </p:nvSpPr>
        <p:spPr>
          <a:xfrm>
            <a:off x="10808208" y="3364992"/>
            <a:ext cx="914400" cy="731520"/>
          </a:xfrm>
          <a:prstGeom prst="rect">
            <a:avLst/>
          </a:prstGeom>
          <a:noFill/>
          <a:ln/>
        </p:spPr>
        <p:txBody>
          <a:bodyPr wrap="square" lIns="0" tIns="0" rIns="0" bIns="0" rtlCol="0" anchor="t"/>
          <a:lstStyle/>
          <a:p>
            <a:pPr algn="l" indent="0" marL="0">
              <a:buNone/>
            </a:pPr>
            <a:r>
              <a:rPr lang="en-US" sz="1400" dirty="0">
                <a:solidFill>
                  <a:srgbClr val="A3B5CA"/>
                </a:solidFill>
                <a:latin typeface="Arial" pitchFamily="34" charset="0"/>
                <a:ea typeface="Arial" pitchFamily="34" charset="-122"/>
                <a:cs typeface="Arial" pitchFamily="34" charset="-120"/>
              </a:rPr>
              <a:t>Layout</a:t>
            </a:r>
            <a:endParaRPr lang="en-US" sz="1400" dirty="0"/>
          </a:p>
          <a:p>
            <a:pPr algn="l" indent="0" marL="0">
              <a:buNone/>
            </a:pPr>
            <a:r>
              <a:rPr lang="en-US" sz="1400" dirty="0">
                <a:solidFill>
                  <a:srgbClr val="A3B5CA"/>
                </a:solidFill>
                <a:latin typeface="Arial" pitchFamily="34" charset="0"/>
                <a:ea typeface="Arial" pitchFamily="34" charset="-122"/>
                <a:cs typeface="Arial" pitchFamily="34" charset="-120"/>
              </a:rPr>
              <a:t>compatto</a:t>
            </a:r>
            <a:endParaRPr lang="en-US" sz="1400" dirty="0"/>
          </a:p>
        </p:txBody>
      </p:sp>
      <p:sp>
        <p:nvSpPr>
          <p:cNvPr id="19" name="Shape 15"/>
          <p:cNvSpPr/>
          <p:nvPr/>
        </p:nvSpPr>
        <p:spPr>
          <a:xfrm>
            <a:off x="612648" y="6071616"/>
            <a:ext cx="2331720" cy="292608"/>
          </a:xfrm>
          <a:prstGeom prst="rect">
            <a:avLst/>
          </a:prstGeom>
          <a:solidFill>
            <a:srgbClr val="4BBEFF">
              <a:alpha val="12000"/>
            </a:srgbClr>
          </a:solidFill>
          <a:ln w="12700">
            <a:solidFill>
              <a:srgbClr val="4BBEFF">
                <a:alpha val="0"/>
              </a:srgbClr>
            </a:solidFill>
            <a:prstDash val="solid"/>
          </a:ln>
        </p:spPr>
      </p:sp>
      <p:sp>
        <p:nvSpPr>
          <p:cNvPr id="20" name="Text 16"/>
          <p:cNvSpPr/>
          <p:nvPr/>
        </p:nvSpPr>
        <p:spPr>
          <a:xfrm>
            <a:off x="704088" y="6131052"/>
            <a:ext cx="2148840" cy="182880"/>
          </a:xfrm>
          <a:prstGeom prst="rect">
            <a:avLst/>
          </a:prstGeom>
          <a:noFill/>
          <a:ln/>
        </p:spPr>
        <p:txBody>
          <a:bodyPr wrap="square" lIns="0" tIns="0" rIns="0" bIns="0" rtlCol="0" anchor="t"/>
          <a:lstStyle/>
          <a:p>
            <a:pPr algn="l" indent="0" marL="0">
              <a:buNone/>
            </a:pPr>
            <a:r>
              <a:rPr lang="en-US" sz="900" b="1" spc="140" kern="0" dirty="0">
                <a:solidFill>
                  <a:srgbClr val="4BBEFF"/>
                </a:solidFill>
                <a:latin typeface="Arial" pitchFamily="34" charset="0"/>
                <a:ea typeface="Arial" pitchFamily="34" charset="-122"/>
                <a:cs typeface="Arial" pitchFamily="34" charset="-120"/>
              </a:rPr>
              <a:t>CSS / MEDIA QUERY</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03 / VIDEO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Un giro nel sito, in 12 secondi.</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Dalla presentazione iniziale fino agli scenari e alle domande frequenti.</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05</a:t>
            </a:r>
            <a:endParaRPr lang="en-US" sz="11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359152" y="1920240"/>
            <a:ext cx="7461504" cy="4197096"/>
          </a:xfrm>
          <a:prstGeom prst="rect">
            <a:avLst/>
          </a:prstGeom>
        </p:spPr>
      </p:pic>
      <p:sp>
        <p:nvSpPr>
          <p:cNvPr id="9" name="Shape 6"/>
          <p:cNvSpPr/>
          <p:nvPr/>
        </p:nvSpPr>
        <p:spPr>
          <a:xfrm>
            <a:off x="548640" y="6126480"/>
            <a:ext cx="3703320" cy="292608"/>
          </a:xfrm>
          <a:prstGeom prst="rect">
            <a:avLst/>
          </a:prstGeom>
          <a:solidFill>
            <a:srgbClr val="F6CF58">
              <a:alpha val="12000"/>
            </a:srgbClr>
          </a:solidFill>
          <a:ln w="12700">
            <a:solidFill>
              <a:srgbClr val="F6CF58">
                <a:alpha val="0"/>
              </a:srgbClr>
            </a:solidFill>
            <a:prstDash val="solid"/>
          </a:ln>
        </p:spPr>
      </p:sp>
      <p:sp>
        <p:nvSpPr>
          <p:cNvPr id="10" name="Text 7"/>
          <p:cNvSpPr/>
          <p:nvPr/>
        </p:nvSpPr>
        <p:spPr>
          <a:xfrm>
            <a:off x="640080" y="6185916"/>
            <a:ext cx="3520440" cy="182880"/>
          </a:xfrm>
          <a:prstGeom prst="rect">
            <a:avLst/>
          </a:prstGeom>
          <a:noFill/>
          <a:ln/>
        </p:spPr>
        <p:txBody>
          <a:bodyPr wrap="square" lIns="0" tIns="0" rIns="0" bIns="0" rtlCol="0" anchor="t"/>
          <a:lstStyle/>
          <a:p>
            <a:pPr algn="l" indent="0" marL="0">
              <a:buNone/>
            </a:pPr>
            <a:r>
              <a:rPr lang="en-US" sz="900" b="1" spc="140" kern="0" dirty="0">
                <a:solidFill>
                  <a:srgbClr val="F6CF58"/>
                </a:solidFill>
                <a:latin typeface="Arial" pitchFamily="34" charset="0"/>
                <a:ea typeface="Arial" pitchFamily="34" charset="-122"/>
                <a:cs typeface="Arial" pitchFamily="34" charset="-120"/>
              </a:rPr>
              <a:t>CLIC SUL VIDEO PER RIPRODURRE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04 / IL GIOCO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L’interfaccia lascia spazio all’azione.</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Le informazioni della partita restano visibili senza coprire il campo.</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06</a:t>
            </a:r>
            <a:endParaRPr lang="en-US" sz="1100" dirty="0"/>
          </a:p>
        </p:txBody>
      </p:sp>
      <p:pic>
        <p:nvPicPr>
          <p:cNvPr id="8" name="Image 0" descr="C:\Users\varis\OneDrive\Desktop\duckhunt-NL\presentazione\media\gioco-azione.png">    </p:cNvPr>
          <p:cNvPicPr>
            <a:picLocks noChangeAspect="1"/>
          </p:cNvPicPr>
          <p:nvPr/>
        </p:nvPicPr>
        <p:blipFill>
          <a:blip r:embed="rId1"/>
          <a:stretch>
            <a:fillRect/>
          </a:stretch>
        </p:blipFill>
        <p:spPr>
          <a:xfrm>
            <a:off x="1138936" y="2011680"/>
            <a:ext cx="7396480" cy="4160520"/>
          </a:xfrm>
          <a:prstGeom prst="rect">
            <a:avLst/>
          </a:prstGeom>
        </p:spPr>
      </p:pic>
      <p:sp>
        <p:nvSpPr>
          <p:cNvPr id="9" name="Shape 6"/>
          <p:cNvSpPr/>
          <p:nvPr/>
        </p:nvSpPr>
        <p:spPr>
          <a:xfrm>
            <a:off x="4782312" y="1810512"/>
            <a:ext cx="5806440" cy="292608"/>
          </a:xfrm>
          <a:prstGeom prst="rect">
            <a:avLst/>
          </a:prstGeom>
          <a:solidFill>
            <a:srgbClr val="F6CF58">
              <a:alpha val="12000"/>
            </a:srgbClr>
          </a:solidFill>
          <a:ln w="12700">
            <a:solidFill>
              <a:srgbClr val="F6CF58">
                <a:alpha val="0"/>
              </a:srgbClr>
            </a:solidFill>
            <a:prstDash val="solid"/>
          </a:ln>
        </p:spPr>
      </p:sp>
      <p:sp>
        <p:nvSpPr>
          <p:cNvPr id="10" name="Text 7"/>
          <p:cNvSpPr/>
          <p:nvPr/>
        </p:nvSpPr>
        <p:spPr>
          <a:xfrm>
            <a:off x="4873752" y="1869948"/>
            <a:ext cx="5623560" cy="182880"/>
          </a:xfrm>
          <a:prstGeom prst="rect">
            <a:avLst/>
          </a:prstGeom>
          <a:noFill/>
          <a:ln/>
        </p:spPr>
        <p:txBody>
          <a:bodyPr wrap="square" lIns="0" tIns="0" rIns="0" bIns="0" rtlCol="0" anchor="t"/>
          <a:lstStyle/>
          <a:p>
            <a:pPr algn="l" indent="0" marL="0">
              <a:buNone/>
            </a:pPr>
            <a:r>
              <a:rPr lang="en-US" sz="900" b="1" spc="140" kern="0" dirty="0">
                <a:solidFill>
                  <a:srgbClr val="F6CF58"/>
                </a:solidFill>
                <a:latin typeface="Arial" pitchFamily="34" charset="0"/>
                <a:ea typeface="Arial" pitchFamily="34" charset="-122"/>
                <a:cs typeface="Arial" pitchFamily="34" charset="-120"/>
              </a:rPr>
              <a:t>ROUND · BERSAGLI · PUNTI · RECORD · COLPI</a:t>
            </a:r>
            <a:endParaRPr lang="en-US" sz="900" dirty="0"/>
          </a:p>
        </p:txBody>
      </p:sp>
      <p:sp>
        <p:nvSpPr>
          <p:cNvPr id="11" name="Text 8"/>
          <p:cNvSpPr/>
          <p:nvPr/>
        </p:nvSpPr>
        <p:spPr>
          <a:xfrm>
            <a:off x="9482328" y="2487168"/>
            <a:ext cx="2011680" cy="393192"/>
          </a:xfrm>
          <a:prstGeom prst="rect">
            <a:avLst/>
          </a:prstGeom>
          <a:noFill/>
          <a:ln/>
        </p:spPr>
        <p:txBody>
          <a:bodyPr wrap="square" lIns="0" tIns="0" rIns="0" bIns="0" rtlCol="0" anchor="t"/>
          <a:lstStyle/>
          <a:p>
            <a:pPr algn="l" indent="0" marL="0">
              <a:buNone/>
            </a:pPr>
            <a:r>
              <a:rPr lang="en-US" sz="2400" b="1" dirty="0">
                <a:solidFill>
                  <a:srgbClr val="F6CF58"/>
                </a:solidFill>
                <a:latin typeface="Arial" pitchFamily="34" charset="0"/>
                <a:ea typeface="Arial" pitchFamily="34" charset="-122"/>
                <a:cs typeface="Arial" pitchFamily="34" charset="-120"/>
              </a:rPr>
              <a:t>Mira</a:t>
            </a:r>
            <a:endParaRPr lang="en-US" sz="2400" dirty="0"/>
          </a:p>
        </p:txBody>
      </p:sp>
      <p:sp>
        <p:nvSpPr>
          <p:cNvPr id="12" name="Text 9"/>
          <p:cNvSpPr/>
          <p:nvPr/>
        </p:nvSpPr>
        <p:spPr>
          <a:xfrm>
            <a:off x="9482328" y="2990088"/>
            <a:ext cx="2103120" cy="82296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Muovi il mouse</a:t>
            </a:r>
            <a:endParaRPr lang="en-US" sz="1600" dirty="0"/>
          </a:p>
          <a:p>
            <a:pPr algn="l" indent="0" marL="0">
              <a:buNone/>
            </a:pPr>
            <a:r>
              <a:rPr lang="en-US" sz="1600" dirty="0">
                <a:solidFill>
                  <a:srgbClr val="A3B5CA"/>
                </a:solidFill>
                <a:latin typeface="Arial" pitchFamily="34" charset="0"/>
                <a:ea typeface="Arial" pitchFamily="34" charset="-122"/>
                <a:cs typeface="Arial" pitchFamily="34" charset="-120"/>
              </a:rPr>
              <a:t>sul campo di gioco.</a:t>
            </a:r>
            <a:endParaRPr lang="en-US" sz="1600" dirty="0"/>
          </a:p>
        </p:txBody>
      </p:sp>
      <p:sp>
        <p:nvSpPr>
          <p:cNvPr id="13" name="Shape 10"/>
          <p:cNvSpPr/>
          <p:nvPr/>
        </p:nvSpPr>
        <p:spPr>
          <a:xfrm>
            <a:off x="9482328" y="4096512"/>
            <a:ext cx="2057400" cy="10973"/>
          </a:xfrm>
          <a:prstGeom prst="rect">
            <a:avLst/>
          </a:prstGeom>
          <a:solidFill>
            <a:srgbClr val="2A3C55"/>
          </a:solidFill>
          <a:ln w="12700">
            <a:solidFill>
              <a:srgbClr val="2A3C55">
                <a:alpha val="0"/>
              </a:srgbClr>
            </a:solidFill>
            <a:prstDash val="solid"/>
          </a:ln>
        </p:spPr>
      </p:sp>
      <p:sp>
        <p:nvSpPr>
          <p:cNvPr id="14" name="Text 11"/>
          <p:cNvSpPr/>
          <p:nvPr/>
        </p:nvSpPr>
        <p:spPr>
          <a:xfrm>
            <a:off x="9482328" y="4361688"/>
            <a:ext cx="2011680" cy="393192"/>
          </a:xfrm>
          <a:prstGeom prst="rect">
            <a:avLst/>
          </a:prstGeom>
          <a:noFill/>
          <a:ln/>
        </p:spPr>
        <p:txBody>
          <a:bodyPr wrap="square" lIns="0" tIns="0" rIns="0" bIns="0" rtlCol="0" anchor="t"/>
          <a:lstStyle/>
          <a:p>
            <a:pPr algn="l" indent="0" marL="0">
              <a:buNone/>
            </a:pPr>
            <a:r>
              <a:rPr lang="en-US" sz="2400" b="1" dirty="0">
                <a:solidFill>
                  <a:srgbClr val="4BBEFF"/>
                </a:solidFill>
                <a:latin typeface="Arial" pitchFamily="34" charset="0"/>
                <a:ea typeface="Arial" pitchFamily="34" charset="-122"/>
                <a:cs typeface="Arial" pitchFamily="34" charset="-120"/>
              </a:rPr>
              <a:t>Spara</a:t>
            </a:r>
            <a:endParaRPr lang="en-US" sz="2400" dirty="0"/>
          </a:p>
        </p:txBody>
      </p:sp>
      <p:sp>
        <p:nvSpPr>
          <p:cNvPr id="15" name="Text 12"/>
          <p:cNvSpPr/>
          <p:nvPr/>
        </p:nvSpPr>
        <p:spPr>
          <a:xfrm>
            <a:off x="9482328" y="4864608"/>
            <a:ext cx="2103120" cy="82296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Clic sinistro</a:t>
            </a:r>
            <a:endParaRPr lang="en-US" sz="1600" dirty="0"/>
          </a:p>
          <a:p>
            <a:pPr algn="l" indent="0" marL="0">
              <a:buNone/>
            </a:pPr>
            <a:r>
              <a:rPr lang="en-US" sz="1600" dirty="0">
                <a:solidFill>
                  <a:srgbClr val="A3B5CA"/>
                </a:solidFill>
                <a:latin typeface="Arial" pitchFamily="34" charset="0"/>
                <a:ea typeface="Arial" pitchFamily="34" charset="-122"/>
                <a:cs typeface="Arial" pitchFamily="34" charset="-120"/>
              </a:rPr>
              <a:t>oppure Spazio.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05 / VIDEO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Il gioco, dal vivo.</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Mira, colpi a segno, caduta della papera e pausa: una breve partita reale.</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07</a:t>
            </a:r>
            <a:endParaRPr lang="en-US" sz="11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359152" y="1920240"/>
            <a:ext cx="7461504" cy="4197096"/>
          </a:xfrm>
          <a:prstGeom prst="rect">
            <a:avLst/>
          </a:prstGeom>
        </p:spPr>
      </p:pic>
      <p:sp>
        <p:nvSpPr>
          <p:cNvPr id="9" name="Shape 6"/>
          <p:cNvSpPr/>
          <p:nvPr/>
        </p:nvSpPr>
        <p:spPr>
          <a:xfrm>
            <a:off x="548640" y="6126480"/>
            <a:ext cx="3703320" cy="292608"/>
          </a:xfrm>
          <a:prstGeom prst="rect">
            <a:avLst/>
          </a:prstGeom>
          <a:solidFill>
            <a:srgbClr val="F6CF58">
              <a:alpha val="12000"/>
            </a:srgbClr>
          </a:solidFill>
          <a:ln w="12700">
            <a:solidFill>
              <a:srgbClr val="F6CF58">
                <a:alpha val="0"/>
              </a:srgbClr>
            </a:solidFill>
            <a:prstDash val="solid"/>
          </a:ln>
        </p:spPr>
      </p:sp>
      <p:sp>
        <p:nvSpPr>
          <p:cNvPr id="10" name="Text 7"/>
          <p:cNvSpPr/>
          <p:nvPr/>
        </p:nvSpPr>
        <p:spPr>
          <a:xfrm>
            <a:off x="640080" y="6185916"/>
            <a:ext cx="3520440" cy="182880"/>
          </a:xfrm>
          <a:prstGeom prst="rect">
            <a:avLst/>
          </a:prstGeom>
          <a:noFill/>
          <a:ln/>
        </p:spPr>
        <p:txBody>
          <a:bodyPr wrap="square" lIns="0" tIns="0" rIns="0" bIns="0" rtlCol="0" anchor="t"/>
          <a:lstStyle/>
          <a:p>
            <a:pPr algn="l" indent="0" marL="0">
              <a:buNone/>
            </a:pPr>
            <a:r>
              <a:rPr lang="en-US" sz="900" b="1" spc="140" kern="0" dirty="0">
                <a:solidFill>
                  <a:srgbClr val="F6CF58"/>
                </a:solidFill>
                <a:latin typeface="Arial" pitchFamily="34" charset="0"/>
                <a:ea typeface="Arial" pitchFamily="34" charset="-122"/>
                <a:cs typeface="Arial" pitchFamily="34" charset="-120"/>
              </a:rPr>
              <a:t>18 SECONDI / VIDEO INCORPORATO</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06 / LE REGOLE</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Tre colpi. Conta quando colpisci.</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Il punteggio premia la precisione al primo tentativo.</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08</a:t>
            </a:r>
            <a:endParaRPr lang="en-US" sz="1100" dirty="0"/>
          </a:p>
        </p:txBody>
      </p:sp>
      <p:sp>
        <p:nvSpPr>
          <p:cNvPr id="8" name="Shape 6"/>
          <p:cNvSpPr/>
          <p:nvPr/>
        </p:nvSpPr>
        <p:spPr>
          <a:xfrm>
            <a:off x="566928" y="2148840"/>
            <a:ext cx="3547872" cy="2331720"/>
          </a:xfrm>
          <a:prstGeom prst="rect">
            <a:avLst/>
          </a:prstGeom>
          <a:solidFill>
            <a:srgbClr val="142238"/>
          </a:solidFill>
          <a:ln w="12700">
            <a:solidFill>
              <a:srgbClr val="142238">
                <a:alpha val="0"/>
              </a:srgbClr>
            </a:solidFill>
            <a:prstDash val="solid"/>
          </a:ln>
        </p:spPr>
      </p:sp>
      <p:sp>
        <p:nvSpPr>
          <p:cNvPr id="9" name="Text 7"/>
          <p:cNvSpPr/>
          <p:nvPr/>
        </p:nvSpPr>
        <p:spPr>
          <a:xfrm>
            <a:off x="813816" y="2377440"/>
            <a:ext cx="3017520" cy="1143000"/>
          </a:xfrm>
          <a:prstGeom prst="rect">
            <a:avLst/>
          </a:prstGeom>
          <a:noFill/>
          <a:ln/>
        </p:spPr>
        <p:txBody>
          <a:bodyPr wrap="square" lIns="0" tIns="0" rIns="0" bIns="0" rtlCol="0" anchor="t"/>
          <a:lstStyle/>
          <a:p>
            <a:pPr algn="l" indent="0" marL="0">
              <a:buNone/>
            </a:pPr>
            <a:r>
              <a:rPr lang="en-US" sz="7900" b="1" dirty="0">
                <a:solidFill>
                  <a:srgbClr val="F6CF58"/>
                </a:solidFill>
                <a:latin typeface="Bahnschrift" pitchFamily="34" charset="0"/>
                <a:ea typeface="Bahnschrift" pitchFamily="34" charset="-122"/>
                <a:cs typeface="Bahnschrift" pitchFamily="34" charset="-120"/>
              </a:rPr>
              <a:t>100</a:t>
            </a:r>
            <a:endParaRPr lang="en-US" sz="7900" dirty="0"/>
          </a:p>
        </p:txBody>
      </p:sp>
      <p:sp>
        <p:nvSpPr>
          <p:cNvPr id="10" name="Text 8"/>
          <p:cNvSpPr/>
          <p:nvPr/>
        </p:nvSpPr>
        <p:spPr>
          <a:xfrm>
            <a:off x="841248" y="3886200"/>
            <a:ext cx="2926080" cy="274320"/>
          </a:xfrm>
          <a:prstGeom prst="rect">
            <a:avLst/>
          </a:prstGeom>
          <a:noFill/>
          <a:ln/>
        </p:spPr>
        <p:txBody>
          <a:bodyPr wrap="square" lIns="0" tIns="0" rIns="0" bIns="0" rtlCol="0" anchor="t"/>
          <a:lstStyle/>
          <a:p>
            <a:pPr algn="l" indent="0" marL="0">
              <a:buNone/>
            </a:pPr>
            <a:r>
              <a:rPr lang="en-US" sz="1200" b="1" spc="150" kern="0" dirty="0">
                <a:solidFill>
                  <a:srgbClr val="F3F7FB"/>
                </a:solidFill>
                <a:latin typeface="Arial" pitchFamily="34" charset="0"/>
                <a:ea typeface="Arial" pitchFamily="34" charset="-122"/>
                <a:cs typeface="Arial" pitchFamily="34" charset="-120"/>
              </a:rPr>
              <a:t>PRIMO COLPO</a:t>
            </a:r>
            <a:endParaRPr lang="en-US" sz="1200" dirty="0"/>
          </a:p>
        </p:txBody>
      </p:sp>
      <p:sp>
        <p:nvSpPr>
          <p:cNvPr id="11" name="Shape 9"/>
          <p:cNvSpPr/>
          <p:nvPr/>
        </p:nvSpPr>
        <p:spPr>
          <a:xfrm>
            <a:off x="4434840" y="2148840"/>
            <a:ext cx="3547872" cy="2331720"/>
          </a:xfrm>
          <a:prstGeom prst="rect">
            <a:avLst/>
          </a:prstGeom>
          <a:solidFill>
            <a:srgbClr val="142238"/>
          </a:solidFill>
          <a:ln w="12700">
            <a:solidFill>
              <a:srgbClr val="142238">
                <a:alpha val="0"/>
              </a:srgbClr>
            </a:solidFill>
            <a:prstDash val="solid"/>
          </a:ln>
        </p:spPr>
      </p:sp>
      <p:sp>
        <p:nvSpPr>
          <p:cNvPr id="12" name="Text 10"/>
          <p:cNvSpPr/>
          <p:nvPr/>
        </p:nvSpPr>
        <p:spPr>
          <a:xfrm>
            <a:off x="4681728" y="2377440"/>
            <a:ext cx="3017520" cy="1143000"/>
          </a:xfrm>
          <a:prstGeom prst="rect">
            <a:avLst/>
          </a:prstGeom>
          <a:noFill/>
          <a:ln/>
        </p:spPr>
        <p:txBody>
          <a:bodyPr wrap="square" lIns="0" tIns="0" rIns="0" bIns="0" rtlCol="0" anchor="t"/>
          <a:lstStyle/>
          <a:p>
            <a:pPr algn="l" indent="0" marL="0">
              <a:buNone/>
            </a:pPr>
            <a:r>
              <a:rPr lang="en-US" sz="7900" b="1" dirty="0">
                <a:solidFill>
                  <a:srgbClr val="4BBEFF"/>
                </a:solidFill>
                <a:latin typeface="Bahnschrift" pitchFamily="34" charset="0"/>
                <a:ea typeface="Bahnschrift" pitchFamily="34" charset="-122"/>
                <a:cs typeface="Bahnschrift" pitchFamily="34" charset="-120"/>
              </a:rPr>
              <a:t>60</a:t>
            </a:r>
            <a:endParaRPr lang="en-US" sz="7900" dirty="0"/>
          </a:p>
        </p:txBody>
      </p:sp>
      <p:sp>
        <p:nvSpPr>
          <p:cNvPr id="13" name="Text 11"/>
          <p:cNvSpPr/>
          <p:nvPr/>
        </p:nvSpPr>
        <p:spPr>
          <a:xfrm>
            <a:off x="4709160" y="3886200"/>
            <a:ext cx="2926080" cy="274320"/>
          </a:xfrm>
          <a:prstGeom prst="rect">
            <a:avLst/>
          </a:prstGeom>
          <a:noFill/>
          <a:ln/>
        </p:spPr>
        <p:txBody>
          <a:bodyPr wrap="square" lIns="0" tIns="0" rIns="0" bIns="0" rtlCol="0" anchor="t"/>
          <a:lstStyle/>
          <a:p>
            <a:pPr algn="l" indent="0" marL="0">
              <a:buNone/>
            </a:pPr>
            <a:r>
              <a:rPr lang="en-US" sz="1200" b="1" spc="150" kern="0" dirty="0">
                <a:solidFill>
                  <a:srgbClr val="F3F7FB"/>
                </a:solidFill>
                <a:latin typeface="Arial" pitchFamily="34" charset="0"/>
                <a:ea typeface="Arial" pitchFamily="34" charset="-122"/>
                <a:cs typeface="Arial" pitchFamily="34" charset="-120"/>
              </a:rPr>
              <a:t>SECONDO COLPO</a:t>
            </a:r>
            <a:endParaRPr lang="en-US" sz="1200" dirty="0"/>
          </a:p>
        </p:txBody>
      </p:sp>
      <p:sp>
        <p:nvSpPr>
          <p:cNvPr id="14" name="Shape 12"/>
          <p:cNvSpPr/>
          <p:nvPr/>
        </p:nvSpPr>
        <p:spPr>
          <a:xfrm>
            <a:off x="8302752" y="2148840"/>
            <a:ext cx="3547872" cy="2331720"/>
          </a:xfrm>
          <a:prstGeom prst="rect">
            <a:avLst/>
          </a:prstGeom>
          <a:solidFill>
            <a:srgbClr val="142238"/>
          </a:solidFill>
          <a:ln w="12700">
            <a:solidFill>
              <a:srgbClr val="142238">
                <a:alpha val="0"/>
              </a:srgbClr>
            </a:solidFill>
            <a:prstDash val="solid"/>
          </a:ln>
        </p:spPr>
      </p:sp>
      <p:sp>
        <p:nvSpPr>
          <p:cNvPr id="15" name="Text 13"/>
          <p:cNvSpPr/>
          <p:nvPr/>
        </p:nvSpPr>
        <p:spPr>
          <a:xfrm>
            <a:off x="8549640" y="2377440"/>
            <a:ext cx="3017520" cy="1143000"/>
          </a:xfrm>
          <a:prstGeom prst="rect">
            <a:avLst/>
          </a:prstGeom>
          <a:noFill/>
          <a:ln/>
        </p:spPr>
        <p:txBody>
          <a:bodyPr wrap="square" lIns="0" tIns="0" rIns="0" bIns="0" rtlCol="0" anchor="t"/>
          <a:lstStyle/>
          <a:p>
            <a:pPr algn="l" indent="0" marL="0">
              <a:buNone/>
            </a:pPr>
            <a:r>
              <a:rPr lang="en-US" sz="7900" b="1" dirty="0">
                <a:solidFill>
                  <a:srgbClr val="94D77A"/>
                </a:solidFill>
                <a:latin typeface="Bahnschrift" pitchFamily="34" charset="0"/>
                <a:ea typeface="Bahnschrift" pitchFamily="34" charset="-122"/>
                <a:cs typeface="Bahnschrift" pitchFamily="34" charset="-120"/>
              </a:rPr>
              <a:t>30</a:t>
            </a:r>
            <a:endParaRPr lang="en-US" sz="7900" dirty="0"/>
          </a:p>
        </p:txBody>
      </p:sp>
      <p:sp>
        <p:nvSpPr>
          <p:cNvPr id="16" name="Text 14"/>
          <p:cNvSpPr/>
          <p:nvPr/>
        </p:nvSpPr>
        <p:spPr>
          <a:xfrm>
            <a:off x="8577072" y="3886200"/>
            <a:ext cx="2926080" cy="274320"/>
          </a:xfrm>
          <a:prstGeom prst="rect">
            <a:avLst/>
          </a:prstGeom>
          <a:noFill/>
          <a:ln/>
        </p:spPr>
        <p:txBody>
          <a:bodyPr wrap="square" lIns="0" tIns="0" rIns="0" bIns="0" rtlCol="0" anchor="t"/>
          <a:lstStyle/>
          <a:p>
            <a:pPr algn="l" indent="0" marL="0">
              <a:buNone/>
            </a:pPr>
            <a:r>
              <a:rPr lang="en-US" sz="1200" b="1" spc="150" kern="0" dirty="0">
                <a:solidFill>
                  <a:srgbClr val="F3F7FB"/>
                </a:solidFill>
                <a:latin typeface="Arial" pitchFamily="34" charset="0"/>
                <a:ea typeface="Arial" pitchFamily="34" charset="-122"/>
                <a:cs typeface="Arial" pitchFamily="34" charset="-120"/>
              </a:rPr>
              <a:t>TERZO COLPO</a:t>
            </a:r>
            <a:endParaRPr lang="en-US" sz="1200" dirty="0"/>
          </a:p>
        </p:txBody>
      </p:sp>
      <p:sp>
        <p:nvSpPr>
          <p:cNvPr id="17" name="Shape 15"/>
          <p:cNvSpPr/>
          <p:nvPr/>
        </p:nvSpPr>
        <p:spPr>
          <a:xfrm>
            <a:off x="594360" y="4892040"/>
            <a:ext cx="10991088" cy="10973"/>
          </a:xfrm>
          <a:prstGeom prst="rect">
            <a:avLst/>
          </a:prstGeom>
          <a:solidFill>
            <a:srgbClr val="2A3C55"/>
          </a:solidFill>
          <a:ln w="12700">
            <a:solidFill>
              <a:srgbClr val="2A3C55">
                <a:alpha val="0"/>
              </a:srgbClr>
            </a:solidFill>
            <a:prstDash val="solid"/>
          </a:ln>
        </p:spPr>
      </p:sp>
      <p:sp>
        <p:nvSpPr>
          <p:cNvPr id="18" name="Text 16"/>
          <p:cNvSpPr/>
          <p:nvPr/>
        </p:nvSpPr>
        <p:spPr>
          <a:xfrm>
            <a:off x="594360" y="5230368"/>
            <a:ext cx="2286000" cy="640080"/>
          </a:xfrm>
          <a:prstGeom prst="rect">
            <a:avLst/>
          </a:prstGeom>
          <a:noFill/>
          <a:ln/>
        </p:spPr>
        <p:txBody>
          <a:bodyPr wrap="square" lIns="0" tIns="0" rIns="0" bIns="0" rtlCol="0" anchor="t"/>
          <a:lstStyle/>
          <a:p>
            <a:pPr algn="l" indent="0" marL="0">
              <a:buNone/>
            </a:pPr>
            <a:r>
              <a:rPr lang="en-US" sz="3800" b="1" dirty="0">
                <a:solidFill>
                  <a:srgbClr val="F3F7FB"/>
                </a:solidFill>
                <a:latin typeface="Arial" pitchFamily="34" charset="0"/>
                <a:ea typeface="Arial" pitchFamily="34" charset="-122"/>
                <a:cs typeface="Arial" pitchFamily="34" charset="-120"/>
              </a:rPr>
              <a:t>5 × 10</a:t>
            </a:r>
            <a:endParaRPr lang="en-US" sz="3800" dirty="0"/>
          </a:p>
        </p:txBody>
      </p:sp>
      <p:sp>
        <p:nvSpPr>
          <p:cNvPr id="19" name="Text 17"/>
          <p:cNvSpPr/>
          <p:nvPr/>
        </p:nvSpPr>
        <p:spPr>
          <a:xfrm>
            <a:off x="621792" y="5934456"/>
            <a:ext cx="2651760" cy="246888"/>
          </a:xfrm>
          <a:prstGeom prst="rect">
            <a:avLst/>
          </a:prstGeom>
          <a:noFill/>
          <a:ln/>
        </p:spPr>
        <p:txBody>
          <a:bodyPr wrap="square" lIns="0" tIns="0" rIns="0" bIns="0" rtlCol="0" anchor="t"/>
          <a:lstStyle/>
          <a:p>
            <a:pPr algn="l" indent="0" marL="0">
              <a:buNone/>
            </a:pPr>
            <a:r>
              <a:rPr lang="en-US" sz="1400" dirty="0">
                <a:solidFill>
                  <a:srgbClr val="A3B5CA"/>
                </a:solidFill>
                <a:latin typeface="Arial" pitchFamily="34" charset="0"/>
                <a:ea typeface="Arial" pitchFamily="34" charset="-122"/>
                <a:cs typeface="Arial" pitchFamily="34" charset="-120"/>
              </a:rPr>
              <a:t>round × bersagli</a:t>
            </a:r>
            <a:endParaRPr lang="en-US" sz="1400" dirty="0"/>
          </a:p>
        </p:txBody>
      </p:sp>
      <p:sp>
        <p:nvSpPr>
          <p:cNvPr id="20" name="Text 18"/>
          <p:cNvSpPr/>
          <p:nvPr/>
        </p:nvSpPr>
        <p:spPr>
          <a:xfrm>
            <a:off x="4471416" y="5230368"/>
            <a:ext cx="2743200" cy="640080"/>
          </a:xfrm>
          <a:prstGeom prst="rect">
            <a:avLst/>
          </a:prstGeom>
          <a:noFill/>
          <a:ln/>
        </p:spPr>
        <p:txBody>
          <a:bodyPr wrap="square" lIns="0" tIns="0" rIns="0" bIns="0" rtlCol="0" anchor="t"/>
          <a:lstStyle/>
          <a:p>
            <a:pPr algn="l" indent="0" marL="0">
              <a:buNone/>
            </a:pPr>
            <a:r>
              <a:rPr lang="en-US" sz="3800" b="1" dirty="0">
                <a:solidFill>
                  <a:srgbClr val="F6CF58"/>
                </a:solidFill>
                <a:latin typeface="Arial" pitchFamily="34" charset="0"/>
                <a:ea typeface="Arial" pitchFamily="34" charset="-122"/>
                <a:cs typeface="Arial" pitchFamily="34" charset="-120"/>
              </a:rPr>
              <a:t>5.000</a:t>
            </a:r>
            <a:endParaRPr lang="en-US" sz="3800" dirty="0"/>
          </a:p>
        </p:txBody>
      </p:sp>
      <p:sp>
        <p:nvSpPr>
          <p:cNvPr id="21" name="Text 19"/>
          <p:cNvSpPr/>
          <p:nvPr/>
        </p:nvSpPr>
        <p:spPr>
          <a:xfrm>
            <a:off x="4498848" y="5934456"/>
            <a:ext cx="2651760" cy="246888"/>
          </a:xfrm>
          <a:prstGeom prst="rect">
            <a:avLst/>
          </a:prstGeom>
          <a:noFill/>
          <a:ln/>
        </p:spPr>
        <p:txBody>
          <a:bodyPr wrap="square" lIns="0" tIns="0" rIns="0" bIns="0" rtlCol="0" anchor="t"/>
          <a:lstStyle/>
          <a:p>
            <a:pPr algn="l" indent="0" marL="0">
              <a:buNone/>
            </a:pPr>
            <a:r>
              <a:rPr lang="en-US" sz="1400" dirty="0">
                <a:solidFill>
                  <a:srgbClr val="A3B5CA"/>
                </a:solidFill>
                <a:latin typeface="Arial" pitchFamily="34" charset="0"/>
                <a:ea typeface="Arial" pitchFamily="34" charset="-122"/>
                <a:cs typeface="Arial" pitchFamily="34" charset="-120"/>
              </a:rPr>
              <a:t>punti massimi</a:t>
            </a:r>
            <a:endParaRPr lang="en-US" sz="1400" dirty="0"/>
          </a:p>
        </p:txBody>
      </p:sp>
      <p:sp>
        <p:nvSpPr>
          <p:cNvPr id="22" name="Text 20"/>
          <p:cNvSpPr/>
          <p:nvPr/>
        </p:nvSpPr>
        <p:spPr>
          <a:xfrm>
            <a:off x="8339328" y="5230368"/>
            <a:ext cx="2743200" cy="640080"/>
          </a:xfrm>
          <a:prstGeom prst="rect">
            <a:avLst/>
          </a:prstGeom>
          <a:noFill/>
          <a:ln/>
        </p:spPr>
        <p:txBody>
          <a:bodyPr wrap="square" lIns="0" tIns="0" rIns="0" bIns="0" rtlCol="0" anchor="t"/>
          <a:lstStyle/>
          <a:p>
            <a:pPr algn="l" indent="0" marL="0">
              <a:buNone/>
            </a:pPr>
            <a:r>
              <a:rPr lang="en-US" sz="3800" b="1" dirty="0">
                <a:solidFill>
                  <a:srgbClr val="F3F7FB"/>
                </a:solidFill>
                <a:latin typeface="Arial" pitchFamily="34" charset="0"/>
                <a:ea typeface="Arial" pitchFamily="34" charset="-122"/>
                <a:cs typeface="Arial" pitchFamily="34" charset="-120"/>
              </a:rPr>
              <a:t>0 punti</a:t>
            </a:r>
            <a:endParaRPr lang="en-US" sz="3800" dirty="0"/>
          </a:p>
        </p:txBody>
      </p:sp>
      <p:sp>
        <p:nvSpPr>
          <p:cNvPr id="23" name="Text 21"/>
          <p:cNvSpPr/>
          <p:nvPr/>
        </p:nvSpPr>
        <p:spPr>
          <a:xfrm>
            <a:off x="8366760" y="5934456"/>
            <a:ext cx="3017520" cy="246888"/>
          </a:xfrm>
          <a:prstGeom prst="rect">
            <a:avLst/>
          </a:prstGeom>
          <a:noFill/>
          <a:ln/>
        </p:spPr>
        <p:txBody>
          <a:bodyPr wrap="square" lIns="0" tIns="0" rIns="0" bIns="0" rtlCol="0" anchor="t"/>
          <a:lstStyle/>
          <a:p>
            <a:pPr algn="l" indent="0" marL="0">
              <a:buNone/>
            </a:pPr>
            <a:r>
              <a:rPr lang="en-US" sz="1400" dirty="0">
                <a:solidFill>
                  <a:srgbClr val="A3B5CA"/>
                </a:solidFill>
                <a:latin typeface="Arial" pitchFamily="34" charset="0"/>
                <a:ea typeface="Arial" pitchFamily="34" charset="-122"/>
                <a:cs typeface="Arial" pitchFamily="34" charset="-120"/>
              </a:rPr>
              <a:t>se la papera viene mancata</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07 / GLI SCENARI</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Cinque round. Cinque atmosfere.</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Cambiano il paesaggio, la velocità e, negli ultimi round, anche le traiettorie.</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09</a:t>
            </a:r>
            <a:endParaRPr lang="en-US" sz="1100" dirty="0"/>
          </a:p>
        </p:txBody>
      </p:sp>
      <p:pic>
        <p:nvPicPr>
          <p:cNvPr id="8" name="Image 0" descr="C:\Users\varis\OneDrive\Desktop\duckhunt-NL\presentazione\media\paesaggio-1.png">    </p:cNvPr>
          <p:cNvPicPr>
            <a:picLocks noChangeAspect="1"/>
          </p:cNvPicPr>
          <p:nvPr/>
        </p:nvPicPr>
        <p:blipFill>
          <a:blip r:embed="rId1"/>
          <a:srcRect l="0" r="0" t="10596" b="10596"/>
          <a:stretch/>
        </p:blipFill>
        <p:spPr>
          <a:xfrm>
            <a:off x="566928" y="2011680"/>
            <a:ext cx="3547872" cy="1572768"/>
          </a:xfrm>
          <a:prstGeom prst="rect">
            <a:avLst/>
          </a:prstGeom>
        </p:spPr>
      </p:pic>
      <p:sp>
        <p:nvSpPr>
          <p:cNvPr id="9" name="Text 6"/>
          <p:cNvSpPr/>
          <p:nvPr/>
        </p:nvSpPr>
        <p:spPr>
          <a:xfrm>
            <a:off x="566928" y="3675888"/>
            <a:ext cx="457200" cy="292608"/>
          </a:xfrm>
          <a:prstGeom prst="rect">
            <a:avLst/>
          </a:prstGeom>
          <a:noFill/>
          <a:ln/>
        </p:spPr>
        <p:txBody>
          <a:bodyPr wrap="square" lIns="0" tIns="0" rIns="0" bIns="0" rtlCol="0" anchor="t"/>
          <a:lstStyle/>
          <a:p>
            <a:pPr algn="l" indent="0" marL="0">
              <a:buNone/>
            </a:pPr>
            <a:r>
              <a:rPr lang="en-US" sz="1500" b="1" dirty="0">
                <a:solidFill>
                  <a:srgbClr val="F6CF58"/>
                </a:solidFill>
                <a:latin typeface="Arial" pitchFamily="34" charset="0"/>
                <a:ea typeface="Arial" pitchFamily="34" charset="-122"/>
                <a:cs typeface="Arial" pitchFamily="34" charset="-120"/>
              </a:rPr>
              <a:t>01</a:t>
            </a:r>
            <a:endParaRPr lang="en-US" sz="1500" dirty="0"/>
          </a:p>
        </p:txBody>
      </p:sp>
      <p:sp>
        <p:nvSpPr>
          <p:cNvPr id="10" name="Text 7"/>
          <p:cNvSpPr/>
          <p:nvPr/>
        </p:nvSpPr>
        <p:spPr>
          <a:xfrm>
            <a:off x="1069848" y="3675888"/>
            <a:ext cx="3017520" cy="292608"/>
          </a:xfrm>
          <a:prstGeom prst="rect">
            <a:avLst/>
          </a:prstGeom>
          <a:noFill/>
          <a:ln/>
        </p:spPr>
        <p:txBody>
          <a:bodyPr wrap="square" lIns="0" tIns="0" rIns="0" bIns="0" rtlCol="0" anchor="t"/>
          <a:lstStyle/>
          <a:p>
            <a:pPr algn="l" indent="0" marL="0">
              <a:buNone/>
            </a:pPr>
            <a:r>
              <a:rPr lang="en-US" sz="1600" b="1" dirty="0">
                <a:solidFill>
                  <a:srgbClr val="F3F7FB"/>
                </a:solidFill>
                <a:latin typeface="Arial" pitchFamily="34" charset="0"/>
                <a:ea typeface="Arial" pitchFamily="34" charset="-122"/>
                <a:cs typeface="Arial" pitchFamily="34" charset="-120"/>
              </a:rPr>
              <a:t>Prato classico</a:t>
            </a:r>
            <a:endParaRPr lang="en-US" sz="1600" dirty="0"/>
          </a:p>
        </p:txBody>
      </p:sp>
      <p:pic>
        <p:nvPicPr>
          <p:cNvPr id="11" name="Image 1" descr="C:\Users\varis\OneDrive\Desktop\duckhunt-NL\presentazione\media\paesaggio-2.png">    </p:cNvPr>
          <p:cNvPicPr>
            <a:picLocks noChangeAspect="1"/>
          </p:cNvPicPr>
          <p:nvPr/>
        </p:nvPicPr>
        <p:blipFill>
          <a:blip r:embed="rId2"/>
          <a:srcRect l="0" r="0" t="16753" b="16753"/>
          <a:stretch/>
        </p:blipFill>
        <p:spPr>
          <a:xfrm>
            <a:off x="4434840" y="2011680"/>
            <a:ext cx="3547872" cy="1572768"/>
          </a:xfrm>
          <a:prstGeom prst="rect">
            <a:avLst/>
          </a:prstGeom>
        </p:spPr>
      </p:pic>
      <p:sp>
        <p:nvSpPr>
          <p:cNvPr id="12" name="Text 8"/>
          <p:cNvSpPr/>
          <p:nvPr/>
        </p:nvSpPr>
        <p:spPr>
          <a:xfrm>
            <a:off x="4434840" y="3675888"/>
            <a:ext cx="457200" cy="292608"/>
          </a:xfrm>
          <a:prstGeom prst="rect">
            <a:avLst/>
          </a:prstGeom>
          <a:noFill/>
          <a:ln/>
        </p:spPr>
        <p:txBody>
          <a:bodyPr wrap="square" lIns="0" tIns="0" rIns="0" bIns="0" rtlCol="0" anchor="t"/>
          <a:lstStyle/>
          <a:p>
            <a:pPr algn="l" indent="0" marL="0">
              <a:buNone/>
            </a:pPr>
            <a:r>
              <a:rPr lang="en-US" sz="1500" b="1" dirty="0">
                <a:solidFill>
                  <a:srgbClr val="F6CF58"/>
                </a:solidFill>
                <a:latin typeface="Arial" pitchFamily="34" charset="0"/>
                <a:ea typeface="Arial" pitchFamily="34" charset="-122"/>
                <a:cs typeface="Arial" pitchFamily="34" charset="-120"/>
              </a:rPr>
              <a:t>02</a:t>
            </a:r>
            <a:endParaRPr lang="en-US" sz="1500" dirty="0"/>
          </a:p>
        </p:txBody>
      </p:sp>
      <p:sp>
        <p:nvSpPr>
          <p:cNvPr id="13" name="Text 9"/>
          <p:cNvSpPr/>
          <p:nvPr/>
        </p:nvSpPr>
        <p:spPr>
          <a:xfrm>
            <a:off x="4937760" y="3675888"/>
            <a:ext cx="3017520" cy="292608"/>
          </a:xfrm>
          <a:prstGeom prst="rect">
            <a:avLst/>
          </a:prstGeom>
          <a:noFill/>
          <a:ln/>
        </p:spPr>
        <p:txBody>
          <a:bodyPr wrap="square" lIns="0" tIns="0" rIns="0" bIns="0" rtlCol="0" anchor="t"/>
          <a:lstStyle/>
          <a:p>
            <a:pPr algn="l" indent="0" marL="0">
              <a:buNone/>
            </a:pPr>
            <a:r>
              <a:rPr lang="en-US" sz="1600" b="1" dirty="0">
                <a:solidFill>
                  <a:srgbClr val="F3F7FB"/>
                </a:solidFill>
                <a:latin typeface="Arial" pitchFamily="34" charset="0"/>
                <a:ea typeface="Arial" pitchFamily="34" charset="-122"/>
                <a:cs typeface="Arial" pitchFamily="34" charset="-120"/>
              </a:rPr>
              <a:t>Primavera</a:t>
            </a:r>
            <a:endParaRPr lang="en-US" sz="1600" dirty="0"/>
          </a:p>
        </p:txBody>
      </p:sp>
      <p:pic>
        <p:nvPicPr>
          <p:cNvPr id="14" name="Image 2" descr="C:\Users\varis\OneDrive\Desktop\duckhunt-NL\presentazione\media\paesaggio-3.png">    </p:cNvPr>
          <p:cNvPicPr>
            <a:picLocks noChangeAspect="1"/>
          </p:cNvPicPr>
          <p:nvPr/>
        </p:nvPicPr>
        <p:blipFill>
          <a:blip r:embed="rId3"/>
          <a:srcRect l="0" r="0" t="16753" b="16753"/>
          <a:stretch/>
        </p:blipFill>
        <p:spPr>
          <a:xfrm>
            <a:off x="8302752" y="2011680"/>
            <a:ext cx="3547872" cy="1572768"/>
          </a:xfrm>
          <a:prstGeom prst="rect">
            <a:avLst/>
          </a:prstGeom>
        </p:spPr>
      </p:pic>
      <p:sp>
        <p:nvSpPr>
          <p:cNvPr id="15" name="Text 10"/>
          <p:cNvSpPr/>
          <p:nvPr/>
        </p:nvSpPr>
        <p:spPr>
          <a:xfrm>
            <a:off x="8302752" y="3675888"/>
            <a:ext cx="457200" cy="292608"/>
          </a:xfrm>
          <a:prstGeom prst="rect">
            <a:avLst/>
          </a:prstGeom>
          <a:noFill/>
          <a:ln/>
        </p:spPr>
        <p:txBody>
          <a:bodyPr wrap="square" lIns="0" tIns="0" rIns="0" bIns="0" rtlCol="0" anchor="t"/>
          <a:lstStyle/>
          <a:p>
            <a:pPr algn="l" indent="0" marL="0">
              <a:buNone/>
            </a:pPr>
            <a:r>
              <a:rPr lang="en-US" sz="1500" b="1" dirty="0">
                <a:solidFill>
                  <a:srgbClr val="F6CF58"/>
                </a:solidFill>
                <a:latin typeface="Arial" pitchFamily="34" charset="0"/>
                <a:ea typeface="Arial" pitchFamily="34" charset="-122"/>
                <a:cs typeface="Arial" pitchFamily="34" charset="-120"/>
              </a:rPr>
              <a:t>03</a:t>
            </a:r>
            <a:endParaRPr lang="en-US" sz="1500" dirty="0"/>
          </a:p>
        </p:txBody>
      </p:sp>
      <p:sp>
        <p:nvSpPr>
          <p:cNvPr id="16" name="Text 11"/>
          <p:cNvSpPr/>
          <p:nvPr/>
        </p:nvSpPr>
        <p:spPr>
          <a:xfrm>
            <a:off x="8805672" y="3675888"/>
            <a:ext cx="3017520" cy="292608"/>
          </a:xfrm>
          <a:prstGeom prst="rect">
            <a:avLst/>
          </a:prstGeom>
          <a:noFill/>
          <a:ln/>
        </p:spPr>
        <p:txBody>
          <a:bodyPr wrap="square" lIns="0" tIns="0" rIns="0" bIns="0" rtlCol="0" anchor="t"/>
          <a:lstStyle/>
          <a:p>
            <a:pPr algn="l" indent="0" marL="0">
              <a:buNone/>
            </a:pPr>
            <a:r>
              <a:rPr lang="en-US" sz="1600" b="1" dirty="0">
                <a:solidFill>
                  <a:srgbClr val="F3F7FB"/>
                </a:solidFill>
                <a:latin typeface="Arial" pitchFamily="34" charset="0"/>
                <a:ea typeface="Arial" pitchFamily="34" charset="-122"/>
                <a:cs typeface="Arial" pitchFamily="34" charset="-120"/>
              </a:rPr>
              <a:t>Autunno</a:t>
            </a:r>
            <a:endParaRPr lang="en-US" sz="1600" dirty="0"/>
          </a:p>
        </p:txBody>
      </p:sp>
      <p:pic>
        <p:nvPicPr>
          <p:cNvPr id="17" name="Image 3" descr="C:\Users\varis\OneDrive\Desktop\duckhunt-NL\presentazione\media\paesaggio-4.png">    </p:cNvPr>
          <p:cNvPicPr>
            <a:picLocks noChangeAspect="1"/>
          </p:cNvPicPr>
          <p:nvPr/>
        </p:nvPicPr>
        <p:blipFill>
          <a:blip r:embed="rId4"/>
          <a:srcRect l="0" r="0" t="16753" b="16753"/>
          <a:stretch/>
        </p:blipFill>
        <p:spPr>
          <a:xfrm>
            <a:off x="2487168" y="4178808"/>
            <a:ext cx="3547872" cy="1572768"/>
          </a:xfrm>
          <a:prstGeom prst="rect">
            <a:avLst/>
          </a:prstGeom>
        </p:spPr>
      </p:pic>
      <p:sp>
        <p:nvSpPr>
          <p:cNvPr id="18" name="Text 12"/>
          <p:cNvSpPr/>
          <p:nvPr/>
        </p:nvSpPr>
        <p:spPr>
          <a:xfrm>
            <a:off x="2487168" y="5843016"/>
            <a:ext cx="457200" cy="292608"/>
          </a:xfrm>
          <a:prstGeom prst="rect">
            <a:avLst/>
          </a:prstGeom>
          <a:noFill/>
          <a:ln/>
        </p:spPr>
        <p:txBody>
          <a:bodyPr wrap="square" lIns="0" tIns="0" rIns="0" bIns="0" rtlCol="0" anchor="t"/>
          <a:lstStyle/>
          <a:p>
            <a:pPr algn="l" indent="0" marL="0">
              <a:buNone/>
            </a:pPr>
            <a:r>
              <a:rPr lang="en-US" sz="1500" b="1" dirty="0">
                <a:solidFill>
                  <a:srgbClr val="F6CF58"/>
                </a:solidFill>
                <a:latin typeface="Arial" pitchFamily="34" charset="0"/>
                <a:ea typeface="Arial" pitchFamily="34" charset="-122"/>
                <a:cs typeface="Arial" pitchFamily="34" charset="-120"/>
              </a:rPr>
              <a:t>04</a:t>
            </a:r>
            <a:endParaRPr lang="en-US" sz="1500" dirty="0"/>
          </a:p>
        </p:txBody>
      </p:sp>
      <p:sp>
        <p:nvSpPr>
          <p:cNvPr id="19" name="Text 13"/>
          <p:cNvSpPr/>
          <p:nvPr/>
        </p:nvSpPr>
        <p:spPr>
          <a:xfrm>
            <a:off x="2990088" y="5843016"/>
            <a:ext cx="3017520" cy="292608"/>
          </a:xfrm>
          <a:prstGeom prst="rect">
            <a:avLst/>
          </a:prstGeom>
          <a:noFill/>
          <a:ln/>
        </p:spPr>
        <p:txBody>
          <a:bodyPr wrap="square" lIns="0" tIns="0" rIns="0" bIns="0" rtlCol="0" anchor="t"/>
          <a:lstStyle/>
          <a:p>
            <a:pPr algn="l" indent="0" marL="0">
              <a:buNone/>
            </a:pPr>
            <a:r>
              <a:rPr lang="en-US" sz="1600" b="1" dirty="0">
                <a:solidFill>
                  <a:srgbClr val="F3F7FB"/>
                </a:solidFill>
                <a:latin typeface="Arial" pitchFamily="34" charset="0"/>
                <a:ea typeface="Arial" pitchFamily="34" charset="-122"/>
                <a:cs typeface="Arial" pitchFamily="34" charset="-120"/>
              </a:rPr>
              <a:t>Inverno</a:t>
            </a:r>
            <a:endParaRPr lang="en-US" sz="1600" dirty="0"/>
          </a:p>
        </p:txBody>
      </p:sp>
      <p:pic>
        <p:nvPicPr>
          <p:cNvPr id="20" name="Image 4" descr="C:\Users\varis\OneDrive\Desktop\duckhunt-NL\presentazione\media\paesaggio-5.png">    </p:cNvPr>
          <p:cNvPicPr>
            <a:picLocks noChangeAspect="1"/>
          </p:cNvPicPr>
          <p:nvPr/>
        </p:nvPicPr>
        <p:blipFill>
          <a:blip r:embed="rId5"/>
          <a:srcRect l="0" r="0" t="16753" b="16753"/>
          <a:stretch/>
        </p:blipFill>
        <p:spPr>
          <a:xfrm>
            <a:off x="6355080" y="4178808"/>
            <a:ext cx="3547872" cy="1572768"/>
          </a:xfrm>
          <a:prstGeom prst="rect">
            <a:avLst/>
          </a:prstGeom>
        </p:spPr>
      </p:pic>
      <p:sp>
        <p:nvSpPr>
          <p:cNvPr id="21" name="Text 14"/>
          <p:cNvSpPr/>
          <p:nvPr/>
        </p:nvSpPr>
        <p:spPr>
          <a:xfrm>
            <a:off x="6355080" y="5843016"/>
            <a:ext cx="457200" cy="292608"/>
          </a:xfrm>
          <a:prstGeom prst="rect">
            <a:avLst/>
          </a:prstGeom>
          <a:noFill/>
          <a:ln/>
        </p:spPr>
        <p:txBody>
          <a:bodyPr wrap="square" lIns="0" tIns="0" rIns="0" bIns="0" rtlCol="0" anchor="t"/>
          <a:lstStyle/>
          <a:p>
            <a:pPr algn="l" indent="0" marL="0">
              <a:buNone/>
            </a:pPr>
            <a:r>
              <a:rPr lang="en-US" sz="1500" b="1" dirty="0">
                <a:solidFill>
                  <a:srgbClr val="F6CF58"/>
                </a:solidFill>
                <a:latin typeface="Arial" pitchFamily="34" charset="0"/>
                <a:ea typeface="Arial" pitchFamily="34" charset="-122"/>
                <a:cs typeface="Arial" pitchFamily="34" charset="-120"/>
              </a:rPr>
              <a:t>05</a:t>
            </a:r>
            <a:endParaRPr lang="en-US" sz="1500" dirty="0"/>
          </a:p>
        </p:txBody>
      </p:sp>
      <p:sp>
        <p:nvSpPr>
          <p:cNvPr id="22" name="Text 15"/>
          <p:cNvSpPr/>
          <p:nvPr/>
        </p:nvSpPr>
        <p:spPr>
          <a:xfrm>
            <a:off x="6858000" y="5843016"/>
            <a:ext cx="3017520" cy="292608"/>
          </a:xfrm>
          <a:prstGeom prst="rect">
            <a:avLst/>
          </a:prstGeom>
          <a:noFill/>
          <a:ln/>
        </p:spPr>
        <p:txBody>
          <a:bodyPr wrap="square" lIns="0" tIns="0" rIns="0" bIns="0" rtlCol="0" anchor="t"/>
          <a:lstStyle/>
          <a:p>
            <a:pPr algn="l" indent="0" marL="0">
              <a:buNone/>
            </a:pPr>
            <a:r>
              <a:rPr lang="en-US" sz="1600" b="1" dirty="0">
                <a:solidFill>
                  <a:srgbClr val="F3F7FB"/>
                </a:solidFill>
                <a:latin typeface="Arial" pitchFamily="34" charset="0"/>
                <a:ea typeface="Arial" pitchFamily="34" charset="-122"/>
                <a:cs typeface="Arial" pitchFamily="34" charset="-120"/>
              </a:rPr>
              <a:t>Galassia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08 / COME È COSTRUITO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Tre livelli costruiscono la scena.</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Ogni elemento usa il formato più adatto al proprio compito.</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10</a:t>
            </a:r>
            <a:endParaRPr lang="en-US" sz="1100" dirty="0"/>
          </a:p>
        </p:txBody>
      </p:sp>
      <p:pic>
        <p:nvPicPr>
          <p:cNvPr id="8" name="Image 0" descr="C:\Users\varis\OneDrive\Desktop\duckhunt-NL\presentazione\media\gioco-azione.png">    </p:cNvPr>
          <p:cNvPicPr>
            <a:picLocks noChangeAspect="1"/>
          </p:cNvPicPr>
          <p:nvPr/>
        </p:nvPicPr>
        <p:blipFill>
          <a:blip r:embed="rId1"/>
          <a:srcRect l="135" r="135" t="0" b="0"/>
          <a:stretch/>
        </p:blipFill>
        <p:spPr>
          <a:xfrm>
            <a:off x="566928" y="2075688"/>
            <a:ext cx="5998464" cy="3383280"/>
          </a:xfrm>
          <a:prstGeom prst="rect">
            <a:avLst/>
          </a:prstGeom>
        </p:spPr>
      </p:pic>
      <p:sp>
        <p:nvSpPr>
          <p:cNvPr id="9" name="Shape 6"/>
          <p:cNvSpPr/>
          <p:nvPr/>
        </p:nvSpPr>
        <p:spPr>
          <a:xfrm>
            <a:off x="594360" y="5705856"/>
            <a:ext cx="2880360" cy="292608"/>
          </a:xfrm>
          <a:prstGeom prst="rect">
            <a:avLst/>
          </a:prstGeom>
          <a:solidFill>
            <a:srgbClr val="4BBEFF">
              <a:alpha val="12000"/>
            </a:srgbClr>
          </a:solidFill>
          <a:ln w="12700">
            <a:solidFill>
              <a:srgbClr val="4BBEFF">
                <a:alpha val="0"/>
              </a:srgbClr>
            </a:solidFill>
            <a:prstDash val="solid"/>
          </a:ln>
        </p:spPr>
      </p:sp>
      <p:sp>
        <p:nvSpPr>
          <p:cNvPr id="10" name="Text 7"/>
          <p:cNvSpPr/>
          <p:nvPr/>
        </p:nvSpPr>
        <p:spPr>
          <a:xfrm>
            <a:off x="685800" y="5765292"/>
            <a:ext cx="2697480" cy="182880"/>
          </a:xfrm>
          <a:prstGeom prst="rect">
            <a:avLst/>
          </a:prstGeom>
          <a:noFill/>
          <a:ln/>
        </p:spPr>
        <p:txBody>
          <a:bodyPr wrap="square" lIns="0" tIns="0" rIns="0" bIns="0" rtlCol="0" anchor="t"/>
          <a:lstStyle/>
          <a:p>
            <a:pPr algn="l" indent="0" marL="0">
              <a:buNone/>
            </a:pPr>
            <a:r>
              <a:rPr lang="en-US" sz="900" b="1" spc="140" kern="0" dirty="0">
                <a:solidFill>
                  <a:srgbClr val="4BBEFF"/>
                </a:solidFill>
                <a:latin typeface="Arial" pitchFamily="34" charset="0"/>
                <a:ea typeface="Arial" pitchFamily="34" charset="-122"/>
                <a:cs typeface="Arial" pitchFamily="34" charset="-120"/>
              </a:rPr>
              <a:t>RISULTATO NEL BROWSER</a:t>
            </a:r>
            <a:endParaRPr lang="en-US" sz="900" dirty="0"/>
          </a:p>
        </p:txBody>
      </p:sp>
      <p:sp>
        <p:nvSpPr>
          <p:cNvPr id="11" name="Shape 8"/>
          <p:cNvSpPr/>
          <p:nvPr/>
        </p:nvSpPr>
        <p:spPr>
          <a:xfrm>
            <a:off x="7022592" y="2039112"/>
            <a:ext cx="4590288" cy="1234440"/>
          </a:xfrm>
          <a:prstGeom prst="rect">
            <a:avLst/>
          </a:prstGeom>
          <a:solidFill>
            <a:srgbClr val="142238"/>
          </a:solidFill>
          <a:ln w="12700">
            <a:solidFill>
              <a:srgbClr val="142238">
                <a:alpha val="0"/>
              </a:srgbClr>
            </a:solidFill>
            <a:prstDash val="solid"/>
          </a:ln>
        </p:spPr>
      </p:sp>
      <p:sp>
        <p:nvSpPr>
          <p:cNvPr id="12" name="Shape 9"/>
          <p:cNvSpPr/>
          <p:nvPr/>
        </p:nvSpPr>
        <p:spPr>
          <a:xfrm>
            <a:off x="7022592" y="2039112"/>
            <a:ext cx="41148" cy="1234440"/>
          </a:xfrm>
          <a:prstGeom prst="rect">
            <a:avLst/>
          </a:prstGeom>
          <a:solidFill>
            <a:srgbClr val="4BBEFF"/>
          </a:solidFill>
          <a:ln w="12700">
            <a:solidFill>
              <a:srgbClr val="4BBEFF">
                <a:alpha val="0"/>
              </a:srgbClr>
            </a:solidFill>
            <a:prstDash val="solid"/>
          </a:ln>
        </p:spPr>
      </p:sp>
      <p:sp>
        <p:nvSpPr>
          <p:cNvPr id="13" name="Text 10"/>
          <p:cNvSpPr/>
          <p:nvPr/>
        </p:nvSpPr>
        <p:spPr>
          <a:xfrm>
            <a:off x="7223760" y="2240280"/>
            <a:ext cx="4187952" cy="411480"/>
          </a:xfrm>
          <a:prstGeom prst="rect">
            <a:avLst/>
          </a:prstGeom>
          <a:noFill/>
          <a:ln/>
        </p:spPr>
        <p:txBody>
          <a:bodyPr wrap="square" lIns="0" tIns="0" rIns="0" bIns="0" rtlCol="0" anchor="t"/>
          <a:lstStyle/>
          <a:p>
            <a:pPr algn="l" indent="0" marL="0">
              <a:buNone/>
            </a:pPr>
            <a:r>
              <a:rPr lang="en-US" sz="2000" b="1" dirty="0">
                <a:solidFill>
                  <a:srgbClr val="F3F7FB"/>
                </a:solidFill>
                <a:latin typeface="Arial" pitchFamily="34" charset="0"/>
                <a:ea typeface="Arial" pitchFamily="34" charset="-122"/>
                <a:cs typeface="Arial" pitchFamily="34" charset="-120"/>
              </a:rPr>
              <a:t>01 / Video MP4</a:t>
            </a:r>
            <a:endParaRPr lang="en-US" sz="2000" dirty="0"/>
          </a:p>
        </p:txBody>
      </p:sp>
      <p:sp>
        <p:nvSpPr>
          <p:cNvPr id="14" name="Text 11"/>
          <p:cNvSpPr/>
          <p:nvPr/>
        </p:nvSpPr>
        <p:spPr>
          <a:xfrm>
            <a:off x="7223760" y="2880360"/>
            <a:ext cx="4187952" cy="27432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Il paesaggio animato sullo sfondo.</a:t>
            </a:r>
            <a:endParaRPr lang="en-US" sz="1600" dirty="0"/>
          </a:p>
        </p:txBody>
      </p:sp>
      <p:sp>
        <p:nvSpPr>
          <p:cNvPr id="15" name="Shape 12"/>
          <p:cNvSpPr/>
          <p:nvPr/>
        </p:nvSpPr>
        <p:spPr>
          <a:xfrm>
            <a:off x="7022592" y="3493008"/>
            <a:ext cx="4590288" cy="1234440"/>
          </a:xfrm>
          <a:prstGeom prst="rect">
            <a:avLst/>
          </a:prstGeom>
          <a:solidFill>
            <a:srgbClr val="142238"/>
          </a:solidFill>
          <a:ln w="12700">
            <a:solidFill>
              <a:srgbClr val="142238">
                <a:alpha val="0"/>
              </a:srgbClr>
            </a:solidFill>
            <a:prstDash val="solid"/>
          </a:ln>
        </p:spPr>
      </p:sp>
      <p:sp>
        <p:nvSpPr>
          <p:cNvPr id="16" name="Shape 13"/>
          <p:cNvSpPr/>
          <p:nvPr/>
        </p:nvSpPr>
        <p:spPr>
          <a:xfrm>
            <a:off x="7022592" y="3493008"/>
            <a:ext cx="41148" cy="1234440"/>
          </a:xfrm>
          <a:prstGeom prst="rect">
            <a:avLst/>
          </a:prstGeom>
          <a:solidFill>
            <a:srgbClr val="94D77A"/>
          </a:solidFill>
          <a:ln w="12700">
            <a:solidFill>
              <a:srgbClr val="94D77A">
                <a:alpha val="0"/>
              </a:srgbClr>
            </a:solidFill>
            <a:prstDash val="solid"/>
          </a:ln>
        </p:spPr>
      </p:sp>
      <p:sp>
        <p:nvSpPr>
          <p:cNvPr id="17" name="Text 14"/>
          <p:cNvSpPr/>
          <p:nvPr/>
        </p:nvSpPr>
        <p:spPr>
          <a:xfrm>
            <a:off x="7223760" y="3694176"/>
            <a:ext cx="4187952" cy="411480"/>
          </a:xfrm>
          <a:prstGeom prst="rect">
            <a:avLst/>
          </a:prstGeom>
          <a:noFill/>
          <a:ln/>
        </p:spPr>
        <p:txBody>
          <a:bodyPr wrap="square" lIns="0" tIns="0" rIns="0" bIns="0" rtlCol="0" anchor="t"/>
          <a:lstStyle/>
          <a:p>
            <a:pPr algn="l" indent="0" marL="0">
              <a:buNone/>
            </a:pPr>
            <a:r>
              <a:rPr lang="en-US" sz="2000" b="1" dirty="0">
                <a:solidFill>
                  <a:srgbClr val="F3F7FB"/>
                </a:solidFill>
                <a:latin typeface="Arial" pitchFamily="34" charset="0"/>
                <a:ea typeface="Arial" pitchFamily="34" charset="-122"/>
                <a:cs typeface="Arial" pitchFamily="34" charset="-120"/>
              </a:rPr>
              <a:t>02 / GIF della papera</a:t>
            </a:r>
            <a:endParaRPr lang="en-US" sz="2000" dirty="0"/>
          </a:p>
        </p:txBody>
      </p:sp>
      <p:sp>
        <p:nvSpPr>
          <p:cNvPr id="18" name="Text 15"/>
          <p:cNvSpPr/>
          <p:nvPr/>
        </p:nvSpPr>
        <p:spPr>
          <a:xfrm>
            <a:off x="7223760" y="4334256"/>
            <a:ext cx="4187952" cy="27432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Volo e caduta con sprite animati.</a:t>
            </a:r>
            <a:endParaRPr lang="en-US" sz="1600" dirty="0"/>
          </a:p>
        </p:txBody>
      </p:sp>
      <p:sp>
        <p:nvSpPr>
          <p:cNvPr id="19" name="Shape 16"/>
          <p:cNvSpPr/>
          <p:nvPr/>
        </p:nvSpPr>
        <p:spPr>
          <a:xfrm>
            <a:off x="7022592" y="4946904"/>
            <a:ext cx="4590288" cy="1234440"/>
          </a:xfrm>
          <a:prstGeom prst="rect">
            <a:avLst/>
          </a:prstGeom>
          <a:solidFill>
            <a:srgbClr val="142238"/>
          </a:solidFill>
          <a:ln w="12700">
            <a:solidFill>
              <a:srgbClr val="142238">
                <a:alpha val="0"/>
              </a:srgbClr>
            </a:solidFill>
            <a:prstDash val="solid"/>
          </a:ln>
        </p:spPr>
      </p:sp>
      <p:sp>
        <p:nvSpPr>
          <p:cNvPr id="20" name="Shape 17"/>
          <p:cNvSpPr/>
          <p:nvPr/>
        </p:nvSpPr>
        <p:spPr>
          <a:xfrm>
            <a:off x="7022592" y="4946904"/>
            <a:ext cx="41148" cy="1234440"/>
          </a:xfrm>
          <a:prstGeom prst="rect">
            <a:avLst/>
          </a:prstGeom>
          <a:solidFill>
            <a:srgbClr val="F6CF58"/>
          </a:solidFill>
          <a:ln w="12700">
            <a:solidFill>
              <a:srgbClr val="F6CF58">
                <a:alpha val="0"/>
              </a:srgbClr>
            </a:solidFill>
            <a:prstDash val="solid"/>
          </a:ln>
        </p:spPr>
      </p:sp>
      <p:sp>
        <p:nvSpPr>
          <p:cNvPr id="21" name="Text 18"/>
          <p:cNvSpPr/>
          <p:nvPr/>
        </p:nvSpPr>
        <p:spPr>
          <a:xfrm>
            <a:off x="7223760" y="5148072"/>
            <a:ext cx="4187952" cy="411480"/>
          </a:xfrm>
          <a:prstGeom prst="rect">
            <a:avLst/>
          </a:prstGeom>
          <a:noFill/>
          <a:ln/>
        </p:spPr>
        <p:txBody>
          <a:bodyPr wrap="square" lIns="0" tIns="0" rIns="0" bIns="0" rtlCol="0" anchor="t"/>
          <a:lstStyle/>
          <a:p>
            <a:pPr algn="l" indent="0" marL="0">
              <a:buNone/>
            </a:pPr>
            <a:r>
              <a:rPr lang="en-US" sz="2000" b="1" dirty="0">
                <a:solidFill>
                  <a:srgbClr val="F3F7FB"/>
                </a:solidFill>
                <a:latin typeface="Arial" pitchFamily="34" charset="0"/>
                <a:ea typeface="Arial" pitchFamily="34" charset="-122"/>
                <a:cs typeface="Arial" pitchFamily="34" charset="-120"/>
              </a:rPr>
              <a:t>03 / Canvas + HTML</a:t>
            </a:r>
            <a:endParaRPr lang="en-US" sz="2000" dirty="0"/>
          </a:p>
        </p:txBody>
      </p:sp>
      <p:sp>
        <p:nvSpPr>
          <p:cNvPr id="22" name="Text 19"/>
          <p:cNvSpPr/>
          <p:nvPr/>
        </p:nvSpPr>
        <p:spPr>
          <a:xfrm>
            <a:off x="7223760" y="5788152"/>
            <a:ext cx="4187952" cy="27432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Mirino, effetti, punteggi e pannelli.</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08 / COME È COSTRUITO</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Il movimento segue il tempo. La partita segue gli stati.</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Due idee tengono insieme animazioni, comandi e progressione.</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11</a:t>
            </a:r>
            <a:endParaRPr lang="en-US" sz="1100" dirty="0"/>
          </a:p>
        </p:txBody>
      </p:sp>
      <p:sp>
        <p:nvSpPr>
          <p:cNvPr id="8" name="Shape 6"/>
          <p:cNvSpPr/>
          <p:nvPr/>
        </p:nvSpPr>
        <p:spPr>
          <a:xfrm>
            <a:off x="566928" y="2084832"/>
            <a:ext cx="5212080" cy="1837944"/>
          </a:xfrm>
          <a:prstGeom prst="rect">
            <a:avLst/>
          </a:prstGeom>
          <a:solidFill>
            <a:srgbClr val="142238"/>
          </a:solidFill>
          <a:ln w="12700">
            <a:solidFill>
              <a:srgbClr val="142238">
                <a:alpha val="0"/>
              </a:srgbClr>
            </a:solidFill>
            <a:prstDash val="solid"/>
          </a:ln>
        </p:spPr>
      </p:sp>
      <p:sp>
        <p:nvSpPr>
          <p:cNvPr id="9" name="Shape 7"/>
          <p:cNvSpPr/>
          <p:nvPr/>
        </p:nvSpPr>
        <p:spPr>
          <a:xfrm>
            <a:off x="566928" y="2084832"/>
            <a:ext cx="41148" cy="1837944"/>
          </a:xfrm>
          <a:prstGeom prst="rect">
            <a:avLst/>
          </a:prstGeom>
          <a:solidFill>
            <a:srgbClr val="4BBEFF"/>
          </a:solidFill>
          <a:ln w="12700">
            <a:solidFill>
              <a:srgbClr val="4BBEFF">
                <a:alpha val="0"/>
              </a:srgbClr>
            </a:solidFill>
            <a:prstDash val="solid"/>
          </a:ln>
        </p:spPr>
      </p:sp>
      <p:sp>
        <p:nvSpPr>
          <p:cNvPr id="10" name="Text 8"/>
          <p:cNvSpPr/>
          <p:nvPr/>
        </p:nvSpPr>
        <p:spPr>
          <a:xfrm>
            <a:off x="768096" y="2286000"/>
            <a:ext cx="4809744" cy="411480"/>
          </a:xfrm>
          <a:prstGeom prst="rect">
            <a:avLst/>
          </a:prstGeom>
          <a:noFill/>
          <a:ln/>
        </p:spPr>
        <p:txBody>
          <a:bodyPr wrap="square" lIns="0" tIns="0" rIns="0" bIns="0" rtlCol="0" anchor="t"/>
          <a:lstStyle/>
          <a:p>
            <a:pPr algn="l" indent="0" marL="0">
              <a:buNone/>
            </a:pPr>
            <a:r>
              <a:rPr lang="en-US" sz="2000" b="1" dirty="0">
                <a:solidFill>
                  <a:srgbClr val="F3F7FB"/>
                </a:solidFill>
                <a:latin typeface="Arial" pitchFamily="34" charset="0"/>
                <a:ea typeface="Arial" pitchFamily="34" charset="-122"/>
                <a:cs typeface="Arial" pitchFamily="34" charset="-120"/>
              </a:rPr>
              <a:t>Il ciclo di animazione</a:t>
            </a:r>
            <a:endParaRPr lang="en-US" sz="2000" dirty="0"/>
          </a:p>
        </p:txBody>
      </p:sp>
      <p:sp>
        <p:nvSpPr>
          <p:cNvPr id="11" name="Text 9"/>
          <p:cNvSpPr/>
          <p:nvPr/>
        </p:nvSpPr>
        <p:spPr>
          <a:xfrm>
            <a:off x="768096" y="2926080"/>
            <a:ext cx="4809744" cy="877824"/>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requestAnimationFrame aggiorna</a:t>
            </a:r>
            <a:endParaRPr lang="en-US" sz="1600" dirty="0"/>
          </a:p>
          <a:p>
            <a:pPr algn="l" indent="0" marL="0">
              <a:buNone/>
            </a:pPr>
            <a:r>
              <a:rPr lang="en-US" sz="1600" dirty="0">
                <a:solidFill>
                  <a:srgbClr val="A3B5CA"/>
                </a:solidFill>
                <a:latin typeface="Arial" pitchFamily="34" charset="0"/>
                <a:ea typeface="Arial" pitchFamily="34" charset="-122"/>
                <a:cs typeface="Arial" pitchFamily="34" charset="-120"/>
              </a:rPr>
              <a:t>movimento, timer ed effetti, poi disegna.</a:t>
            </a:r>
            <a:endParaRPr lang="en-US" sz="1600" dirty="0"/>
          </a:p>
        </p:txBody>
      </p:sp>
      <p:sp>
        <p:nvSpPr>
          <p:cNvPr id="12" name="Shape 10"/>
          <p:cNvSpPr/>
          <p:nvPr/>
        </p:nvSpPr>
        <p:spPr>
          <a:xfrm>
            <a:off x="6364224" y="2084832"/>
            <a:ext cx="5212080" cy="1837944"/>
          </a:xfrm>
          <a:prstGeom prst="rect">
            <a:avLst/>
          </a:prstGeom>
          <a:solidFill>
            <a:srgbClr val="142238"/>
          </a:solidFill>
          <a:ln w="12700">
            <a:solidFill>
              <a:srgbClr val="142238">
                <a:alpha val="0"/>
              </a:srgbClr>
            </a:solidFill>
            <a:prstDash val="solid"/>
          </a:ln>
        </p:spPr>
      </p:sp>
      <p:sp>
        <p:nvSpPr>
          <p:cNvPr id="13" name="Shape 11"/>
          <p:cNvSpPr/>
          <p:nvPr/>
        </p:nvSpPr>
        <p:spPr>
          <a:xfrm>
            <a:off x="6364224" y="2084832"/>
            <a:ext cx="41148" cy="1837944"/>
          </a:xfrm>
          <a:prstGeom prst="rect">
            <a:avLst/>
          </a:prstGeom>
          <a:solidFill>
            <a:srgbClr val="F6CF58"/>
          </a:solidFill>
          <a:ln w="12700">
            <a:solidFill>
              <a:srgbClr val="F6CF58">
                <a:alpha val="0"/>
              </a:srgbClr>
            </a:solidFill>
            <a:prstDash val="solid"/>
          </a:ln>
        </p:spPr>
      </p:sp>
      <p:sp>
        <p:nvSpPr>
          <p:cNvPr id="14" name="Text 12"/>
          <p:cNvSpPr/>
          <p:nvPr/>
        </p:nvSpPr>
        <p:spPr>
          <a:xfrm>
            <a:off x="6565392" y="2286000"/>
            <a:ext cx="4809744" cy="411480"/>
          </a:xfrm>
          <a:prstGeom prst="rect">
            <a:avLst/>
          </a:prstGeom>
          <a:noFill/>
          <a:ln/>
        </p:spPr>
        <p:txBody>
          <a:bodyPr wrap="square" lIns="0" tIns="0" rIns="0" bIns="0" rtlCol="0" anchor="t"/>
          <a:lstStyle/>
          <a:p>
            <a:pPr algn="l" indent="0" marL="0">
              <a:buNone/>
            </a:pPr>
            <a:r>
              <a:rPr lang="en-US" sz="2000" b="1" dirty="0">
                <a:solidFill>
                  <a:srgbClr val="F3F7FB"/>
                </a:solidFill>
                <a:latin typeface="Arial" pitchFamily="34" charset="0"/>
                <a:ea typeface="Arial" pitchFamily="34" charset="-122"/>
                <a:cs typeface="Arial" pitchFamily="34" charset="-120"/>
              </a:rPr>
              <a:t>Lo stato del gioco</a:t>
            </a:r>
            <a:endParaRPr lang="en-US" sz="2000" dirty="0"/>
          </a:p>
        </p:txBody>
      </p:sp>
      <p:sp>
        <p:nvSpPr>
          <p:cNvPr id="15" name="Text 13"/>
          <p:cNvSpPr/>
          <p:nvPr/>
        </p:nvSpPr>
        <p:spPr>
          <a:xfrm>
            <a:off x="6565392" y="2926080"/>
            <a:ext cx="4809744" cy="877824"/>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Una sola struttura raccoglie fase, turno,</a:t>
            </a:r>
            <a:endParaRPr lang="en-US" sz="1600" dirty="0"/>
          </a:p>
          <a:p>
            <a:pPr algn="l" indent="0" marL="0">
              <a:buNone/>
            </a:pPr>
            <a:r>
              <a:rPr lang="en-US" sz="1600" dirty="0">
                <a:solidFill>
                  <a:srgbClr val="A3B5CA"/>
                </a:solidFill>
                <a:latin typeface="Arial" pitchFamily="34" charset="0"/>
                <a:ea typeface="Arial" pitchFamily="34" charset="-122"/>
                <a:cs typeface="Arial" pitchFamily="34" charset="-120"/>
              </a:rPr>
              <a:t>anatra, mira, munizioni e punteggio.</a:t>
            </a:r>
            <a:endParaRPr lang="en-US" sz="1600" dirty="0"/>
          </a:p>
        </p:txBody>
      </p:sp>
      <p:sp>
        <p:nvSpPr>
          <p:cNvPr id="16" name="Shape 14"/>
          <p:cNvSpPr/>
          <p:nvPr/>
        </p:nvSpPr>
        <p:spPr>
          <a:xfrm>
            <a:off x="594360" y="4480560"/>
            <a:ext cx="1938528" cy="640080"/>
          </a:xfrm>
          <a:prstGeom prst="rect">
            <a:avLst/>
          </a:prstGeom>
          <a:solidFill>
            <a:srgbClr val="142238"/>
          </a:solidFill>
          <a:ln w="12700">
            <a:solidFill>
              <a:srgbClr val="142238">
                <a:alpha val="0"/>
              </a:srgbClr>
            </a:solidFill>
            <a:prstDash val="solid"/>
          </a:ln>
        </p:spPr>
      </p:sp>
      <p:sp>
        <p:nvSpPr>
          <p:cNvPr id="17" name="Text 15"/>
          <p:cNvSpPr/>
          <p:nvPr/>
        </p:nvSpPr>
        <p:spPr>
          <a:xfrm>
            <a:off x="667512" y="4700016"/>
            <a:ext cx="1792224" cy="228600"/>
          </a:xfrm>
          <a:prstGeom prst="rect">
            <a:avLst/>
          </a:prstGeom>
          <a:noFill/>
          <a:ln/>
        </p:spPr>
        <p:txBody>
          <a:bodyPr wrap="square" lIns="0" tIns="0" rIns="0" bIns="0" rtlCol="0" anchor="t"/>
          <a:lstStyle/>
          <a:p>
            <a:pPr algn="ctr" indent="0" marL="0">
              <a:buNone/>
            </a:pPr>
            <a:r>
              <a:rPr lang="en-US" sz="1100" b="1" dirty="0">
                <a:solidFill>
                  <a:srgbClr val="A3B5CA"/>
                </a:solidFill>
                <a:latin typeface="Arial" pitchFamily="34" charset="0"/>
                <a:ea typeface="Arial" pitchFamily="34" charset="-122"/>
                <a:cs typeface="Arial" pitchFamily="34" charset="-120"/>
              </a:rPr>
              <a:t>PRONTA</a:t>
            </a:r>
            <a:endParaRPr lang="en-US" sz="1100" dirty="0"/>
          </a:p>
        </p:txBody>
      </p:sp>
      <p:sp>
        <p:nvSpPr>
          <p:cNvPr id="18" name="Text 16"/>
          <p:cNvSpPr/>
          <p:nvPr/>
        </p:nvSpPr>
        <p:spPr>
          <a:xfrm>
            <a:off x="2587752" y="4645152"/>
            <a:ext cx="274320" cy="365760"/>
          </a:xfrm>
          <a:prstGeom prst="rect">
            <a:avLst/>
          </a:prstGeom>
          <a:noFill/>
          <a:ln/>
        </p:spPr>
        <p:txBody>
          <a:bodyPr wrap="square" lIns="0" tIns="0" rIns="0" bIns="0" rtlCol="0" anchor="t"/>
          <a:lstStyle/>
          <a:p>
            <a:pPr algn="l" indent="0" marL="0">
              <a:buNone/>
            </a:pPr>
            <a:r>
              <a:rPr lang="en-US" sz="2200" dirty="0">
                <a:solidFill>
                  <a:srgbClr val="A3B5CA"/>
                </a:solidFill>
                <a:latin typeface="Arial" pitchFamily="34" charset="0"/>
                <a:ea typeface="Arial" pitchFamily="34" charset="-122"/>
                <a:cs typeface="Arial" pitchFamily="34" charset="-120"/>
              </a:rPr>
              <a:t>→</a:t>
            </a:r>
            <a:endParaRPr lang="en-US" sz="2200" dirty="0"/>
          </a:p>
        </p:txBody>
      </p:sp>
      <p:sp>
        <p:nvSpPr>
          <p:cNvPr id="19" name="Shape 17"/>
          <p:cNvSpPr/>
          <p:nvPr/>
        </p:nvSpPr>
        <p:spPr>
          <a:xfrm>
            <a:off x="2926080" y="4480560"/>
            <a:ext cx="1938528" cy="640080"/>
          </a:xfrm>
          <a:prstGeom prst="rect">
            <a:avLst/>
          </a:prstGeom>
          <a:solidFill>
            <a:srgbClr val="142238"/>
          </a:solidFill>
          <a:ln w="12700">
            <a:solidFill>
              <a:srgbClr val="142238">
                <a:alpha val="0"/>
              </a:srgbClr>
            </a:solidFill>
            <a:prstDash val="solid"/>
          </a:ln>
        </p:spPr>
      </p:sp>
      <p:sp>
        <p:nvSpPr>
          <p:cNvPr id="20" name="Text 18"/>
          <p:cNvSpPr/>
          <p:nvPr/>
        </p:nvSpPr>
        <p:spPr>
          <a:xfrm>
            <a:off x="2999232" y="4700016"/>
            <a:ext cx="1792224" cy="228600"/>
          </a:xfrm>
          <a:prstGeom prst="rect">
            <a:avLst/>
          </a:prstGeom>
          <a:noFill/>
          <a:ln/>
        </p:spPr>
        <p:txBody>
          <a:bodyPr wrap="square" lIns="0" tIns="0" rIns="0" bIns="0" rtlCol="0" anchor="t"/>
          <a:lstStyle/>
          <a:p>
            <a:pPr algn="ctr" indent="0" marL="0">
              <a:buNone/>
            </a:pPr>
            <a:r>
              <a:rPr lang="en-US" sz="1100" b="1" dirty="0">
                <a:solidFill>
                  <a:srgbClr val="4BBEFF"/>
                </a:solidFill>
                <a:latin typeface="Arial" pitchFamily="34" charset="0"/>
                <a:ea typeface="Arial" pitchFamily="34" charset="-122"/>
                <a:cs typeface="Arial" pitchFamily="34" charset="-120"/>
              </a:rPr>
              <a:t>INTRO ROUND</a:t>
            </a:r>
            <a:endParaRPr lang="en-US" sz="1100" dirty="0"/>
          </a:p>
        </p:txBody>
      </p:sp>
      <p:sp>
        <p:nvSpPr>
          <p:cNvPr id="21" name="Text 19"/>
          <p:cNvSpPr/>
          <p:nvPr/>
        </p:nvSpPr>
        <p:spPr>
          <a:xfrm>
            <a:off x="4919472" y="4645152"/>
            <a:ext cx="274320" cy="365760"/>
          </a:xfrm>
          <a:prstGeom prst="rect">
            <a:avLst/>
          </a:prstGeom>
          <a:noFill/>
          <a:ln/>
        </p:spPr>
        <p:txBody>
          <a:bodyPr wrap="square" lIns="0" tIns="0" rIns="0" bIns="0" rtlCol="0" anchor="t"/>
          <a:lstStyle/>
          <a:p>
            <a:pPr algn="l" indent="0" marL="0">
              <a:buNone/>
            </a:pPr>
            <a:r>
              <a:rPr lang="en-US" sz="2200" dirty="0">
                <a:solidFill>
                  <a:srgbClr val="A3B5CA"/>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5257800" y="4480560"/>
            <a:ext cx="1938528" cy="640080"/>
          </a:xfrm>
          <a:prstGeom prst="rect">
            <a:avLst/>
          </a:prstGeom>
          <a:solidFill>
            <a:srgbClr val="142238"/>
          </a:solidFill>
          <a:ln w="12700">
            <a:solidFill>
              <a:srgbClr val="142238">
                <a:alpha val="0"/>
              </a:srgbClr>
            </a:solidFill>
            <a:prstDash val="solid"/>
          </a:ln>
        </p:spPr>
      </p:sp>
      <p:sp>
        <p:nvSpPr>
          <p:cNvPr id="23" name="Text 21"/>
          <p:cNvSpPr/>
          <p:nvPr/>
        </p:nvSpPr>
        <p:spPr>
          <a:xfrm>
            <a:off x="5330952" y="4700016"/>
            <a:ext cx="1792224" cy="228600"/>
          </a:xfrm>
          <a:prstGeom prst="rect">
            <a:avLst/>
          </a:prstGeom>
          <a:noFill/>
          <a:ln/>
        </p:spPr>
        <p:txBody>
          <a:bodyPr wrap="square" lIns="0" tIns="0" rIns="0" bIns="0" rtlCol="0" anchor="t"/>
          <a:lstStyle/>
          <a:p>
            <a:pPr algn="ctr" indent="0" marL="0">
              <a:buNone/>
            </a:pPr>
            <a:r>
              <a:rPr lang="en-US" sz="1100" b="1" dirty="0">
                <a:solidFill>
                  <a:srgbClr val="F6CF58"/>
                </a:solidFill>
                <a:latin typeface="Arial" pitchFamily="34" charset="0"/>
                <a:ea typeface="Arial" pitchFamily="34" charset="-122"/>
                <a:cs typeface="Arial" pitchFamily="34" charset="-120"/>
              </a:rPr>
              <a:t>IN CORSO</a:t>
            </a:r>
            <a:endParaRPr lang="en-US" sz="1100" dirty="0"/>
          </a:p>
        </p:txBody>
      </p:sp>
      <p:sp>
        <p:nvSpPr>
          <p:cNvPr id="24" name="Text 22"/>
          <p:cNvSpPr/>
          <p:nvPr/>
        </p:nvSpPr>
        <p:spPr>
          <a:xfrm>
            <a:off x="7251192" y="4645152"/>
            <a:ext cx="274320" cy="365760"/>
          </a:xfrm>
          <a:prstGeom prst="rect">
            <a:avLst/>
          </a:prstGeom>
          <a:noFill/>
          <a:ln/>
        </p:spPr>
        <p:txBody>
          <a:bodyPr wrap="square" lIns="0" tIns="0" rIns="0" bIns="0" rtlCol="0" anchor="t"/>
          <a:lstStyle/>
          <a:p>
            <a:pPr algn="l" indent="0" marL="0">
              <a:buNone/>
            </a:pPr>
            <a:r>
              <a:rPr lang="en-US" sz="2200" dirty="0">
                <a:solidFill>
                  <a:srgbClr val="A3B5CA"/>
                </a:solidFill>
                <a:latin typeface="Arial" pitchFamily="34" charset="0"/>
                <a:ea typeface="Arial" pitchFamily="34" charset="-122"/>
                <a:cs typeface="Arial" pitchFamily="34" charset="-120"/>
              </a:rPr>
              <a:t>→</a:t>
            </a:r>
            <a:endParaRPr lang="en-US" sz="2200" dirty="0"/>
          </a:p>
        </p:txBody>
      </p:sp>
      <p:sp>
        <p:nvSpPr>
          <p:cNvPr id="25" name="Shape 23"/>
          <p:cNvSpPr/>
          <p:nvPr/>
        </p:nvSpPr>
        <p:spPr>
          <a:xfrm>
            <a:off x="7589520" y="4480560"/>
            <a:ext cx="1938528" cy="640080"/>
          </a:xfrm>
          <a:prstGeom prst="rect">
            <a:avLst/>
          </a:prstGeom>
          <a:solidFill>
            <a:srgbClr val="142238"/>
          </a:solidFill>
          <a:ln w="12700">
            <a:solidFill>
              <a:srgbClr val="142238">
                <a:alpha val="0"/>
              </a:srgbClr>
            </a:solidFill>
            <a:prstDash val="solid"/>
          </a:ln>
        </p:spPr>
      </p:sp>
      <p:sp>
        <p:nvSpPr>
          <p:cNvPr id="26" name="Text 24"/>
          <p:cNvSpPr/>
          <p:nvPr/>
        </p:nvSpPr>
        <p:spPr>
          <a:xfrm>
            <a:off x="7662672" y="4700016"/>
            <a:ext cx="1792224" cy="228600"/>
          </a:xfrm>
          <a:prstGeom prst="rect">
            <a:avLst/>
          </a:prstGeom>
          <a:noFill/>
          <a:ln/>
        </p:spPr>
        <p:txBody>
          <a:bodyPr wrap="square" lIns="0" tIns="0" rIns="0" bIns="0" rtlCol="0" anchor="t"/>
          <a:lstStyle/>
          <a:p>
            <a:pPr algn="ctr" indent="0" marL="0">
              <a:buNone/>
            </a:pPr>
            <a:r>
              <a:rPr lang="en-US" sz="1100" b="1" dirty="0">
                <a:solidFill>
                  <a:srgbClr val="94D77A"/>
                </a:solidFill>
                <a:latin typeface="Arial" pitchFamily="34" charset="0"/>
                <a:ea typeface="Arial" pitchFamily="34" charset="-122"/>
                <a:cs typeface="Arial" pitchFamily="34" charset="-120"/>
              </a:rPr>
              <a:t>TRA BERSAGLI</a:t>
            </a:r>
            <a:endParaRPr lang="en-US" sz="1100" dirty="0"/>
          </a:p>
        </p:txBody>
      </p:sp>
      <p:sp>
        <p:nvSpPr>
          <p:cNvPr id="27" name="Text 25"/>
          <p:cNvSpPr/>
          <p:nvPr/>
        </p:nvSpPr>
        <p:spPr>
          <a:xfrm>
            <a:off x="9582912" y="4645152"/>
            <a:ext cx="274320" cy="365760"/>
          </a:xfrm>
          <a:prstGeom prst="rect">
            <a:avLst/>
          </a:prstGeom>
          <a:noFill/>
          <a:ln/>
        </p:spPr>
        <p:txBody>
          <a:bodyPr wrap="square" lIns="0" tIns="0" rIns="0" bIns="0" rtlCol="0" anchor="t"/>
          <a:lstStyle/>
          <a:p>
            <a:pPr algn="l" indent="0" marL="0">
              <a:buNone/>
            </a:pPr>
            <a:r>
              <a:rPr lang="en-US" sz="2200" dirty="0">
                <a:solidFill>
                  <a:srgbClr val="A3B5CA"/>
                </a:solidFill>
                <a:latin typeface="Arial" pitchFamily="34" charset="0"/>
                <a:ea typeface="Arial" pitchFamily="34" charset="-122"/>
                <a:cs typeface="Arial" pitchFamily="34" charset="-120"/>
              </a:rPr>
              <a:t>→</a:t>
            </a:r>
            <a:endParaRPr lang="en-US" sz="2200" dirty="0"/>
          </a:p>
        </p:txBody>
      </p:sp>
      <p:sp>
        <p:nvSpPr>
          <p:cNvPr id="28" name="Shape 26"/>
          <p:cNvSpPr/>
          <p:nvPr/>
        </p:nvSpPr>
        <p:spPr>
          <a:xfrm>
            <a:off x="9921240" y="4480560"/>
            <a:ext cx="1938528" cy="640080"/>
          </a:xfrm>
          <a:prstGeom prst="rect">
            <a:avLst/>
          </a:prstGeom>
          <a:solidFill>
            <a:srgbClr val="142238"/>
          </a:solidFill>
          <a:ln w="12700">
            <a:solidFill>
              <a:srgbClr val="142238">
                <a:alpha val="0"/>
              </a:srgbClr>
            </a:solidFill>
            <a:prstDash val="solid"/>
          </a:ln>
        </p:spPr>
      </p:sp>
      <p:sp>
        <p:nvSpPr>
          <p:cNvPr id="29" name="Text 27"/>
          <p:cNvSpPr/>
          <p:nvPr/>
        </p:nvSpPr>
        <p:spPr>
          <a:xfrm>
            <a:off x="9994392" y="4700016"/>
            <a:ext cx="1792224" cy="228600"/>
          </a:xfrm>
          <a:prstGeom prst="rect">
            <a:avLst/>
          </a:prstGeom>
          <a:noFill/>
          <a:ln/>
        </p:spPr>
        <p:txBody>
          <a:bodyPr wrap="square" lIns="0" tIns="0" rIns="0" bIns="0" rtlCol="0" anchor="t"/>
          <a:lstStyle/>
          <a:p>
            <a:pPr algn="ctr" indent="0" marL="0">
              <a:buNone/>
            </a:pPr>
            <a:r>
              <a:rPr lang="en-US" sz="1100" b="1" dirty="0">
                <a:solidFill>
                  <a:srgbClr val="A3B5CA"/>
                </a:solidFill>
                <a:latin typeface="Arial" pitchFamily="34" charset="0"/>
                <a:ea typeface="Arial" pitchFamily="34" charset="-122"/>
                <a:cs typeface="Arial" pitchFamily="34" charset="-120"/>
              </a:rPr>
              <a:t>CONCLUSA</a:t>
            </a:r>
            <a:endParaRPr lang="en-US" sz="1100" dirty="0"/>
          </a:p>
        </p:txBody>
      </p:sp>
      <p:sp>
        <p:nvSpPr>
          <p:cNvPr id="30" name="Text 28"/>
          <p:cNvSpPr/>
          <p:nvPr/>
        </p:nvSpPr>
        <p:spPr>
          <a:xfrm>
            <a:off x="621792" y="5650992"/>
            <a:ext cx="10698480" cy="457200"/>
          </a:xfrm>
          <a:prstGeom prst="rect">
            <a:avLst/>
          </a:prstGeom>
          <a:noFill/>
          <a:ln/>
        </p:spPr>
        <p:txBody>
          <a:bodyPr wrap="square" lIns="0" tIns="0" rIns="0" bIns="0" rtlCol="0" anchor="t"/>
          <a:lstStyle/>
          <a:p>
            <a:pPr algn="l" indent="0" marL="0">
              <a:buNone/>
            </a:pPr>
            <a:r>
              <a:rPr lang="en-US" sz="1700" dirty="0">
                <a:solidFill>
                  <a:srgbClr val="A3B5CA"/>
                </a:solidFill>
                <a:latin typeface="Arial" pitchFamily="34" charset="0"/>
                <a:ea typeface="Arial" pitchFamily="34" charset="-122"/>
                <a:cs typeface="Arial" pitchFamily="34" charset="-120"/>
              </a:rPr>
              <a:t>La pausa sospende gli aggiornamenti. Il cambio turno prepara un nuovo scenario.</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09 / DENTRO JAVASCRIPT</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Come si decide se il colpo è a segno?</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La posizione della mira viene confrontata con quella della papera.</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12</a:t>
            </a:r>
            <a:endParaRPr lang="en-US" sz="1100" dirty="0"/>
          </a:p>
        </p:txBody>
      </p:sp>
      <p:sp>
        <p:nvSpPr>
          <p:cNvPr id="8" name="Shape 6"/>
          <p:cNvSpPr/>
          <p:nvPr/>
        </p:nvSpPr>
        <p:spPr>
          <a:xfrm>
            <a:off x="585216" y="2121408"/>
            <a:ext cx="7379208" cy="3246120"/>
          </a:xfrm>
          <a:prstGeom prst="rect">
            <a:avLst/>
          </a:prstGeom>
          <a:solidFill>
            <a:srgbClr val="142238"/>
          </a:solidFill>
          <a:ln w="12700">
            <a:solidFill>
              <a:srgbClr val="142238">
                <a:alpha val="0"/>
              </a:srgbClr>
            </a:solidFill>
            <a:prstDash val="solid"/>
          </a:ln>
        </p:spPr>
      </p:sp>
      <p:sp>
        <p:nvSpPr>
          <p:cNvPr id="9" name="Shape 7"/>
          <p:cNvSpPr/>
          <p:nvPr/>
        </p:nvSpPr>
        <p:spPr>
          <a:xfrm>
            <a:off x="822960" y="2359152"/>
            <a:ext cx="2971800" cy="292608"/>
          </a:xfrm>
          <a:prstGeom prst="rect">
            <a:avLst/>
          </a:prstGeom>
          <a:solidFill>
            <a:srgbClr val="4BBEFF">
              <a:alpha val="12000"/>
            </a:srgbClr>
          </a:solidFill>
          <a:ln w="12700">
            <a:solidFill>
              <a:srgbClr val="4BBEFF">
                <a:alpha val="0"/>
              </a:srgbClr>
            </a:solidFill>
            <a:prstDash val="solid"/>
          </a:ln>
        </p:spPr>
      </p:sp>
      <p:sp>
        <p:nvSpPr>
          <p:cNvPr id="10" name="Text 8"/>
          <p:cNvSpPr/>
          <p:nvPr/>
        </p:nvSpPr>
        <p:spPr>
          <a:xfrm>
            <a:off x="914400" y="2418588"/>
            <a:ext cx="2788920" cy="182880"/>
          </a:xfrm>
          <a:prstGeom prst="rect">
            <a:avLst/>
          </a:prstGeom>
          <a:noFill/>
          <a:ln/>
        </p:spPr>
        <p:txBody>
          <a:bodyPr wrap="square" lIns="0" tIns="0" rIns="0" bIns="0" rtlCol="0" anchor="t"/>
          <a:lstStyle/>
          <a:p>
            <a:pPr algn="l" indent="0" marL="0">
              <a:buNone/>
            </a:pPr>
            <a:r>
              <a:rPr lang="en-US" sz="900" b="1" spc="140" kern="0" dirty="0">
                <a:solidFill>
                  <a:srgbClr val="4BBEFF"/>
                </a:solidFill>
                <a:latin typeface="Arial" pitchFamily="34" charset="0"/>
                <a:ea typeface="Arial" pitchFamily="34" charset="-122"/>
                <a:cs typeface="Arial" pitchFamily="34" charset="-120"/>
              </a:rPr>
              <a:t>ESTRATTO DA script.js</a:t>
            </a:r>
            <a:endParaRPr lang="en-US" sz="900" dirty="0"/>
          </a:p>
        </p:txBody>
      </p:sp>
      <p:sp>
        <p:nvSpPr>
          <p:cNvPr id="11" name="Text 9"/>
          <p:cNvSpPr/>
          <p:nvPr/>
        </p:nvSpPr>
        <p:spPr>
          <a:xfrm>
            <a:off x="859536" y="2999232"/>
            <a:ext cx="6812280" cy="2029968"/>
          </a:xfrm>
          <a:prstGeom prst="rect">
            <a:avLst/>
          </a:prstGeom>
          <a:noFill/>
          <a:ln/>
        </p:spPr>
        <p:txBody>
          <a:bodyPr wrap="square" lIns="0" tIns="0" rIns="0" bIns="0" rtlCol="0" anchor="t"/>
          <a:lstStyle/>
          <a:p>
            <a:pPr algn="l" indent="0" marL="0">
              <a:buNone/>
            </a:pPr>
            <a:r>
              <a:rPr lang="en-US" sz="1600" dirty="0">
                <a:solidFill>
                  <a:srgbClr val="F3F7FB"/>
                </a:solidFill>
                <a:latin typeface="Consolas" pitchFamily="34" charset="0"/>
                <a:ea typeface="Consolas" pitchFamily="34" charset="-122"/>
                <a:cs typeface="Consolas" pitchFamily="34" charset="-120"/>
              </a:rPr>
              <a:t>const colpita =</a:t>
            </a:r>
            <a:endParaRPr lang="en-US" sz="1600" dirty="0"/>
          </a:p>
          <a:p>
            <a:pPr algn="l" indent="0" marL="0">
              <a:buNone/>
            </a:pPr>
            <a:r>
              <a:rPr lang="en-US" sz="1600" dirty="0">
                <a:solidFill>
                  <a:srgbClr val="F3F7FB"/>
                </a:solidFill>
                <a:latin typeface="Consolas" pitchFamily="34" charset="0"/>
                <a:ea typeface="Consolas" pitchFamily="34" charset="-122"/>
                <a:cs typeface="Consolas" pitchFamily="34" charset="-120"/>
              </a:rPr>
              <a:t>  Math.abs(mira.x - anatra.x) &lt; 27 * scala &amp;&amp;</a:t>
            </a:r>
            <a:endParaRPr lang="en-US" sz="1600" dirty="0"/>
          </a:p>
          <a:p>
            <a:pPr algn="l" indent="0" marL="0">
              <a:buNone/>
            </a:pPr>
            <a:r>
              <a:rPr lang="en-US" sz="1600" dirty="0">
                <a:solidFill>
                  <a:srgbClr val="F3F7FB"/>
                </a:solidFill>
                <a:latin typeface="Consolas" pitchFamily="34" charset="0"/>
                <a:ea typeface="Consolas" pitchFamily="34" charset="-122"/>
                <a:cs typeface="Consolas" pitchFamily="34" charset="-120"/>
              </a:rPr>
              <a:t>  Math.abs(mira.y - anatra.y) &lt; 21 * scala;</a:t>
            </a:r>
            <a:endParaRPr lang="en-US" sz="1600" dirty="0"/>
          </a:p>
          <a:p>
            <a:pPr algn="l" indent="0" marL="0">
              <a:buNone/>
            </a:pPr>
            <a:endParaRPr lang="en-US" sz="1600" dirty="0"/>
          </a:p>
          <a:p>
            <a:pPr algn="l" indent="0" marL="0">
              <a:buNone/>
            </a:pPr>
            <a:r>
              <a:rPr lang="en-US" sz="1600" dirty="0">
                <a:solidFill>
                  <a:srgbClr val="F3F7FB"/>
                </a:solidFill>
                <a:latin typeface="Consolas" pitchFamily="34" charset="0"/>
                <a:ea typeface="Consolas" pitchFamily="34" charset="-122"/>
                <a:cs typeface="Consolas" pitchFamily="34" charset="-120"/>
              </a:rPr>
              <a:t>const punti = colpita</a:t>
            </a:r>
            <a:endParaRPr lang="en-US" sz="1600" dirty="0"/>
          </a:p>
          <a:p>
            <a:pPr algn="l" indent="0" marL="0">
              <a:buNone/>
            </a:pPr>
            <a:r>
              <a:rPr lang="en-US" sz="1600" dirty="0">
                <a:solidFill>
                  <a:srgbClr val="F3F7FB"/>
                </a:solidFill>
                <a:latin typeface="Consolas" pitchFamily="34" charset="0"/>
                <a:ea typeface="Consolas" pitchFamily="34" charset="-122"/>
                <a:cs typeface="Consolas" pitchFamily="34" charset="-120"/>
              </a:rPr>
              <a:t>  ? PUNTI_PER_COLPO[numeroColpo - 1]</a:t>
            </a:r>
            <a:endParaRPr lang="en-US" sz="1600" dirty="0"/>
          </a:p>
          <a:p>
            <a:pPr algn="l" indent="0" marL="0">
              <a:buNone/>
            </a:pPr>
            <a:r>
              <a:rPr lang="en-US" sz="1600" dirty="0">
                <a:solidFill>
                  <a:srgbClr val="F3F7FB"/>
                </a:solidFill>
                <a:latin typeface="Consolas" pitchFamily="34" charset="0"/>
                <a:ea typeface="Consolas" pitchFamily="34" charset="-122"/>
                <a:cs typeface="Consolas" pitchFamily="34" charset="-120"/>
              </a:rPr>
              <a:t>  : 0;</a:t>
            </a:r>
            <a:endParaRPr lang="en-US" sz="1600" dirty="0"/>
          </a:p>
        </p:txBody>
      </p:sp>
      <p:sp>
        <p:nvSpPr>
          <p:cNvPr id="12" name="Text 10"/>
          <p:cNvSpPr/>
          <p:nvPr/>
        </p:nvSpPr>
        <p:spPr>
          <a:xfrm>
            <a:off x="8366760" y="2313432"/>
            <a:ext cx="457200" cy="457200"/>
          </a:xfrm>
          <a:prstGeom prst="rect">
            <a:avLst/>
          </a:prstGeom>
          <a:noFill/>
          <a:ln/>
        </p:spPr>
        <p:txBody>
          <a:bodyPr wrap="square" lIns="0" tIns="0" rIns="0" bIns="0" rtlCol="0" anchor="t"/>
          <a:lstStyle/>
          <a:p>
            <a:pPr algn="l" indent="0" marL="0">
              <a:buNone/>
            </a:pPr>
            <a:r>
              <a:rPr lang="en-US" sz="3000" b="1" dirty="0">
                <a:solidFill>
                  <a:srgbClr val="F6CF58"/>
                </a:solidFill>
                <a:latin typeface="Arial" pitchFamily="34" charset="0"/>
                <a:ea typeface="Arial" pitchFamily="34" charset="-122"/>
                <a:cs typeface="Arial" pitchFamily="34" charset="-120"/>
              </a:rPr>
              <a:t>1</a:t>
            </a:r>
            <a:endParaRPr lang="en-US" sz="3000" dirty="0"/>
          </a:p>
        </p:txBody>
      </p:sp>
      <p:sp>
        <p:nvSpPr>
          <p:cNvPr id="13" name="Text 11"/>
          <p:cNvSpPr/>
          <p:nvPr/>
        </p:nvSpPr>
        <p:spPr>
          <a:xfrm>
            <a:off x="8961120" y="2377440"/>
            <a:ext cx="2624328" cy="859536"/>
          </a:xfrm>
          <a:prstGeom prst="rect">
            <a:avLst/>
          </a:prstGeom>
          <a:noFill/>
          <a:ln/>
        </p:spPr>
        <p:txBody>
          <a:bodyPr wrap="square" lIns="0" tIns="0" rIns="0" bIns="0" rtlCol="0" anchor="t"/>
          <a:lstStyle/>
          <a:p>
            <a:pPr algn="l" indent="0" marL="0">
              <a:buNone/>
            </a:pPr>
            <a:r>
              <a:rPr lang="en-US" sz="1700" dirty="0">
                <a:solidFill>
                  <a:srgbClr val="A3B5CA"/>
                </a:solidFill>
                <a:latin typeface="Arial" pitchFamily="34" charset="0"/>
                <a:ea typeface="Arial" pitchFamily="34" charset="-122"/>
                <a:cs typeface="Arial" pitchFamily="34" charset="-120"/>
              </a:rPr>
              <a:t>Controlla la distanza</a:t>
            </a:r>
            <a:endParaRPr lang="en-US" sz="1700" dirty="0"/>
          </a:p>
          <a:p>
            <a:pPr algn="l" indent="0" marL="0">
              <a:buNone/>
            </a:pPr>
            <a:r>
              <a:rPr lang="en-US" sz="1700" dirty="0">
                <a:solidFill>
                  <a:srgbClr val="A3B5CA"/>
                </a:solidFill>
                <a:latin typeface="Arial" pitchFamily="34" charset="0"/>
                <a:ea typeface="Arial" pitchFamily="34" charset="-122"/>
                <a:cs typeface="Arial" pitchFamily="34" charset="-120"/>
              </a:rPr>
              <a:t>in orizzontale e verticale.</a:t>
            </a:r>
            <a:endParaRPr lang="en-US" sz="1700" dirty="0"/>
          </a:p>
        </p:txBody>
      </p:sp>
      <p:sp>
        <p:nvSpPr>
          <p:cNvPr id="14" name="Text 12"/>
          <p:cNvSpPr/>
          <p:nvPr/>
        </p:nvSpPr>
        <p:spPr>
          <a:xfrm>
            <a:off x="8366760" y="3538728"/>
            <a:ext cx="457200" cy="457200"/>
          </a:xfrm>
          <a:prstGeom prst="rect">
            <a:avLst/>
          </a:prstGeom>
          <a:noFill/>
          <a:ln/>
        </p:spPr>
        <p:txBody>
          <a:bodyPr wrap="square" lIns="0" tIns="0" rIns="0" bIns="0" rtlCol="0" anchor="t"/>
          <a:lstStyle/>
          <a:p>
            <a:pPr algn="l" indent="0" marL="0">
              <a:buNone/>
            </a:pPr>
            <a:r>
              <a:rPr lang="en-US" sz="3000" b="1" dirty="0">
                <a:solidFill>
                  <a:srgbClr val="4BBEFF"/>
                </a:solidFill>
                <a:latin typeface="Arial" pitchFamily="34" charset="0"/>
                <a:ea typeface="Arial" pitchFamily="34" charset="-122"/>
                <a:cs typeface="Arial" pitchFamily="34" charset="-120"/>
              </a:rPr>
              <a:t>2</a:t>
            </a:r>
            <a:endParaRPr lang="en-US" sz="3000" dirty="0"/>
          </a:p>
        </p:txBody>
      </p:sp>
      <p:sp>
        <p:nvSpPr>
          <p:cNvPr id="15" name="Text 13"/>
          <p:cNvSpPr/>
          <p:nvPr/>
        </p:nvSpPr>
        <p:spPr>
          <a:xfrm>
            <a:off x="8961120" y="3602736"/>
            <a:ext cx="2624328" cy="859536"/>
          </a:xfrm>
          <a:prstGeom prst="rect">
            <a:avLst/>
          </a:prstGeom>
          <a:noFill/>
          <a:ln/>
        </p:spPr>
        <p:txBody>
          <a:bodyPr wrap="square" lIns="0" tIns="0" rIns="0" bIns="0" rtlCol="0" anchor="t"/>
          <a:lstStyle/>
          <a:p>
            <a:pPr algn="l" indent="0" marL="0">
              <a:buNone/>
            </a:pPr>
            <a:r>
              <a:rPr lang="en-US" sz="1700" dirty="0">
                <a:solidFill>
                  <a:srgbClr val="A3B5CA"/>
                </a:solidFill>
                <a:latin typeface="Arial" pitchFamily="34" charset="0"/>
                <a:ea typeface="Arial" pitchFamily="34" charset="-122"/>
                <a:cs typeface="Arial" pitchFamily="34" charset="-120"/>
              </a:rPr>
              <a:t>Adatta l’area colpibile</a:t>
            </a:r>
            <a:endParaRPr lang="en-US" sz="1700" dirty="0"/>
          </a:p>
          <a:p>
            <a:pPr algn="l" indent="0" marL="0">
              <a:buNone/>
            </a:pPr>
            <a:r>
              <a:rPr lang="en-US" sz="1700" dirty="0">
                <a:solidFill>
                  <a:srgbClr val="A3B5CA"/>
                </a:solidFill>
                <a:latin typeface="Arial" pitchFamily="34" charset="0"/>
                <a:ea typeface="Arial" pitchFamily="34" charset="-122"/>
                <a:cs typeface="Arial" pitchFamily="34" charset="-120"/>
              </a:rPr>
              <a:t>alla scala del campo.</a:t>
            </a:r>
            <a:endParaRPr lang="en-US" sz="1700" dirty="0"/>
          </a:p>
        </p:txBody>
      </p:sp>
      <p:sp>
        <p:nvSpPr>
          <p:cNvPr id="16" name="Text 14"/>
          <p:cNvSpPr/>
          <p:nvPr/>
        </p:nvSpPr>
        <p:spPr>
          <a:xfrm>
            <a:off x="8366760" y="4764024"/>
            <a:ext cx="457200" cy="457200"/>
          </a:xfrm>
          <a:prstGeom prst="rect">
            <a:avLst/>
          </a:prstGeom>
          <a:noFill/>
          <a:ln/>
        </p:spPr>
        <p:txBody>
          <a:bodyPr wrap="square" lIns="0" tIns="0" rIns="0" bIns="0" rtlCol="0" anchor="t"/>
          <a:lstStyle/>
          <a:p>
            <a:pPr algn="l" indent="0" marL="0">
              <a:buNone/>
            </a:pPr>
            <a:r>
              <a:rPr lang="en-US" sz="3000" b="1" dirty="0">
                <a:solidFill>
                  <a:srgbClr val="94D77A"/>
                </a:solidFill>
                <a:latin typeface="Arial" pitchFamily="34" charset="0"/>
                <a:ea typeface="Arial" pitchFamily="34" charset="-122"/>
                <a:cs typeface="Arial" pitchFamily="34" charset="-120"/>
              </a:rPr>
              <a:t>3</a:t>
            </a:r>
            <a:endParaRPr lang="en-US" sz="3000" dirty="0"/>
          </a:p>
        </p:txBody>
      </p:sp>
      <p:sp>
        <p:nvSpPr>
          <p:cNvPr id="17" name="Text 15"/>
          <p:cNvSpPr/>
          <p:nvPr/>
        </p:nvSpPr>
        <p:spPr>
          <a:xfrm>
            <a:off x="8961120" y="4828032"/>
            <a:ext cx="2624328" cy="859536"/>
          </a:xfrm>
          <a:prstGeom prst="rect">
            <a:avLst/>
          </a:prstGeom>
          <a:noFill/>
          <a:ln/>
        </p:spPr>
        <p:txBody>
          <a:bodyPr wrap="square" lIns="0" tIns="0" rIns="0" bIns="0" rtlCol="0" anchor="t"/>
          <a:lstStyle/>
          <a:p>
            <a:pPr algn="l" indent="0" marL="0">
              <a:buNone/>
            </a:pPr>
            <a:r>
              <a:rPr lang="en-US" sz="1700" dirty="0">
                <a:solidFill>
                  <a:srgbClr val="A3B5CA"/>
                </a:solidFill>
                <a:latin typeface="Arial" pitchFamily="34" charset="0"/>
                <a:ea typeface="Arial" pitchFamily="34" charset="-122"/>
                <a:cs typeface="Arial" pitchFamily="34" charset="-120"/>
              </a:rPr>
              <a:t>Assegna i punti in base</a:t>
            </a:r>
            <a:endParaRPr lang="en-US" sz="1700" dirty="0"/>
          </a:p>
          <a:p>
            <a:pPr algn="l" indent="0" marL="0">
              <a:buNone/>
            </a:pPr>
            <a:r>
              <a:rPr lang="en-US" sz="1700" dirty="0">
                <a:solidFill>
                  <a:srgbClr val="A3B5CA"/>
                </a:solidFill>
                <a:latin typeface="Arial" pitchFamily="34" charset="0"/>
                <a:ea typeface="Arial" pitchFamily="34" charset="-122"/>
                <a:cs typeface="Arial" pitchFamily="34" charset="-120"/>
              </a:rPr>
              <a:t>al numero del tentativo.</a:t>
            </a:r>
            <a:endParaRPr lang="en-US" sz="1700" dirty="0"/>
          </a:p>
        </p:txBody>
      </p:sp>
      <p:sp>
        <p:nvSpPr>
          <p:cNvPr id="18" name="Text 16"/>
          <p:cNvSpPr/>
          <p:nvPr/>
        </p:nvSpPr>
        <p:spPr>
          <a:xfrm>
            <a:off x="621792" y="5879592"/>
            <a:ext cx="10607040" cy="365760"/>
          </a:xfrm>
          <a:prstGeom prst="rect">
            <a:avLst/>
          </a:prstGeom>
          <a:noFill/>
          <a:ln/>
        </p:spPr>
        <p:txBody>
          <a:bodyPr wrap="square" lIns="0" tIns="0" rIns="0" bIns="0" rtlCol="0" anchor="t"/>
          <a:lstStyle/>
          <a:p>
            <a:pPr algn="l" indent="0" marL="0">
              <a:buNone/>
            </a:pPr>
            <a:r>
              <a:rPr lang="en-US" sz="1700" dirty="0">
                <a:solidFill>
                  <a:srgbClr val="A3B5CA"/>
                </a:solidFill>
                <a:latin typeface="Arial" pitchFamily="34" charset="0"/>
                <a:ea typeface="Arial" pitchFamily="34" charset="-122"/>
                <a:cs typeface="Arial" pitchFamily="34" charset="-120"/>
              </a:rPr>
              <a:t>Un controllo semplice, leggibile e coerente con le dimensioni del gioco.</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10 / CURA DELL’ESPERIENZA</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Il gioco comunica sempre cosa sta succedendo.</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Feedback visivi, pausa e record rendono la partita più chiara.</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13</a:t>
            </a:r>
            <a:endParaRPr lang="en-US" sz="1100" dirty="0"/>
          </a:p>
        </p:txBody>
      </p:sp>
      <p:pic>
        <p:nvPicPr>
          <p:cNvPr id="8" name="Image 0" descr="C:\Users\varis\OneDrive\Desktop\duckhunt-NL\presentazione\media\gioco-pausa.png">    </p:cNvPr>
          <p:cNvPicPr>
            <a:picLocks noChangeAspect="1"/>
          </p:cNvPicPr>
          <p:nvPr/>
        </p:nvPicPr>
        <p:blipFill>
          <a:blip r:embed="rId1"/>
          <a:srcRect l="30" r="30" t="0" b="0"/>
          <a:stretch/>
        </p:blipFill>
        <p:spPr>
          <a:xfrm>
            <a:off x="566928" y="2093976"/>
            <a:ext cx="6693408" cy="3767328"/>
          </a:xfrm>
          <a:prstGeom prst="rect">
            <a:avLst/>
          </a:prstGeom>
        </p:spPr>
      </p:pic>
      <p:sp>
        <p:nvSpPr>
          <p:cNvPr id="9" name="Text 6"/>
          <p:cNvSpPr/>
          <p:nvPr/>
        </p:nvSpPr>
        <p:spPr>
          <a:xfrm>
            <a:off x="7763256" y="2194560"/>
            <a:ext cx="3474720" cy="274320"/>
          </a:xfrm>
          <a:prstGeom prst="rect">
            <a:avLst/>
          </a:prstGeom>
          <a:noFill/>
          <a:ln/>
        </p:spPr>
        <p:txBody>
          <a:bodyPr wrap="square" lIns="0" tIns="0" rIns="0" bIns="0" rtlCol="0" anchor="t"/>
          <a:lstStyle/>
          <a:p>
            <a:pPr algn="l" indent="0" marL="0">
              <a:buNone/>
            </a:pPr>
            <a:r>
              <a:rPr lang="en-US" sz="1200" b="1" spc="160" kern="0" dirty="0">
                <a:solidFill>
                  <a:srgbClr val="F6CF58"/>
                </a:solidFill>
                <a:latin typeface="Arial" pitchFamily="34" charset="0"/>
                <a:ea typeface="Arial" pitchFamily="34" charset="-122"/>
                <a:cs typeface="Arial" pitchFamily="34" charset="-120"/>
              </a:rPr>
              <a:t>COLPO</a:t>
            </a:r>
            <a:endParaRPr lang="en-US" sz="1200" dirty="0"/>
          </a:p>
        </p:txBody>
      </p:sp>
      <p:sp>
        <p:nvSpPr>
          <p:cNvPr id="10" name="Text 7"/>
          <p:cNvSpPr/>
          <p:nvPr/>
        </p:nvSpPr>
        <p:spPr>
          <a:xfrm>
            <a:off x="7763256" y="2651760"/>
            <a:ext cx="3749040" cy="777240"/>
          </a:xfrm>
          <a:prstGeom prst="rect">
            <a:avLst/>
          </a:prstGeom>
          <a:noFill/>
          <a:ln/>
        </p:spPr>
        <p:txBody>
          <a:bodyPr wrap="square" lIns="0" tIns="0" rIns="0" bIns="0" rtlCol="0" anchor="t"/>
          <a:lstStyle/>
          <a:p>
            <a:pPr algn="l" indent="0" marL="0">
              <a:buNone/>
            </a:pPr>
            <a:r>
              <a:rPr lang="en-US" sz="1800" dirty="0">
                <a:solidFill>
                  <a:srgbClr val="F3F7FB"/>
                </a:solidFill>
                <a:latin typeface="Arial" pitchFamily="34" charset="0"/>
                <a:ea typeface="Arial" pitchFamily="34" charset="-122"/>
                <a:cs typeface="Arial" pitchFamily="34" charset="-120"/>
              </a:rPr>
              <a:t>Cerchio, colore e punti mostrano</a:t>
            </a:r>
            <a:endParaRPr lang="en-US" sz="1800" dirty="0"/>
          </a:p>
          <a:p>
            <a:pPr algn="l" indent="0" marL="0">
              <a:buNone/>
            </a:pPr>
            <a:r>
              <a:rPr lang="en-US" sz="1800" dirty="0">
                <a:solidFill>
                  <a:srgbClr val="F3F7FB"/>
                </a:solidFill>
                <a:latin typeface="Arial" pitchFamily="34" charset="0"/>
                <a:ea typeface="Arial" pitchFamily="34" charset="-122"/>
                <a:cs typeface="Arial" pitchFamily="34" charset="-120"/>
              </a:rPr>
              <a:t>subito l’esito dello sparo.</a:t>
            </a:r>
            <a:endParaRPr lang="en-US" sz="1800" dirty="0"/>
          </a:p>
        </p:txBody>
      </p:sp>
      <p:sp>
        <p:nvSpPr>
          <p:cNvPr id="11" name="Text 8"/>
          <p:cNvSpPr/>
          <p:nvPr/>
        </p:nvSpPr>
        <p:spPr>
          <a:xfrm>
            <a:off x="7763256" y="3675888"/>
            <a:ext cx="3474720" cy="274320"/>
          </a:xfrm>
          <a:prstGeom prst="rect">
            <a:avLst/>
          </a:prstGeom>
          <a:noFill/>
          <a:ln/>
        </p:spPr>
        <p:txBody>
          <a:bodyPr wrap="square" lIns="0" tIns="0" rIns="0" bIns="0" rtlCol="0" anchor="t"/>
          <a:lstStyle/>
          <a:p>
            <a:pPr algn="l" indent="0" marL="0">
              <a:buNone/>
            </a:pPr>
            <a:r>
              <a:rPr lang="en-US" sz="1200" b="1" spc="160" kern="0" dirty="0">
                <a:solidFill>
                  <a:srgbClr val="4BBEFF"/>
                </a:solidFill>
                <a:latin typeface="Arial" pitchFamily="34" charset="0"/>
                <a:ea typeface="Arial" pitchFamily="34" charset="-122"/>
                <a:cs typeface="Arial" pitchFamily="34" charset="-120"/>
              </a:rPr>
              <a:t>PAUSA</a:t>
            </a:r>
            <a:endParaRPr lang="en-US" sz="1200" dirty="0"/>
          </a:p>
        </p:txBody>
      </p:sp>
      <p:sp>
        <p:nvSpPr>
          <p:cNvPr id="12" name="Text 9"/>
          <p:cNvSpPr/>
          <p:nvPr/>
        </p:nvSpPr>
        <p:spPr>
          <a:xfrm>
            <a:off x="7763256" y="4114800"/>
            <a:ext cx="3749040" cy="640080"/>
          </a:xfrm>
          <a:prstGeom prst="rect">
            <a:avLst/>
          </a:prstGeom>
          <a:noFill/>
          <a:ln/>
        </p:spPr>
        <p:txBody>
          <a:bodyPr wrap="square" lIns="0" tIns="0" rIns="0" bIns="0" rtlCol="0" anchor="t"/>
          <a:lstStyle/>
          <a:p>
            <a:pPr algn="l" indent="0" marL="0">
              <a:buNone/>
            </a:pPr>
            <a:r>
              <a:rPr lang="en-US" sz="1800" dirty="0">
                <a:solidFill>
                  <a:srgbClr val="F3F7FB"/>
                </a:solidFill>
                <a:latin typeface="Arial" pitchFamily="34" charset="0"/>
                <a:ea typeface="Arial" pitchFamily="34" charset="-122"/>
                <a:cs typeface="Arial" pitchFamily="34" charset="-120"/>
              </a:rPr>
              <a:t>Esc o P per fermarsi e riprendere.</a:t>
            </a:r>
            <a:endParaRPr lang="en-US" sz="1800" dirty="0"/>
          </a:p>
        </p:txBody>
      </p:sp>
      <p:sp>
        <p:nvSpPr>
          <p:cNvPr id="13" name="Text 10"/>
          <p:cNvSpPr/>
          <p:nvPr/>
        </p:nvSpPr>
        <p:spPr>
          <a:xfrm>
            <a:off x="7763256" y="5001768"/>
            <a:ext cx="3474720" cy="274320"/>
          </a:xfrm>
          <a:prstGeom prst="rect">
            <a:avLst/>
          </a:prstGeom>
          <a:noFill/>
          <a:ln/>
        </p:spPr>
        <p:txBody>
          <a:bodyPr wrap="square" lIns="0" tIns="0" rIns="0" bIns="0" rtlCol="0" anchor="t"/>
          <a:lstStyle/>
          <a:p>
            <a:pPr algn="l" indent="0" marL="0">
              <a:buNone/>
            </a:pPr>
            <a:r>
              <a:rPr lang="en-US" sz="1200" b="1" spc="160" kern="0" dirty="0">
                <a:solidFill>
                  <a:srgbClr val="94D77A"/>
                </a:solidFill>
                <a:latin typeface="Arial" pitchFamily="34" charset="0"/>
                <a:ea typeface="Arial" pitchFamily="34" charset="-122"/>
                <a:cs typeface="Arial" pitchFamily="34" charset="-120"/>
              </a:rPr>
              <a:t>RECORD</a:t>
            </a:r>
            <a:endParaRPr lang="en-US" sz="1200" dirty="0"/>
          </a:p>
        </p:txBody>
      </p:sp>
      <p:sp>
        <p:nvSpPr>
          <p:cNvPr id="14" name="Text 11"/>
          <p:cNvSpPr/>
          <p:nvPr/>
        </p:nvSpPr>
        <p:spPr>
          <a:xfrm>
            <a:off x="7763256" y="5440680"/>
            <a:ext cx="3749040" cy="731520"/>
          </a:xfrm>
          <a:prstGeom prst="rect">
            <a:avLst/>
          </a:prstGeom>
          <a:noFill/>
          <a:ln/>
        </p:spPr>
        <p:txBody>
          <a:bodyPr wrap="square" lIns="0" tIns="0" rIns="0" bIns="0" rtlCol="0" anchor="t"/>
          <a:lstStyle/>
          <a:p>
            <a:pPr algn="l" indent="0" marL="0">
              <a:buNone/>
            </a:pPr>
            <a:r>
              <a:rPr lang="en-US" sz="1800" dirty="0">
                <a:solidFill>
                  <a:srgbClr val="F3F7FB"/>
                </a:solidFill>
                <a:latin typeface="Arial" pitchFamily="34" charset="0"/>
                <a:ea typeface="Arial" pitchFamily="34" charset="-122"/>
                <a:cs typeface="Arial" pitchFamily="34" charset="-120"/>
              </a:rPr>
              <a:t>Salvataggio locale nel browser,</a:t>
            </a:r>
            <a:endParaRPr lang="en-US" sz="1800" dirty="0"/>
          </a:p>
          <a:p>
            <a:pPr algn="l" indent="0" marL="0">
              <a:buNone/>
            </a:pPr>
            <a:r>
              <a:rPr lang="en-US" sz="1800" dirty="0">
                <a:solidFill>
                  <a:srgbClr val="F3F7FB"/>
                </a:solidFill>
                <a:latin typeface="Arial" pitchFamily="34" charset="0"/>
                <a:ea typeface="Arial" pitchFamily="34" charset="-122"/>
                <a:cs typeface="Arial" pitchFamily="34" charset="-120"/>
              </a:rPr>
              <a:t>con gestione degli errori.</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10058400" cy="228600"/>
          </a:xfrm>
          <a:prstGeom prst="rect">
            <a:avLst/>
          </a:prstGeom>
          <a:noFill/>
          <a:ln/>
        </p:spPr>
        <p:txBody>
          <a:bodyPr wrap="square" lIns="0" tIns="0" rIns="0" bIns="0" rtlCol="0" anchor="t"/>
          <a:lstStyle/>
          <a:p>
            <a:pPr algn="l" indent="0" marL="0">
              <a:buNone/>
            </a:pPr>
            <a:r>
              <a:rPr lang="en-US" sz="1000" b="1" spc="200" kern="0" dirty="0">
                <a:solidFill>
                  <a:srgbClr val="F6CF58"/>
                </a:solidFill>
                <a:latin typeface="Arial" pitchFamily="34" charset="0"/>
                <a:ea typeface="Arial" pitchFamily="34" charset="-122"/>
                <a:cs typeface="Arial" pitchFamily="34" charset="-120"/>
              </a:rPr>
              <a:t>11 / LE SCELTE TECNICHE</a:t>
            </a:r>
            <a:endParaRPr lang="en-US" sz="1000" dirty="0"/>
          </a:p>
        </p:txBody>
      </p:sp>
      <p:sp>
        <p:nvSpPr>
          <p:cNvPr id="3" name="Text 1"/>
          <p:cNvSpPr/>
          <p:nvPr/>
        </p:nvSpPr>
        <p:spPr>
          <a:xfrm>
            <a:off x="502920" y="804672"/>
            <a:ext cx="11155680" cy="731520"/>
          </a:xfrm>
          <a:prstGeom prst="rect">
            <a:avLst/>
          </a:prstGeom>
          <a:noFill/>
          <a:ln/>
        </p:spPr>
        <p:txBody>
          <a:bodyPr wrap="square" lIns="0" tIns="0" rIns="0" bIns="0" rtlCol="0" anchor="t"/>
          <a:lstStyle/>
          <a:p>
            <a:pPr algn="l" indent="0" marL="0">
              <a:buNone/>
            </a:pPr>
            <a:r>
              <a:rPr lang="en-US" sz="3400" b="1" dirty="0">
                <a:solidFill>
                  <a:srgbClr val="F3F7FB"/>
                </a:solidFill>
                <a:latin typeface="Bahnschrift" pitchFamily="34" charset="0"/>
                <a:ea typeface="Bahnschrift" pitchFamily="34" charset="-122"/>
                <a:cs typeface="Bahnschrift" pitchFamily="34" charset="-120"/>
              </a:rPr>
              <a:t>Poche tecnologie. Un progetto completo.</a:t>
            </a:r>
            <a:endParaRPr lang="en-US" sz="3400" dirty="0"/>
          </a:p>
        </p:txBody>
      </p:sp>
      <p:sp>
        <p:nvSpPr>
          <p:cNvPr id="4" name="Text 2"/>
          <p:cNvSpPr/>
          <p:nvPr/>
        </p:nvSpPr>
        <p:spPr>
          <a:xfrm>
            <a:off x="530352" y="1545336"/>
            <a:ext cx="10972800" cy="438912"/>
          </a:xfrm>
          <a:prstGeom prst="rect">
            <a:avLst/>
          </a:prstGeom>
          <a:noFill/>
          <a:ln/>
        </p:spPr>
        <p:txBody>
          <a:bodyPr wrap="square" lIns="0" tIns="0" rIns="0" bIns="0" rtlCol="0" anchor="t"/>
          <a:lstStyle/>
          <a:p>
            <a:pPr algn="l" indent="0" marL="0">
              <a:buNone/>
            </a:pPr>
            <a:r>
              <a:rPr lang="en-US" sz="1500" dirty="0">
                <a:solidFill>
                  <a:srgbClr val="A3B5CA"/>
                </a:solidFill>
                <a:latin typeface="Arial" pitchFamily="34" charset="0"/>
                <a:ea typeface="Arial" pitchFamily="34" charset="-122"/>
                <a:cs typeface="Arial" pitchFamily="34" charset="-120"/>
              </a:rPr>
              <a:t>Struttura, stile e logica hanno responsabilità distinte.</a:t>
            </a:r>
            <a:endParaRPr lang="en-US" sz="1500" dirty="0"/>
          </a:p>
        </p:txBody>
      </p:sp>
      <p:sp>
        <p:nvSpPr>
          <p:cNvPr id="5" name="Shape 3"/>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6" name="Text 4"/>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7" name="Text 5"/>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14</a:t>
            </a:r>
            <a:endParaRPr lang="en-US" sz="1100" dirty="0"/>
          </a:p>
        </p:txBody>
      </p:sp>
      <p:sp>
        <p:nvSpPr>
          <p:cNvPr id="8" name="Shape 6"/>
          <p:cNvSpPr/>
          <p:nvPr/>
        </p:nvSpPr>
        <p:spPr>
          <a:xfrm>
            <a:off x="566928" y="2084832"/>
            <a:ext cx="3547872" cy="2313432"/>
          </a:xfrm>
          <a:prstGeom prst="rect">
            <a:avLst/>
          </a:prstGeom>
          <a:solidFill>
            <a:srgbClr val="142238"/>
          </a:solidFill>
          <a:ln w="12700">
            <a:solidFill>
              <a:srgbClr val="142238">
                <a:alpha val="0"/>
              </a:srgbClr>
            </a:solidFill>
            <a:prstDash val="solid"/>
          </a:ln>
        </p:spPr>
      </p:sp>
      <p:sp>
        <p:nvSpPr>
          <p:cNvPr id="9" name="Text 7"/>
          <p:cNvSpPr/>
          <p:nvPr/>
        </p:nvSpPr>
        <p:spPr>
          <a:xfrm>
            <a:off x="795528" y="2359152"/>
            <a:ext cx="3081528" cy="640080"/>
          </a:xfrm>
          <a:prstGeom prst="rect">
            <a:avLst/>
          </a:prstGeom>
          <a:noFill/>
          <a:ln/>
        </p:spPr>
        <p:txBody>
          <a:bodyPr wrap="square" lIns="0" tIns="0" rIns="0" bIns="0" rtlCol="0" anchor="t"/>
          <a:lstStyle/>
          <a:p>
            <a:pPr algn="l" indent="0" marL="0">
              <a:buNone/>
            </a:pPr>
            <a:r>
              <a:rPr lang="en-US" sz="3200" b="1" dirty="0">
                <a:solidFill>
                  <a:srgbClr val="F6CF58"/>
                </a:solidFill>
                <a:latin typeface="Bahnschrift" pitchFamily="34" charset="0"/>
                <a:ea typeface="Bahnschrift" pitchFamily="34" charset="-122"/>
                <a:cs typeface="Bahnschrift" pitchFamily="34" charset="-120"/>
              </a:rPr>
              <a:t>HTML</a:t>
            </a:r>
            <a:endParaRPr lang="en-US" sz="3200" dirty="0"/>
          </a:p>
        </p:txBody>
      </p:sp>
      <p:sp>
        <p:nvSpPr>
          <p:cNvPr id="10" name="Text 8"/>
          <p:cNvSpPr/>
          <p:nvPr/>
        </p:nvSpPr>
        <p:spPr>
          <a:xfrm>
            <a:off x="795528" y="3255264"/>
            <a:ext cx="3081528" cy="411480"/>
          </a:xfrm>
          <a:prstGeom prst="rect">
            <a:avLst/>
          </a:prstGeom>
          <a:noFill/>
          <a:ln/>
        </p:spPr>
        <p:txBody>
          <a:bodyPr wrap="square" lIns="0" tIns="0" rIns="0" bIns="0" rtlCol="0" anchor="t"/>
          <a:lstStyle/>
          <a:p>
            <a:pPr algn="l" indent="0" marL="0">
              <a:buNone/>
            </a:pPr>
            <a:r>
              <a:rPr lang="en-US" sz="1800" dirty="0">
                <a:solidFill>
                  <a:srgbClr val="F3F7FB"/>
                </a:solidFill>
                <a:latin typeface="Arial" pitchFamily="34" charset="0"/>
                <a:ea typeface="Arial" pitchFamily="34" charset="-122"/>
                <a:cs typeface="Arial" pitchFamily="34" charset="-120"/>
              </a:rPr>
              <a:t>Pagine e interfaccia</a:t>
            </a:r>
            <a:endParaRPr lang="en-US" sz="1800" dirty="0"/>
          </a:p>
        </p:txBody>
      </p:sp>
      <p:sp>
        <p:nvSpPr>
          <p:cNvPr id="11" name="Text 9"/>
          <p:cNvSpPr/>
          <p:nvPr/>
        </p:nvSpPr>
        <p:spPr>
          <a:xfrm>
            <a:off x="795528" y="3913632"/>
            <a:ext cx="3108960" cy="256032"/>
          </a:xfrm>
          <a:prstGeom prst="rect">
            <a:avLst/>
          </a:prstGeom>
          <a:noFill/>
          <a:ln/>
        </p:spPr>
        <p:txBody>
          <a:bodyPr wrap="square" lIns="0" tIns="0" rIns="0" bIns="0" rtlCol="0" anchor="t"/>
          <a:lstStyle/>
          <a:p>
            <a:pPr algn="l" indent="0" marL="0">
              <a:buNone/>
            </a:pPr>
            <a:r>
              <a:rPr lang="en-US" sz="1200" dirty="0">
                <a:solidFill>
                  <a:srgbClr val="A3B5CA"/>
                </a:solidFill>
                <a:latin typeface="Arial" pitchFamily="34" charset="0"/>
                <a:ea typeface="Arial" pitchFamily="34" charset="-122"/>
                <a:cs typeface="Arial" pitchFamily="34" charset="-120"/>
              </a:rPr>
              <a:t>index.html · gioco.html</a:t>
            </a:r>
            <a:endParaRPr lang="en-US" sz="1200" dirty="0"/>
          </a:p>
        </p:txBody>
      </p:sp>
      <p:sp>
        <p:nvSpPr>
          <p:cNvPr id="12" name="Shape 10"/>
          <p:cNvSpPr/>
          <p:nvPr/>
        </p:nvSpPr>
        <p:spPr>
          <a:xfrm>
            <a:off x="4434840" y="2084832"/>
            <a:ext cx="3547872" cy="2313432"/>
          </a:xfrm>
          <a:prstGeom prst="rect">
            <a:avLst/>
          </a:prstGeom>
          <a:solidFill>
            <a:srgbClr val="142238"/>
          </a:solidFill>
          <a:ln w="12700">
            <a:solidFill>
              <a:srgbClr val="142238">
                <a:alpha val="0"/>
              </a:srgbClr>
            </a:solidFill>
            <a:prstDash val="solid"/>
          </a:ln>
        </p:spPr>
      </p:sp>
      <p:sp>
        <p:nvSpPr>
          <p:cNvPr id="13" name="Text 11"/>
          <p:cNvSpPr/>
          <p:nvPr/>
        </p:nvSpPr>
        <p:spPr>
          <a:xfrm>
            <a:off x="4663440" y="2359152"/>
            <a:ext cx="3081528" cy="640080"/>
          </a:xfrm>
          <a:prstGeom prst="rect">
            <a:avLst/>
          </a:prstGeom>
          <a:noFill/>
          <a:ln/>
        </p:spPr>
        <p:txBody>
          <a:bodyPr wrap="square" lIns="0" tIns="0" rIns="0" bIns="0" rtlCol="0" anchor="t"/>
          <a:lstStyle/>
          <a:p>
            <a:pPr algn="l" indent="0" marL="0">
              <a:buNone/>
            </a:pPr>
            <a:r>
              <a:rPr lang="en-US" sz="3200" b="1" dirty="0">
                <a:solidFill>
                  <a:srgbClr val="4BBEFF"/>
                </a:solidFill>
                <a:latin typeface="Bahnschrift" pitchFamily="34" charset="0"/>
                <a:ea typeface="Bahnschrift" pitchFamily="34" charset="-122"/>
                <a:cs typeface="Bahnschrift" pitchFamily="34" charset="-120"/>
              </a:rPr>
              <a:t>CSS</a:t>
            </a:r>
            <a:endParaRPr lang="en-US" sz="3200" dirty="0"/>
          </a:p>
        </p:txBody>
      </p:sp>
      <p:sp>
        <p:nvSpPr>
          <p:cNvPr id="14" name="Text 12"/>
          <p:cNvSpPr/>
          <p:nvPr/>
        </p:nvSpPr>
        <p:spPr>
          <a:xfrm>
            <a:off x="4663440" y="3255264"/>
            <a:ext cx="3081528" cy="411480"/>
          </a:xfrm>
          <a:prstGeom prst="rect">
            <a:avLst/>
          </a:prstGeom>
          <a:noFill/>
          <a:ln/>
        </p:spPr>
        <p:txBody>
          <a:bodyPr wrap="square" lIns="0" tIns="0" rIns="0" bIns="0" rtlCol="0" anchor="t"/>
          <a:lstStyle/>
          <a:p>
            <a:pPr algn="l" indent="0" marL="0">
              <a:buNone/>
            </a:pPr>
            <a:r>
              <a:rPr lang="en-US" sz="1800" dirty="0">
                <a:solidFill>
                  <a:srgbClr val="F3F7FB"/>
                </a:solidFill>
                <a:latin typeface="Arial" pitchFamily="34" charset="0"/>
                <a:ea typeface="Arial" pitchFamily="34" charset="-122"/>
                <a:cs typeface="Arial" pitchFamily="34" charset="-120"/>
              </a:rPr>
              <a:t>Grafica e responsive</a:t>
            </a:r>
            <a:endParaRPr lang="en-US" sz="1800" dirty="0"/>
          </a:p>
        </p:txBody>
      </p:sp>
      <p:sp>
        <p:nvSpPr>
          <p:cNvPr id="15" name="Text 13"/>
          <p:cNvSpPr/>
          <p:nvPr/>
        </p:nvSpPr>
        <p:spPr>
          <a:xfrm>
            <a:off x="4663440" y="3913632"/>
            <a:ext cx="3108960" cy="256032"/>
          </a:xfrm>
          <a:prstGeom prst="rect">
            <a:avLst/>
          </a:prstGeom>
          <a:noFill/>
          <a:ln/>
        </p:spPr>
        <p:txBody>
          <a:bodyPr wrap="square" lIns="0" tIns="0" rIns="0" bIns="0" rtlCol="0" anchor="t"/>
          <a:lstStyle/>
          <a:p>
            <a:pPr algn="l" indent="0" marL="0">
              <a:buNone/>
            </a:pPr>
            <a:r>
              <a:rPr lang="en-US" sz="1200" dirty="0">
                <a:solidFill>
                  <a:srgbClr val="A3B5CA"/>
                </a:solidFill>
                <a:latin typeface="Arial" pitchFamily="34" charset="0"/>
                <a:ea typeface="Arial" pitchFamily="34" charset="-122"/>
                <a:cs typeface="Arial" pitchFamily="34" charset="-120"/>
              </a:rPr>
              <a:t>sito/sito.css · style.css</a:t>
            </a:r>
            <a:endParaRPr lang="en-US" sz="1200" dirty="0"/>
          </a:p>
        </p:txBody>
      </p:sp>
      <p:sp>
        <p:nvSpPr>
          <p:cNvPr id="16" name="Shape 14"/>
          <p:cNvSpPr/>
          <p:nvPr/>
        </p:nvSpPr>
        <p:spPr>
          <a:xfrm>
            <a:off x="8302752" y="2084832"/>
            <a:ext cx="3547872" cy="2313432"/>
          </a:xfrm>
          <a:prstGeom prst="rect">
            <a:avLst/>
          </a:prstGeom>
          <a:solidFill>
            <a:srgbClr val="142238"/>
          </a:solidFill>
          <a:ln w="12700">
            <a:solidFill>
              <a:srgbClr val="142238">
                <a:alpha val="0"/>
              </a:srgbClr>
            </a:solidFill>
            <a:prstDash val="solid"/>
          </a:ln>
        </p:spPr>
      </p:sp>
      <p:sp>
        <p:nvSpPr>
          <p:cNvPr id="17" name="Text 15"/>
          <p:cNvSpPr/>
          <p:nvPr/>
        </p:nvSpPr>
        <p:spPr>
          <a:xfrm>
            <a:off x="8531352" y="2359152"/>
            <a:ext cx="3081528" cy="640080"/>
          </a:xfrm>
          <a:prstGeom prst="rect">
            <a:avLst/>
          </a:prstGeom>
          <a:noFill/>
          <a:ln/>
        </p:spPr>
        <p:txBody>
          <a:bodyPr wrap="square" lIns="0" tIns="0" rIns="0" bIns="0" rtlCol="0" anchor="t"/>
          <a:lstStyle/>
          <a:p>
            <a:pPr algn="l" indent="0" marL="0">
              <a:buNone/>
            </a:pPr>
            <a:r>
              <a:rPr lang="en-US" sz="3200" b="1" dirty="0">
                <a:solidFill>
                  <a:srgbClr val="94D77A"/>
                </a:solidFill>
                <a:latin typeface="Bahnschrift" pitchFamily="34" charset="0"/>
                <a:ea typeface="Bahnschrift" pitchFamily="34" charset="-122"/>
                <a:cs typeface="Bahnschrift" pitchFamily="34" charset="-120"/>
              </a:rPr>
              <a:t>JAVASCRIPT</a:t>
            </a:r>
            <a:endParaRPr lang="en-US" sz="3200" dirty="0"/>
          </a:p>
        </p:txBody>
      </p:sp>
      <p:sp>
        <p:nvSpPr>
          <p:cNvPr id="18" name="Text 16"/>
          <p:cNvSpPr/>
          <p:nvPr/>
        </p:nvSpPr>
        <p:spPr>
          <a:xfrm>
            <a:off x="8531352" y="3255264"/>
            <a:ext cx="3081528" cy="411480"/>
          </a:xfrm>
          <a:prstGeom prst="rect">
            <a:avLst/>
          </a:prstGeom>
          <a:noFill/>
          <a:ln/>
        </p:spPr>
        <p:txBody>
          <a:bodyPr wrap="square" lIns="0" tIns="0" rIns="0" bIns="0" rtlCol="0" anchor="t"/>
          <a:lstStyle/>
          <a:p>
            <a:pPr algn="l" indent="0" marL="0">
              <a:buNone/>
            </a:pPr>
            <a:r>
              <a:rPr lang="en-US" sz="1800" dirty="0">
                <a:solidFill>
                  <a:srgbClr val="F3F7FB"/>
                </a:solidFill>
                <a:latin typeface="Arial" pitchFamily="34" charset="0"/>
                <a:ea typeface="Arial" pitchFamily="34" charset="-122"/>
                <a:cs typeface="Arial" pitchFamily="34" charset="-120"/>
              </a:rPr>
              <a:t>Regole e animazione</a:t>
            </a:r>
            <a:endParaRPr lang="en-US" sz="1800" dirty="0"/>
          </a:p>
        </p:txBody>
      </p:sp>
      <p:sp>
        <p:nvSpPr>
          <p:cNvPr id="19" name="Text 17"/>
          <p:cNvSpPr/>
          <p:nvPr/>
        </p:nvSpPr>
        <p:spPr>
          <a:xfrm>
            <a:off x="8531352" y="3913632"/>
            <a:ext cx="3108960" cy="256032"/>
          </a:xfrm>
          <a:prstGeom prst="rect">
            <a:avLst/>
          </a:prstGeom>
          <a:noFill/>
          <a:ln/>
        </p:spPr>
        <p:txBody>
          <a:bodyPr wrap="square" lIns="0" tIns="0" rIns="0" bIns="0" rtlCol="0" anchor="t"/>
          <a:lstStyle/>
          <a:p>
            <a:pPr algn="l" indent="0" marL="0">
              <a:buNone/>
            </a:pPr>
            <a:r>
              <a:rPr lang="en-US" sz="1200" dirty="0">
                <a:solidFill>
                  <a:srgbClr val="A3B5CA"/>
                </a:solidFill>
                <a:latin typeface="Arial" pitchFamily="34" charset="0"/>
                <a:ea typeface="Arial" pitchFamily="34" charset="-122"/>
                <a:cs typeface="Arial" pitchFamily="34" charset="-120"/>
              </a:rPr>
              <a:t>script.js</a:t>
            </a:r>
            <a:endParaRPr lang="en-US" sz="1200" dirty="0"/>
          </a:p>
        </p:txBody>
      </p:sp>
      <p:sp>
        <p:nvSpPr>
          <p:cNvPr id="20" name="Text 18"/>
          <p:cNvSpPr/>
          <p:nvPr/>
        </p:nvSpPr>
        <p:spPr>
          <a:xfrm>
            <a:off x="612648" y="4882896"/>
            <a:ext cx="2377440" cy="969264"/>
          </a:xfrm>
          <a:prstGeom prst="rect">
            <a:avLst/>
          </a:prstGeom>
          <a:noFill/>
          <a:ln/>
        </p:spPr>
        <p:txBody>
          <a:bodyPr wrap="square" lIns="0" tIns="0" rIns="0" bIns="0" rtlCol="0" anchor="t"/>
          <a:lstStyle/>
          <a:p>
            <a:pPr algn="l" indent="0" marL="0">
              <a:buNone/>
            </a:pPr>
            <a:r>
              <a:rPr lang="en-US" sz="6400" b="1" dirty="0">
                <a:solidFill>
                  <a:srgbClr val="F6CF58"/>
                </a:solidFill>
                <a:latin typeface="Bahnschrift" pitchFamily="34" charset="0"/>
                <a:ea typeface="Bahnschrift" pitchFamily="34" charset="-122"/>
                <a:cs typeface="Bahnschrift" pitchFamily="34" charset="-120"/>
              </a:rPr>
              <a:t>493</a:t>
            </a:r>
            <a:endParaRPr lang="en-US" sz="6400" dirty="0"/>
          </a:p>
        </p:txBody>
      </p:sp>
      <p:sp>
        <p:nvSpPr>
          <p:cNvPr id="21" name="Text 19"/>
          <p:cNvSpPr/>
          <p:nvPr/>
        </p:nvSpPr>
        <p:spPr>
          <a:xfrm>
            <a:off x="640080" y="5943600"/>
            <a:ext cx="3291840" cy="274320"/>
          </a:xfrm>
          <a:prstGeom prst="rect">
            <a:avLst/>
          </a:prstGeom>
          <a:noFill/>
          <a:ln/>
        </p:spPr>
        <p:txBody>
          <a:bodyPr wrap="square" lIns="0" tIns="0" rIns="0" bIns="0" rtlCol="0" anchor="t"/>
          <a:lstStyle/>
          <a:p>
            <a:pPr algn="l" indent="0" marL="0">
              <a:buNone/>
            </a:pPr>
            <a:r>
              <a:rPr lang="en-US" sz="1700" dirty="0">
                <a:solidFill>
                  <a:srgbClr val="A3B5CA"/>
                </a:solidFill>
                <a:latin typeface="Arial" pitchFamily="34" charset="0"/>
                <a:ea typeface="Arial" pitchFamily="34" charset="-122"/>
                <a:cs typeface="Arial" pitchFamily="34" charset="-120"/>
              </a:rPr>
              <a:t>righe di JavaScript</a:t>
            </a:r>
            <a:endParaRPr lang="en-US" sz="1700" dirty="0"/>
          </a:p>
        </p:txBody>
      </p:sp>
      <p:sp>
        <p:nvSpPr>
          <p:cNvPr id="22" name="Text 20"/>
          <p:cNvSpPr/>
          <p:nvPr/>
        </p:nvSpPr>
        <p:spPr>
          <a:xfrm>
            <a:off x="4480560" y="5157216"/>
            <a:ext cx="6309360" cy="438912"/>
          </a:xfrm>
          <a:prstGeom prst="rect">
            <a:avLst/>
          </a:prstGeom>
          <a:noFill/>
          <a:ln/>
        </p:spPr>
        <p:txBody>
          <a:bodyPr wrap="square" lIns="0" tIns="0" rIns="0" bIns="0" rtlCol="0" anchor="t"/>
          <a:lstStyle/>
          <a:p>
            <a:pPr algn="l" indent="0" marL="0">
              <a:buNone/>
            </a:pPr>
            <a:r>
              <a:rPr lang="en-US" sz="2500" b="1" dirty="0">
                <a:solidFill>
                  <a:srgbClr val="F3F7FB"/>
                </a:solidFill>
                <a:latin typeface="Arial" pitchFamily="34" charset="0"/>
                <a:ea typeface="Arial" pitchFamily="34" charset="-122"/>
                <a:cs typeface="Arial" pitchFamily="34" charset="-120"/>
              </a:rPr>
              <a:t>Codice semplificato</a:t>
            </a:r>
            <a:endParaRPr lang="en-US" sz="2500" dirty="0"/>
          </a:p>
        </p:txBody>
      </p:sp>
      <p:sp>
        <p:nvSpPr>
          <p:cNvPr id="23" name="Text 21"/>
          <p:cNvSpPr/>
          <p:nvPr/>
        </p:nvSpPr>
        <p:spPr>
          <a:xfrm>
            <a:off x="4489704" y="5751576"/>
            <a:ext cx="6858000" cy="594360"/>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Reset condiviso, overlay riutilizzabili e comandi</a:t>
            </a:r>
            <a:endParaRPr lang="en-US" sz="1600" dirty="0"/>
          </a:p>
          <a:p>
            <a:pPr algn="l" indent="0" marL="0">
              <a:buNone/>
            </a:pPr>
            <a:r>
              <a:rPr lang="en-US" sz="1600" dirty="0">
                <a:solidFill>
                  <a:srgbClr val="A3B5CA"/>
                </a:solidFill>
                <a:latin typeface="Arial" pitchFamily="34" charset="0"/>
                <a:ea typeface="Arial" pitchFamily="34" charset="-122"/>
                <a:cs typeface="Arial" pitchFamily="34" charset="-120"/>
              </a:rPr>
              <a:t>concentrati su mouse e tastiera. Nessuna libreria nel gioco.</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02920" y="6437376"/>
            <a:ext cx="11183112" cy="10973"/>
          </a:xfrm>
          <a:prstGeom prst="rect">
            <a:avLst/>
          </a:prstGeom>
          <a:solidFill>
            <a:srgbClr val="2A3C55"/>
          </a:solidFill>
          <a:ln w="12700">
            <a:solidFill>
              <a:srgbClr val="2A3C55">
                <a:alpha val="0"/>
              </a:srgbClr>
            </a:solidFill>
            <a:prstDash val="solid"/>
          </a:ln>
        </p:spPr>
      </p:sp>
      <p:sp>
        <p:nvSpPr>
          <p:cNvPr id="3" name="Text 1"/>
          <p:cNvSpPr/>
          <p:nvPr/>
        </p:nvSpPr>
        <p:spPr>
          <a:xfrm>
            <a:off x="502920" y="6547104"/>
            <a:ext cx="3657600" cy="164592"/>
          </a:xfrm>
          <a:prstGeom prst="rect">
            <a:avLst/>
          </a:prstGeom>
          <a:noFill/>
          <a:ln/>
        </p:spPr>
        <p:txBody>
          <a:bodyPr wrap="square" lIns="0" tIns="0" rIns="0" bIns="0" rtlCol="0" anchor="t"/>
          <a:lstStyle/>
          <a:p>
            <a:pPr algn="l" indent="0" marL="0">
              <a:buNone/>
            </a:pPr>
            <a:r>
              <a:rPr lang="en-US" sz="800" b="1" spc="150" kern="0" dirty="0">
                <a:solidFill>
                  <a:srgbClr val="A3B5CA"/>
                </a:solidFill>
                <a:latin typeface="Arial" pitchFamily="34" charset="0"/>
                <a:ea typeface="Arial" pitchFamily="34" charset="-122"/>
                <a:cs typeface="Arial" pitchFamily="34" charset="-120"/>
              </a:rPr>
              <a:t>DUCK HUNT NL</a:t>
            </a:r>
            <a:endParaRPr lang="en-US" sz="800" dirty="0"/>
          </a:p>
        </p:txBody>
      </p:sp>
      <p:sp>
        <p:nvSpPr>
          <p:cNvPr id="4" name="Text 2"/>
          <p:cNvSpPr/>
          <p:nvPr/>
        </p:nvSpPr>
        <p:spPr>
          <a:xfrm>
            <a:off x="11128248" y="6510528"/>
            <a:ext cx="548640" cy="228600"/>
          </a:xfrm>
          <a:prstGeom prst="rect">
            <a:avLst/>
          </a:prstGeom>
          <a:noFill/>
          <a:ln/>
        </p:spPr>
        <p:txBody>
          <a:bodyPr wrap="square" lIns="0" tIns="0" rIns="0" bIns="0" rtlCol="0" anchor="t"/>
          <a:lstStyle/>
          <a:p>
            <a:pPr algn="r" indent="0" marL="0">
              <a:buNone/>
            </a:pPr>
            <a:r>
              <a:rPr lang="en-US" sz="1100" b="1" dirty="0">
                <a:solidFill>
                  <a:srgbClr val="F6CF58"/>
                </a:solidFill>
                <a:latin typeface="Arial" pitchFamily="34" charset="0"/>
                <a:ea typeface="Arial" pitchFamily="34" charset="-122"/>
                <a:cs typeface="Arial" pitchFamily="34" charset="-120"/>
              </a:rPr>
              <a:t>15</a:t>
            </a:r>
            <a:endParaRPr lang="en-US" sz="1100" dirty="0"/>
          </a:p>
        </p:txBody>
      </p:sp>
      <p:pic>
        <p:nvPicPr>
          <p:cNvPr id="5" name="Image 0" descr="C:\Users\varis\OneDrive\Desktop\duckhunt-NL\presentazione\media\paesaggio-5.png">    </p:cNvPr>
          <p:cNvPicPr>
            <a:picLocks noChangeAspect="1"/>
          </p:cNvPicPr>
          <p:nvPr/>
        </p:nvPicPr>
        <p:blipFill>
          <a:blip r:embed="rId1"/>
          <a:srcRect l="0" r="0" t="7813" b="7813"/>
          <a:stretch/>
        </p:blipFill>
        <p:spPr>
          <a:xfrm>
            <a:off x="0" y="0"/>
            <a:ext cx="12192000" cy="6858000"/>
          </a:xfrm>
          <a:prstGeom prst="rect">
            <a:avLst/>
          </a:prstGeom>
        </p:spPr>
      </p:pic>
      <p:sp>
        <p:nvSpPr>
          <p:cNvPr id="6" name="Shape 3"/>
          <p:cNvSpPr/>
          <p:nvPr/>
        </p:nvSpPr>
        <p:spPr>
          <a:xfrm>
            <a:off x="0" y="0"/>
            <a:ext cx="12192000" cy="6858000"/>
          </a:xfrm>
          <a:prstGeom prst="rect">
            <a:avLst/>
          </a:prstGeom>
          <a:solidFill>
            <a:srgbClr val="0B1220">
              <a:alpha val="80000"/>
            </a:srgbClr>
          </a:solidFill>
          <a:ln w="12700">
            <a:solidFill>
              <a:srgbClr val="0B1220">
                <a:alpha val="0"/>
              </a:srgbClr>
            </a:solidFill>
            <a:prstDash val="solid"/>
          </a:ln>
        </p:spPr>
      </p:sp>
      <p:sp>
        <p:nvSpPr>
          <p:cNvPr id="7" name="Shape 4"/>
          <p:cNvSpPr/>
          <p:nvPr/>
        </p:nvSpPr>
        <p:spPr>
          <a:xfrm>
            <a:off x="548640" y="566928"/>
            <a:ext cx="11082528" cy="5650992"/>
          </a:xfrm>
          <a:prstGeom prst="rect">
            <a:avLst/>
          </a:prstGeom>
          <a:solidFill>
            <a:srgbClr val="0B1220">
              <a:alpha val="92000"/>
            </a:srgbClr>
          </a:solidFill>
          <a:ln w="12700">
            <a:solidFill>
              <a:srgbClr val="0B1220">
                <a:alpha val="0"/>
              </a:srgbClr>
            </a:solidFill>
            <a:prstDash val="solid"/>
          </a:ln>
        </p:spPr>
      </p:sp>
      <p:sp>
        <p:nvSpPr>
          <p:cNvPr id="8" name="Shape 5"/>
          <p:cNvSpPr/>
          <p:nvPr/>
        </p:nvSpPr>
        <p:spPr>
          <a:xfrm>
            <a:off x="896112" y="960120"/>
            <a:ext cx="3822192" cy="292608"/>
          </a:xfrm>
          <a:prstGeom prst="rect">
            <a:avLst/>
          </a:prstGeom>
          <a:solidFill>
            <a:srgbClr val="F6CF58">
              <a:alpha val="12000"/>
            </a:srgbClr>
          </a:solidFill>
          <a:ln w="12700">
            <a:solidFill>
              <a:srgbClr val="F6CF58">
                <a:alpha val="0"/>
              </a:srgbClr>
            </a:solidFill>
            <a:prstDash val="solid"/>
          </a:ln>
        </p:spPr>
      </p:sp>
      <p:sp>
        <p:nvSpPr>
          <p:cNvPr id="9" name="Text 6"/>
          <p:cNvSpPr/>
          <p:nvPr/>
        </p:nvSpPr>
        <p:spPr>
          <a:xfrm>
            <a:off x="987552" y="1019556"/>
            <a:ext cx="3639312" cy="182880"/>
          </a:xfrm>
          <a:prstGeom prst="rect">
            <a:avLst/>
          </a:prstGeom>
          <a:noFill/>
          <a:ln/>
        </p:spPr>
        <p:txBody>
          <a:bodyPr wrap="square" lIns="0" tIns="0" rIns="0" bIns="0" rtlCol="0" anchor="t"/>
          <a:lstStyle/>
          <a:p>
            <a:pPr algn="l" indent="0" marL="0">
              <a:buNone/>
            </a:pPr>
            <a:r>
              <a:rPr lang="en-US" sz="900" b="1" spc="140" kern="0" dirty="0">
                <a:solidFill>
                  <a:srgbClr val="F6CF58"/>
                </a:solidFill>
                <a:latin typeface="Arial" pitchFamily="34" charset="0"/>
                <a:ea typeface="Arial" pitchFamily="34" charset="-122"/>
                <a:cs typeface="Arial" pitchFamily="34" charset="-120"/>
              </a:rPr>
              <a:t>DUCK HUNT NL / IL RISULTATO</a:t>
            </a:r>
            <a:endParaRPr lang="en-US" sz="900" dirty="0"/>
          </a:p>
        </p:txBody>
      </p:sp>
      <p:sp>
        <p:nvSpPr>
          <p:cNvPr id="10" name="Text 7"/>
          <p:cNvSpPr/>
          <p:nvPr/>
        </p:nvSpPr>
        <p:spPr>
          <a:xfrm>
            <a:off x="859536" y="1700784"/>
            <a:ext cx="10607040" cy="1810512"/>
          </a:xfrm>
          <a:prstGeom prst="rect">
            <a:avLst/>
          </a:prstGeom>
          <a:noFill/>
          <a:ln/>
        </p:spPr>
        <p:txBody>
          <a:bodyPr wrap="square" lIns="0" tIns="0" rIns="0" bIns="0" rtlCol="0" anchor="t"/>
          <a:lstStyle/>
          <a:p>
            <a:pPr algn="l" indent="0" marL="0">
              <a:buNone/>
            </a:pPr>
            <a:r>
              <a:rPr lang="en-US" sz="5800" b="1" dirty="0">
                <a:solidFill>
                  <a:srgbClr val="F3F7FB"/>
                </a:solidFill>
                <a:latin typeface="Bahnschrift" pitchFamily="34" charset="0"/>
                <a:ea typeface="Bahnschrift" pitchFamily="34" charset="-122"/>
                <a:cs typeface="Bahnschrift" pitchFamily="34" charset="-120"/>
              </a:rPr>
              <a:t>Dall’idea</a:t>
            </a:r>
            <a:endParaRPr lang="en-US" sz="5800" dirty="0"/>
          </a:p>
          <a:p>
            <a:pPr algn="l" indent="0" marL="0">
              <a:buNone/>
            </a:pPr>
            <a:r>
              <a:rPr lang="en-US" sz="5800" b="1" dirty="0">
                <a:solidFill>
                  <a:srgbClr val="F3F7FB"/>
                </a:solidFill>
                <a:latin typeface="Bahnschrift" pitchFamily="34" charset="0"/>
                <a:ea typeface="Bahnschrift" pitchFamily="34" charset="-122"/>
                <a:cs typeface="Bahnschrift" pitchFamily="34" charset="-120"/>
              </a:rPr>
              <a:t>all’interazione.</a:t>
            </a:r>
            <a:endParaRPr lang="en-US" sz="5800" dirty="0"/>
          </a:p>
        </p:txBody>
      </p:sp>
      <p:sp>
        <p:nvSpPr>
          <p:cNvPr id="11" name="Text 8"/>
          <p:cNvSpPr/>
          <p:nvPr/>
        </p:nvSpPr>
        <p:spPr>
          <a:xfrm>
            <a:off x="914400" y="3913632"/>
            <a:ext cx="10332720" cy="502920"/>
          </a:xfrm>
          <a:prstGeom prst="rect">
            <a:avLst/>
          </a:prstGeom>
          <a:noFill/>
          <a:ln/>
        </p:spPr>
        <p:txBody>
          <a:bodyPr wrap="square" lIns="0" tIns="0" rIns="0" bIns="0" rtlCol="0" anchor="t"/>
          <a:lstStyle/>
          <a:p>
            <a:pPr algn="l" indent="0" marL="0">
              <a:buNone/>
            </a:pPr>
            <a:r>
              <a:rPr lang="en-US" sz="2400" b="1" dirty="0">
                <a:solidFill>
                  <a:srgbClr val="F6CF58"/>
                </a:solidFill>
                <a:latin typeface="Arial" pitchFamily="34" charset="0"/>
                <a:ea typeface="Arial" pitchFamily="34" charset="-122"/>
                <a:cs typeface="Arial" pitchFamily="34" charset="-120"/>
              </a:rPr>
              <a:t>Un sito per scoprire. Un gioco per mettersi alla prova.</a:t>
            </a:r>
            <a:endParaRPr lang="en-US" sz="2400" dirty="0"/>
          </a:p>
        </p:txBody>
      </p:sp>
      <p:sp>
        <p:nvSpPr>
          <p:cNvPr id="12" name="Shape 9"/>
          <p:cNvSpPr/>
          <p:nvPr/>
        </p:nvSpPr>
        <p:spPr>
          <a:xfrm>
            <a:off x="914400" y="4754880"/>
            <a:ext cx="10287000" cy="10973"/>
          </a:xfrm>
          <a:prstGeom prst="rect">
            <a:avLst/>
          </a:prstGeom>
          <a:solidFill>
            <a:srgbClr val="2A3C55"/>
          </a:solidFill>
          <a:ln w="12700">
            <a:solidFill>
              <a:srgbClr val="2A3C55">
                <a:alpha val="0"/>
              </a:srgbClr>
            </a:solidFill>
            <a:prstDash val="solid"/>
          </a:ln>
        </p:spPr>
      </p:sp>
      <p:sp>
        <p:nvSpPr>
          <p:cNvPr id="13" name="Text 10"/>
          <p:cNvSpPr/>
          <p:nvPr/>
        </p:nvSpPr>
        <p:spPr>
          <a:xfrm>
            <a:off x="932688" y="5102352"/>
            <a:ext cx="2743200" cy="320040"/>
          </a:xfrm>
          <a:prstGeom prst="rect">
            <a:avLst/>
          </a:prstGeom>
          <a:noFill/>
          <a:ln/>
        </p:spPr>
        <p:txBody>
          <a:bodyPr wrap="square" lIns="0" tIns="0" rIns="0" bIns="0" rtlCol="0" anchor="t"/>
          <a:lstStyle/>
          <a:p>
            <a:pPr algn="l" indent="0" marL="0">
              <a:buNone/>
            </a:pPr>
            <a:r>
              <a:rPr lang="en-US" sz="1400" b="1" spc="150" kern="0" dirty="0">
                <a:solidFill>
                  <a:srgbClr val="4BBEFF"/>
                </a:solidFill>
                <a:latin typeface="Arial" pitchFamily="34" charset="0"/>
                <a:ea typeface="Arial" pitchFamily="34" charset="-122"/>
                <a:cs typeface="Arial" pitchFamily="34" charset="-120"/>
              </a:rPr>
              <a:t>PIXEL ART</a:t>
            </a:r>
            <a:endParaRPr lang="en-US" sz="1400" dirty="0"/>
          </a:p>
        </p:txBody>
      </p:sp>
      <p:sp>
        <p:nvSpPr>
          <p:cNvPr id="14" name="Text 11"/>
          <p:cNvSpPr/>
          <p:nvPr/>
        </p:nvSpPr>
        <p:spPr>
          <a:xfrm>
            <a:off x="4489704" y="5102352"/>
            <a:ext cx="3474720" cy="320040"/>
          </a:xfrm>
          <a:prstGeom prst="rect">
            <a:avLst/>
          </a:prstGeom>
          <a:noFill/>
          <a:ln/>
        </p:spPr>
        <p:txBody>
          <a:bodyPr wrap="square" lIns="0" tIns="0" rIns="0" bIns="0" rtlCol="0" anchor="t"/>
          <a:lstStyle/>
          <a:p>
            <a:pPr algn="l" indent="0" marL="0">
              <a:buNone/>
            </a:pPr>
            <a:r>
              <a:rPr lang="en-US" sz="1400" b="1" spc="150" kern="0" dirty="0">
                <a:solidFill>
                  <a:srgbClr val="94D77A"/>
                </a:solidFill>
                <a:latin typeface="Arial" pitchFamily="34" charset="0"/>
                <a:ea typeface="Arial" pitchFamily="34" charset="-122"/>
                <a:cs typeface="Arial" pitchFamily="34" charset="-120"/>
              </a:rPr>
              <a:t>CINQUE SCENARI</a:t>
            </a:r>
            <a:endParaRPr lang="en-US" sz="1400" dirty="0"/>
          </a:p>
        </p:txBody>
      </p:sp>
      <p:sp>
        <p:nvSpPr>
          <p:cNvPr id="15" name="Text 12"/>
          <p:cNvSpPr/>
          <p:nvPr/>
        </p:nvSpPr>
        <p:spPr>
          <a:xfrm>
            <a:off x="8485632" y="5102352"/>
            <a:ext cx="2651760" cy="320040"/>
          </a:xfrm>
          <a:prstGeom prst="rect">
            <a:avLst/>
          </a:prstGeom>
          <a:noFill/>
          <a:ln/>
        </p:spPr>
        <p:txBody>
          <a:bodyPr wrap="square" lIns="0" tIns="0" rIns="0" bIns="0" rtlCol="0" anchor="t"/>
          <a:lstStyle/>
          <a:p>
            <a:pPr algn="l" indent="0" marL="0">
              <a:buNone/>
            </a:pPr>
            <a:r>
              <a:rPr lang="en-US" sz="1400" b="1" spc="150" kern="0" dirty="0">
                <a:solidFill>
                  <a:srgbClr val="F6CF58"/>
                </a:solidFill>
                <a:latin typeface="Arial" pitchFamily="34" charset="0"/>
                <a:ea typeface="Arial" pitchFamily="34" charset="-122"/>
                <a:cs typeface="Arial" pitchFamily="34" charset="-120"/>
              </a:rPr>
              <a:t>WEB PURO</a:t>
            </a:r>
            <a:endParaRPr lang="en-US" sz="1400" dirty="0"/>
          </a:p>
        </p:txBody>
      </p:sp>
      <p:sp>
        <p:nvSpPr>
          <p:cNvPr id="16" name="Text 13"/>
          <p:cNvSpPr/>
          <p:nvPr/>
        </p:nvSpPr>
        <p:spPr>
          <a:xfrm>
            <a:off x="932688" y="5687568"/>
            <a:ext cx="9966960" cy="292608"/>
          </a:xfrm>
          <a:prstGeom prst="rect">
            <a:avLst/>
          </a:prstGeom>
          <a:noFill/>
          <a:ln/>
        </p:spPr>
        <p:txBody>
          <a:bodyPr wrap="square" lIns="0" tIns="0" rIns="0" bIns="0" rtlCol="0" anchor="t"/>
          <a:lstStyle/>
          <a:p>
            <a:pPr algn="l" indent="0" marL="0">
              <a:buNone/>
            </a:pPr>
            <a:r>
              <a:rPr lang="en-US" sz="1600" dirty="0">
                <a:solidFill>
                  <a:srgbClr val="A3B5CA"/>
                </a:solidFill>
                <a:latin typeface="Arial" pitchFamily="34" charset="0"/>
                <a:ea typeface="Arial" pitchFamily="34" charset="-122"/>
                <a:cs typeface="Arial" pitchFamily="34" charset="-120"/>
              </a:rPr>
              <a:t>Varisco Nicolò · Androni Lorenzo</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Duck Hunt 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Duck Hunt NL — Dal sito al gioco</dc:title>
  <dc:subject>Presentazione del progetto web Duck Hunt NL</dc:subject>
  <dc:creator>Varisco Nicolò · Androni Lorenzo</dc:creator>
  <cp:lastModifiedBy>Varisco Nicolò · Androni Lorenzo</cp:lastModifiedBy>
  <cp:revision>1</cp:revision>
  <dcterms:created xsi:type="dcterms:W3CDTF">2026-10-22T18:11:12Z</dcterms:created>
  <dcterms:modified xsi:type="dcterms:W3CDTF">2026-10-22T18:11:12Z</dcterms:modified>
</cp:coreProperties>
</file>